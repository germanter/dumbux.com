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Roboto Slab" charset="1" panose="00000000000000000000"/>
      <p:regular r:id="rId21"/>
    </p:embeddedFont>
    <p:embeddedFont>
      <p:font typeface="Zilla Slab Bold" charset="1" panose="00000000000000000000"/>
      <p:regular r:id="rId22"/>
    </p:embeddedFont>
    <p:embeddedFont>
      <p:font typeface="Roboto Slab Bold" charset="1" panose="00000000000000000000"/>
      <p:regular r:id="rId23"/>
    </p:embeddedFont>
    <p:embeddedFont>
      <p:font typeface="Pridi"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https://civilization-journal.com/wp-content/uploads/images/February/Gnel%20QULYEVA-DLN%20NKAFINDA%20NEOLOGZMLRN%20ROLU.pdf" TargetMode="External" Type="http://schemas.openxmlformats.org/officeDocument/2006/relationships/hyperlink"/><Relationship Id="rId3" Target="https://filologiyameseleleri.com/pdf/2024/n5/gunel%20quliyeva%20239-245.pdf" TargetMode="External" Type="http://schemas.openxmlformats.org/officeDocument/2006/relationships/hyperlink"/><Relationship Id="rId4" Target="http://doi.science.gov.az/pages/journals/term/pdf/term2025_2_47.pdf" TargetMode="External" Type="http://schemas.openxmlformats.org/officeDocument/2006/relationships/hyperlink"/><Relationship Id="rId5" Target="https://aak.gov.az/upload/dissertasion/filologiya_elml_ri/Avtoreferat_Az%C9%99rbaycan_word.pdf" TargetMode="External" Type="http://schemas.openxmlformats.org/officeDocument/2006/relationships/hyperlink"/><Relationship Id="rId6" Target="http://dspace.khazar.org/bitstream/20.500.12323/5463/1/M%C3%BCasir%20Az%C9%99rbaycan%20dilind%C9%99%20terminoloji%20leksikanin%20inki%C5%9Fafi.pdf" TargetMode="External" Type="http://schemas.openxmlformats.org/officeDocument/2006/relationships/hyperlink"/><Relationship Id="rId7" Target="../media/image20.png" Type="http://schemas.openxmlformats.org/officeDocument/2006/relationships/image"/><Relationship Id="rId8" Target="../media/image2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2155" y="1434640"/>
            <a:ext cx="12045848" cy="8022432"/>
            <a:chOff x="0" y="0"/>
            <a:chExt cx="3172569" cy="2112904"/>
          </a:xfrm>
        </p:grpSpPr>
        <p:sp>
          <p:nvSpPr>
            <p:cNvPr name="Freeform 3" id="3"/>
            <p:cNvSpPr/>
            <p:nvPr/>
          </p:nvSpPr>
          <p:spPr>
            <a:xfrm flipH="false" flipV="false" rot="0">
              <a:off x="0" y="0"/>
              <a:ext cx="3172569" cy="2112904"/>
            </a:xfrm>
            <a:custGeom>
              <a:avLst/>
              <a:gdLst/>
              <a:ahLst/>
              <a:cxnLst/>
              <a:rect r="r" b="b" t="t" l="l"/>
              <a:pathLst>
                <a:path h="2112904" w="3172569">
                  <a:moveTo>
                    <a:pt x="33421" y="0"/>
                  </a:moveTo>
                  <a:lnTo>
                    <a:pt x="3139149" y="0"/>
                  </a:lnTo>
                  <a:cubicBezTo>
                    <a:pt x="3157606" y="0"/>
                    <a:pt x="3172569" y="14963"/>
                    <a:pt x="3172569" y="33421"/>
                  </a:cubicBezTo>
                  <a:lnTo>
                    <a:pt x="3172569" y="2079483"/>
                  </a:lnTo>
                  <a:cubicBezTo>
                    <a:pt x="3172569" y="2097941"/>
                    <a:pt x="3157606" y="2112904"/>
                    <a:pt x="3139149" y="2112904"/>
                  </a:cubicBezTo>
                  <a:lnTo>
                    <a:pt x="33421" y="2112904"/>
                  </a:lnTo>
                  <a:cubicBezTo>
                    <a:pt x="14963" y="2112904"/>
                    <a:pt x="0" y="2097941"/>
                    <a:pt x="0" y="2079483"/>
                  </a:cubicBezTo>
                  <a:lnTo>
                    <a:pt x="0" y="33421"/>
                  </a:lnTo>
                  <a:cubicBezTo>
                    <a:pt x="0" y="14963"/>
                    <a:pt x="14963" y="0"/>
                    <a:pt x="33421" y="0"/>
                  </a:cubicBezTo>
                  <a:close/>
                </a:path>
              </a:pathLst>
            </a:custGeom>
            <a:solidFill>
              <a:srgbClr val="A4C7FF">
                <a:alpha val="5882"/>
              </a:srgbClr>
            </a:solidFill>
            <a:ln w="9525" cap="rnd">
              <a:solidFill>
                <a:srgbClr val="000000">
                  <a:alpha val="5882"/>
                </a:srgbClr>
              </a:solidFill>
              <a:prstDash val="solid"/>
              <a:round/>
            </a:ln>
          </p:spPr>
        </p:sp>
        <p:sp>
          <p:nvSpPr>
            <p:cNvPr name="TextBox 4" id="4"/>
            <p:cNvSpPr txBox="true"/>
            <p:nvPr/>
          </p:nvSpPr>
          <p:spPr>
            <a:xfrm>
              <a:off x="0" y="-47625"/>
              <a:ext cx="3172569" cy="216052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708574" y="1636843"/>
            <a:ext cx="10539063" cy="7512598"/>
          </a:xfrm>
          <a:prstGeom prst="rect">
            <a:avLst/>
          </a:prstGeom>
        </p:spPr>
        <p:txBody>
          <a:bodyPr anchor="t" rtlCol="false" tIns="0" lIns="0" bIns="0" rIns="0">
            <a:spAutoFit/>
          </a:bodyPr>
          <a:lstStyle/>
          <a:p>
            <a:pPr algn="l">
              <a:lnSpc>
                <a:spcPts val="5981"/>
              </a:lnSpc>
            </a:pPr>
            <a:r>
              <a:rPr lang="en-US" sz="4272">
                <a:solidFill>
                  <a:srgbClr val="000000"/>
                </a:solidFill>
                <a:latin typeface="Roboto Slab"/>
                <a:ea typeface="Roboto Slab"/>
                <a:cs typeface="Roboto Slab"/>
                <a:sym typeface="Roboto Slab"/>
              </a:rPr>
              <a:t>Qrup üzvləri: </a:t>
            </a:r>
          </a:p>
          <a:p>
            <a:pPr algn="l" marL="922450" indent="-461225" lvl="1">
              <a:lnSpc>
                <a:spcPts val="5981"/>
              </a:lnSpc>
              <a:buFont typeface="Arial"/>
              <a:buChar char="•"/>
            </a:pPr>
            <a:r>
              <a:rPr lang="en-US" sz="4272">
                <a:solidFill>
                  <a:srgbClr val="000000"/>
                </a:solidFill>
                <a:latin typeface="Roboto Slab"/>
                <a:ea typeface="Roboto Slab"/>
                <a:cs typeface="Roboto Slab"/>
                <a:sym typeface="Roboto Slab"/>
              </a:rPr>
              <a:t>Məmmədzadə Hüseyn</a:t>
            </a:r>
          </a:p>
          <a:p>
            <a:pPr algn="l" marL="922450" indent="-461225" lvl="1">
              <a:lnSpc>
                <a:spcPts val="5981"/>
              </a:lnSpc>
              <a:buFont typeface="Arial"/>
              <a:buChar char="•"/>
            </a:pPr>
            <a:r>
              <a:rPr lang="en-US" sz="4272">
                <a:solidFill>
                  <a:srgbClr val="000000"/>
                </a:solidFill>
                <a:latin typeface="Roboto Slab"/>
                <a:ea typeface="Roboto Slab"/>
                <a:cs typeface="Roboto Slab"/>
                <a:sym typeface="Roboto Slab"/>
              </a:rPr>
              <a:t>Musayev Malik</a:t>
            </a:r>
          </a:p>
          <a:p>
            <a:pPr algn="l" marL="922450" indent="-461225" lvl="1">
              <a:lnSpc>
                <a:spcPts val="5981"/>
              </a:lnSpc>
              <a:buFont typeface="Arial"/>
              <a:buChar char="•"/>
            </a:pPr>
            <a:r>
              <a:rPr lang="en-US" sz="4272">
                <a:solidFill>
                  <a:srgbClr val="000000"/>
                </a:solidFill>
                <a:latin typeface="Roboto Slab"/>
                <a:ea typeface="Roboto Slab"/>
                <a:cs typeface="Roboto Slab"/>
                <a:sym typeface="Roboto Slab"/>
              </a:rPr>
              <a:t>Eyvazlı Amil</a:t>
            </a:r>
          </a:p>
          <a:p>
            <a:pPr algn="l">
              <a:lnSpc>
                <a:spcPts val="5981"/>
              </a:lnSpc>
            </a:pPr>
            <a:r>
              <a:rPr lang="en-US" sz="4272">
                <a:solidFill>
                  <a:srgbClr val="000000"/>
                </a:solidFill>
                <a:latin typeface="Roboto Slab"/>
                <a:ea typeface="Roboto Slab"/>
                <a:cs typeface="Roboto Slab"/>
                <a:sym typeface="Roboto Slab"/>
              </a:rPr>
              <a:t>Qrup: 682.24E</a:t>
            </a:r>
          </a:p>
          <a:p>
            <a:pPr algn="l">
              <a:lnSpc>
                <a:spcPts val="5981"/>
              </a:lnSpc>
            </a:pPr>
            <a:r>
              <a:rPr lang="en-US" sz="4272">
                <a:solidFill>
                  <a:srgbClr val="000000"/>
                </a:solidFill>
                <a:latin typeface="Roboto Slab"/>
                <a:ea typeface="Roboto Slab"/>
                <a:cs typeface="Roboto Slab"/>
                <a:sym typeface="Roboto Slab"/>
              </a:rPr>
              <a:t>Fənn: Azərbaycan dilində işgüzar və   akademik kommunikasiya</a:t>
            </a:r>
          </a:p>
          <a:p>
            <a:pPr algn="l">
              <a:lnSpc>
                <a:spcPts val="5981"/>
              </a:lnSpc>
            </a:pPr>
            <a:r>
              <a:rPr lang="en-US" sz="4272">
                <a:solidFill>
                  <a:srgbClr val="000000"/>
                </a:solidFill>
                <a:latin typeface="Roboto Slab"/>
                <a:ea typeface="Roboto Slab"/>
                <a:cs typeface="Roboto Slab"/>
                <a:sym typeface="Roboto Slab"/>
              </a:rPr>
              <a:t>Fakültə: İnformasiya Texnologiyaları</a:t>
            </a:r>
          </a:p>
          <a:p>
            <a:pPr algn="l">
              <a:lnSpc>
                <a:spcPts val="5981"/>
              </a:lnSpc>
              <a:spcBef>
                <a:spcPct val="0"/>
              </a:spcBef>
            </a:pPr>
            <a:r>
              <a:rPr lang="en-US" sz="4272">
                <a:solidFill>
                  <a:srgbClr val="000000"/>
                </a:solidFill>
                <a:latin typeface="Roboto Slab"/>
                <a:ea typeface="Roboto Slab"/>
                <a:cs typeface="Roboto Slab"/>
                <a:sym typeface="Roboto Slab"/>
              </a:rPr>
              <a:t>Təqdimatın</a:t>
            </a:r>
            <a:r>
              <a:rPr lang="en-US" sz="4272">
                <a:solidFill>
                  <a:srgbClr val="000000"/>
                </a:solidFill>
                <a:latin typeface="Roboto Slab"/>
                <a:ea typeface="Roboto Slab"/>
                <a:cs typeface="Roboto Slab"/>
                <a:sym typeface="Roboto Slab"/>
              </a:rPr>
              <a:t> mövzusu:  Müasir Azərbaycan dilində neologizmlər</a:t>
            </a:r>
          </a:p>
        </p:txBody>
      </p:sp>
      <p:sp>
        <p:nvSpPr>
          <p:cNvPr name="Freeform 6" id="6"/>
          <p:cNvSpPr/>
          <p:nvPr/>
        </p:nvSpPr>
        <p:spPr>
          <a:xfrm flipH="false" flipV="false" rot="0">
            <a:off x="12930301" y="0"/>
            <a:ext cx="4843349" cy="10287000"/>
          </a:xfrm>
          <a:custGeom>
            <a:avLst/>
            <a:gdLst/>
            <a:ahLst/>
            <a:cxnLst/>
            <a:rect r="r" b="b" t="t" l="l"/>
            <a:pathLst>
              <a:path h="10287000" w="4843349">
                <a:moveTo>
                  <a:pt x="0" y="0"/>
                </a:moveTo>
                <a:lnTo>
                  <a:pt x="4843349" y="0"/>
                </a:lnTo>
                <a:lnTo>
                  <a:pt x="4843349" y="10287000"/>
                </a:lnTo>
                <a:lnTo>
                  <a:pt x="0" y="10287000"/>
                </a:lnTo>
                <a:lnTo>
                  <a:pt x="0" y="0"/>
                </a:lnTo>
                <a:close/>
              </a:path>
            </a:pathLst>
          </a:custGeom>
          <a:blipFill>
            <a:blip r:embed="rId2"/>
            <a:stretch>
              <a:fillRect l="-153904" t="-3792" r="-95322" b="0"/>
            </a:stretch>
          </a:blipFill>
        </p:spPr>
      </p:sp>
      <p:sp>
        <p:nvSpPr>
          <p:cNvPr name="TextBox 7" id="7"/>
          <p:cNvSpPr txBox="true"/>
          <p:nvPr/>
        </p:nvSpPr>
        <p:spPr>
          <a:xfrm rot="0">
            <a:off x="282155" y="310862"/>
            <a:ext cx="18005845" cy="717838"/>
          </a:xfrm>
          <a:prstGeom prst="rect">
            <a:avLst/>
          </a:prstGeom>
        </p:spPr>
        <p:txBody>
          <a:bodyPr anchor="t" rtlCol="false" tIns="0" lIns="0" bIns="0" rIns="0">
            <a:spAutoFit/>
          </a:bodyPr>
          <a:lstStyle/>
          <a:p>
            <a:pPr algn="l">
              <a:lnSpc>
                <a:spcPts val="5857"/>
              </a:lnSpc>
              <a:spcBef>
                <a:spcPct val="0"/>
              </a:spcBef>
            </a:pPr>
            <a:r>
              <a:rPr lang="en-US" b="true" sz="4183">
                <a:solidFill>
                  <a:srgbClr val="000000"/>
                </a:solidFill>
                <a:latin typeface="Zilla Slab Bold"/>
                <a:ea typeface="Zilla Slab Bold"/>
                <a:cs typeface="Zilla Slab Bold"/>
                <a:sym typeface="Zilla Slab Bold"/>
              </a:rPr>
              <a:t>Azə</a:t>
            </a:r>
            <a:r>
              <a:rPr lang="en-US" b="true" sz="4183">
                <a:solidFill>
                  <a:srgbClr val="000000"/>
                </a:solidFill>
                <a:latin typeface="Zilla Slab Bold"/>
                <a:ea typeface="Zilla Slab Bold"/>
                <a:cs typeface="Zilla Slab Bold"/>
                <a:sym typeface="Zilla Slab Bold"/>
              </a:rPr>
              <a:t>rbaycan Dövlət Neft və Sənaye Universiteti</a:t>
            </a:r>
          </a:p>
        </p:txBody>
      </p:sp>
      <p:grpSp>
        <p:nvGrpSpPr>
          <p:cNvPr name="Group 8" id="8"/>
          <p:cNvGrpSpPr/>
          <p:nvPr/>
        </p:nvGrpSpPr>
        <p:grpSpPr>
          <a:xfrm rot="-5400000">
            <a:off x="14210311" y="6209311"/>
            <a:ext cx="7035932" cy="1119445"/>
            <a:chOff x="0" y="0"/>
            <a:chExt cx="1425301" cy="226770"/>
          </a:xfrm>
        </p:grpSpPr>
        <p:sp>
          <p:nvSpPr>
            <p:cNvPr name="Freeform 9" id="9"/>
            <p:cNvSpPr/>
            <p:nvPr/>
          </p:nvSpPr>
          <p:spPr>
            <a:xfrm flipH="false" flipV="false" rot="0">
              <a:off x="0" y="0"/>
              <a:ext cx="1425301" cy="226361"/>
            </a:xfrm>
            <a:custGeom>
              <a:avLst/>
              <a:gdLst/>
              <a:ahLst/>
              <a:cxnLst/>
              <a:rect r="r" b="b" t="t" l="l"/>
              <a:pathLst>
                <a:path h="226361" w="1425301">
                  <a:moveTo>
                    <a:pt x="712650" y="0"/>
                  </a:moveTo>
                  <a:lnTo>
                    <a:pt x="1425301" y="226361"/>
                  </a:lnTo>
                  <a:lnTo>
                    <a:pt x="0" y="226361"/>
                  </a:lnTo>
                  <a:close/>
                </a:path>
              </a:pathLst>
            </a:custGeom>
            <a:solidFill>
              <a:srgbClr val="4382EB"/>
            </a:solidFill>
          </p:spPr>
        </p:sp>
        <p:sp>
          <p:nvSpPr>
            <p:cNvPr name="TextBox 10" id="10"/>
            <p:cNvSpPr txBox="true"/>
            <p:nvPr/>
          </p:nvSpPr>
          <p:spPr>
            <a:xfrm>
              <a:off x="301772" y="48075"/>
              <a:ext cx="821756" cy="17828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062879" y="6769034"/>
            <a:ext cx="2225121" cy="3517966"/>
            <a:chOff x="0" y="0"/>
            <a:chExt cx="450753" cy="712647"/>
          </a:xfrm>
        </p:grpSpPr>
        <p:sp>
          <p:nvSpPr>
            <p:cNvPr name="Freeform 12" id="12"/>
            <p:cNvSpPr/>
            <p:nvPr/>
          </p:nvSpPr>
          <p:spPr>
            <a:xfrm flipH="false" flipV="false" rot="0">
              <a:off x="0" y="0"/>
              <a:ext cx="450753" cy="711363"/>
            </a:xfrm>
            <a:custGeom>
              <a:avLst/>
              <a:gdLst/>
              <a:ahLst/>
              <a:cxnLst/>
              <a:rect r="r" b="b" t="t" l="l"/>
              <a:pathLst>
                <a:path h="711363" w="450753">
                  <a:moveTo>
                    <a:pt x="225376" y="0"/>
                  </a:moveTo>
                  <a:lnTo>
                    <a:pt x="450753" y="711363"/>
                  </a:lnTo>
                  <a:lnTo>
                    <a:pt x="0" y="711363"/>
                  </a:lnTo>
                  <a:close/>
                </a:path>
              </a:pathLst>
            </a:custGeom>
            <a:solidFill>
              <a:srgbClr val="4382EB"/>
            </a:solidFill>
          </p:spPr>
        </p:sp>
        <p:sp>
          <p:nvSpPr>
            <p:cNvPr name="TextBox 13" id="13"/>
            <p:cNvSpPr txBox="true"/>
            <p:nvPr/>
          </p:nvSpPr>
          <p:spPr>
            <a:xfrm>
              <a:off x="95436" y="253121"/>
              <a:ext cx="259881" cy="45824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14179439" y="3079861"/>
            <a:ext cx="7188422" cy="1028700"/>
            <a:chOff x="0" y="0"/>
            <a:chExt cx="1893247" cy="270932"/>
          </a:xfrm>
        </p:grpSpPr>
        <p:sp>
          <p:nvSpPr>
            <p:cNvPr name="Freeform 15" id="15"/>
            <p:cNvSpPr/>
            <p:nvPr/>
          </p:nvSpPr>
          <p:spPr>
            <a:xfrm flipH="false" flipV="false" rot="0">
              <a:off x="0" y="0"/>
              <a:ext cx="1893247" cy="270444"/>
            </a:xfrm>
            <a:custGeom>
              <a:avLst/>
              <a:gdLst/>
              <a:ahLst/>
              <a:cxnLst/>
              <a:rect r="r" b="b" t="t" l="l"/>
              <a:pathLst>
                <a:path h="270444" w="1893247">
                  <a:moveTo>
                    <a:pt x="946623" y="0"/>
                  </a:moveTo>
                  <a:lnTo>
                    <a:pt x="1893247" y="270444"/>
                  </a:lnTo>
                  <a:lnTo>
                    <a:pt x="0" y="270444"/>
                  </a:lnTo>
                  <a:close/>
                </a:path>
              </a:pathLst>
            </a:custGeom>
            <a:solidFill>
              <a:srgbClr val="2C58A0"/>
            </a:solidFill>
          </p:spPr>
        </p:sp>
        <p:sp>
          <p:nvSpPr>
            <p:cNvPr name="TextBox 16" id="16"/>
            <p:cNvSpPr txBox="true"/>
            <p:nvPr/>
          </p:nvSpPr>
          <p:spPr>
            <a:xfrm>
              <a:off x="400848" y="66712"/>
              <a:ext cx="1091550" cy="203732"/>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10800000">
            <a:off x="16236927" y="0"/>
            <a:ext cx="2044747" cy="3594211"/>
            <a:chOff x="0" y="0"/>
            <a:chExt cx="538534" cy="946619"/>
          </a:xfrm>
        </p:grpSpPr>
        <p:sp>
          <p:nvSpPr>
            <p:cNvPr name="Freeform 18" id="18"/>
            <p:cNvSpPr/>
            <p:nvPr/>
          </p:nvSpPr>
          <p:spPr>
            <a:xfrm flipH="false" flipV="false" rot="0">
              <a:off x="0" y="0"/>
              <a:ext cx="538534" cy="944914"/>
            </a:xfrm>
            <a:custGeom>
              <a:avLst/>
              <a:gdLst/>
              <a:ahLst/>
              <a:cxnLst/>
              <a:rect r="r" b="b" t="t" l="l"/>
              <a:pathLst>
                <a:path h="944914" w="538534">
                  <a:moveTo>
                    <a:pt x="269267" y="0"/>
                  </a:moveTo>
                  <a:lnTo>
                    <a:pt x="538534" y="944914"/>
                  </a:lnTo>
                  <a:lnTo>
                    <a:pt x="0" y="944914"/>
                  </a:lnTo>
                  <a:close/>
                </a:path>
              </a:pathLst>
            </a:custGeom>
            <a:solidFill>
              <a:srgbClr val="2C58A0"/>
            </a:solidFill>
          </p:spPr>
        </p:sp>
        <p:sp>
          <p:nvSpPr>
            <p:cNvPr name="TextBox 19" id="19"/>
            <p:cNvSpPr txBox="true"/>
            <p:nvPr/>
          </p:nvSpPr>
          <p:spPr>
            <a:xfrm>
              <a:off x="114021" y="351860"/>
              <a:ext cx="310492" cy="593054"/>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5400000">
            <a:off x="15813848" y="7819175"/>
            <a:ext cx="4147297" cy="788353"/>
            <a:chOff x="0" y="0"/>
            <a:chExt cx="1425301" cy="270932"/>
          </a:xfrm>
        </p:grpSpPr>
        <p:sp>
          <p:nvSpPr>
            <p:cNvPr name="Freeform 21" id="21"/>
            <p:cNvSpPr/>
            <p:nvPr/>
          </p:nvSpPr>
          <p:spPr>
            <a:xfrm flipH="false" flipV="false" rot="0">
              <a:off x="0" y="0"/>
              <a:ext cx="1425301" cy="270444"/>
            </a:xfrm>
            <a:custGeom>
              <a:avLst/>
              <a:gdLst/>
              <a:ahLst/>
              <a:cxnLst/>
              <a:rect r="r" b="b" t="t" l="l"/>
              <a:pathLst>
                <a:path h="270444" w="1425301">
                  <a:moveTo>
                    <a:pt x="712650" y="0"/>
                  </a:moveTo>
                  <a:lnTo>
                    <a:pt x="1425301" y="270444"/>
                  </a:lnTo>
                  <a:lnTo>
                    <a:pt x="0" y="270444"/>
                  </a:lnTo>
                  <a:close/>
                </a:path>
              </a:pathLst>
            </a:custGeom>
            <a:solidFill>
              <a:srgbClr val="84A5FF"/>
            </a:solidFill>
          </p:spPr>
        </p:sp>
        <p:sp>
          <p:nvSpPr>
            <p:cNvPr name="TextBox 22" id="22"/>
            <p:cNvSpPr txBox="true"/>
            <p:nvPr/>
          </p:nvSpPr>
          <p:spPr>
            <a:xfrm>
              <a:off x="301772" y="66712"/>
              <a:ext cx="821756" cy="203732"/>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6714663" y="8213352"/>
            <a:ext cx="1567010" cy="2073648"/>
            <a:chOff x="0" y="0"/>
            <a:chExt cx="538534" cy="712647"/>
          </a:xfrm>
        </p:grpSpPr>
        <p:sp>
          <p:nvSpPr>
            <p:cNvPr name="Freeform 24" id="24"/>
            <p:cNvSpPr/>
            <p:nvPr/>
          </p:nvSpPr>
          <p:spPr>
            <a:xfrm flipH="false" flipV="false" rot="0">
              <a:off x="0" y="0"/>
              <a:ext cx="538534" cy="711363"/>
            </a:xfrm>
            <a:custGeom>
              <a:avLst/>
              <a:gdLst/>
              <a:ahLst/>
              <a:cxnLst/>
              <a:rect r="r" b="b" t="t" l="l"/>
              <a:pathLst>
                <a:path h="711363" w="538534">
                  <a:moveTo>
                    <a:pt x="269267" y="0"/>
                  </a:moveTo>
                  <a:lnTo>
                    <a:pt x="538534" y="711363"/>
                  </a:lnTo>
                  <a:lnTo>
                    <a:pt x="0" y="711363"/>
                  </a:lnTo>
                  <a:close/>
                </a:path>
              </a:pathLst>
            </a:custGeom>
            <a:solidFill>
              <a:srgbClr val="84A5FF"/>
            </a:solidFill>
          </p:spPr>
        </p:sp>
        <p:sp>
          <p:nvSpPr>
            <p:cNvPr name="TextBox 25" id="25"/>
            <p:cNvSpPr txBox="true"/>
            <p:nvPr/>
          </p:nvSpPr>
          <p:spPr>
            <a:xfrm>
              <a:off x="114021" y="253121"/>
              <a:ext cx="310492" cy="458243"/>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5400000">
            <a:off x="13755459" y="3680810"/>
            <a:ext cx="8215339" cy="849744"/>
            <a:chOff x="0" y="0"/>
            <a:chExt cx="2163711" cy="223800"/>
          </a:xfrm>
        </p:grpSpPr>
        <p:sp>
          <p:nvSpPr>
            <p:cNvPr name="Freeform 27" id="27"/>
            <p:cNvSpPr/>
            <p:nvPr/>
          </p:nvSpPr>
          <p:spPr>
            <a:xfrm flipH="false" flipV="false" rot="0">
              <a:off x="0" y="0"/>
              <a:ext cx="2163711" cy="223397"/>
            </a:xfrm>
            <a:custGeom>
              <a:avLst/>
              <a:gdLst/>
              <a:ahLst/>
              <a:cxnLst/>
              <a:rect r="r" b="b" t="t" l="l"/>
              <a:pathLst>
                <a:path h="223397" w="2163711">
                  <a:moveTo>
                    <a:pt x="1081855" y="0"/>
                  </a:moveTo>
                  <a:lnTo>
                    <a:pt x="2163711" y="223397"/>
                  </a:lnTo>
                  <a:lnTo>
                    <a:pt x="0" y="223397"/>
                  </a:lnTo>
                  <a:close/>
                </a:path>
              </a:pathLst>
            </a:custGeom>
            <a:solidFill>
              <a:srgbClr val="A4C7FF"/>
            </a:solidFill>
          </p:spPr>
        </p:sp>
        <p:sp>
          <p:nvSpPr>
            <p:cNvPr name="TextBox 28" id="28"/>
            <p:cNvSpPr txBox="true"/>
            <p:nvPr/>
          </p:nvSpPr>
          <p:spPr>
            <a:xfrm>
              <a:off x="458112" y="46821"/>
              <a:ext cx="1247486" cy="176575"/>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10800000">
            <a:off x="16593738" y="-1987"/>
            <a:ext cx="1689036" cy="4107669"/>
            <a:chOff x="0" y="0"/>
            <a:chExt cx="444849" cy="1081850"/>
          </a:xfrm>
        </p:grpSpPr>
        <p:sp>
          <p:nvSpPr>
            <p:cNvPr name="Freeform 30" id="30"/>
            <p:cNvSpPr/>
            <p:nvPr/>
          </p:nvSpPr>
          <p:spPr>
            <a:xfrm flipH="false" flipV="false" rot="0">
              <a:off x="0" y="0"/>
              <a:ext cx="444849" cy="1079901"/>
            </a:xfrm>
            <a:custGeom>
              <a:avLst/>
              <a:gdLst/>
              <a:ahLst/>
              <a:cxnLst/>
              <a:rect r="r" b="b" t="t" l="l"/>
              <a:pathLst>
                <a:path h="1079901" w="444849">
                  <a:moveTo>
                    <a:pt x="222424" y="0"/>
                  </a:moveTo>
                  <a:lnTo>
                    <a:pt x="444849" y="1079901"/>
                  </a:lnTo>
                  <a:lnTo>
                    <a:pt x="0" y="1079901"/>
                  </a:lnTo>
                  <a:close/>
                </a:path>
              </a:pathLst>
            </a:custGeom>
            <a:solidFill>
              <a:srgbClr val="A4C7FF"/>
            </a:solidFill>
          </p:spPr>
        </p:sp>
        <p:sp>
          <p:nvSpPr>
            <p:cNvPr name="TextBox 31" id="31"/>
            <p:cNvSpPr txBox="true"/>
            <p:nvPr/>
          </p:nvSpPr>
          <p:spPr>
            <a:xfrm>
              <a:off x="94186" y="408929"/>
              <a:ext cx="256477" cy="67097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6169" y="1640081"/>
            <a:ext cx="8605211" cy="8276790"/>
            <a:chOff x="0" y="0"/>
            <a:chExt cx="2914391" cy="2803162"/>
          </a:xfrm>
        </p:grpSpPr>
        <p:sp>
          <p:nvSpPr>
            <p:cNvPr name="Freeform 3" id="3"/>
            <p:cNvSpPr/>
            <p:nvPr/>
          </p:nvSpPr>
          <p:spPr>
            <a:xfrm flipH="false" flipV="false" rot="0">
              <a:off x="0" y="0"/>
              <a:ext cx="2914391" cy="2803162"/>
            </a:xfrm>
            <a:custGeom>
              <a:avLst/>
              <a:gdLst/>
              <a:ahLst/>
              <a:cxnLst/>
              <a:rect r="r" b="b" t="t" l="l"/>
              <a:pathLst>
                <a:path h="2803162" w="2914391">
                  <a:moveTo>
                    <a:pt x="46783" y="0"/>
                  </a:moveTo>
                  <a:lnTo>
                    <a:pt x="2867608" y="0"/>
                  </a:lnTo>
                  <a:cubicBezTo>
                    <a:pt x="2893445" y="0"/>
                    <a:pt x="2914391" y="20946"/>
                    <a:pt x="2914391" y="46783"/>
                  </a:cubicBezTo>
                  <a:lnTo>
                    <a:pt x="2914391" y="2756379"/>
                  </a:lnTo>
                  <a:cubicBezTo>
                    <a:pt x="2914391" y="2768786"/>
                    <a:pt x="2909462" y="2780686"/>
                    <a:pt x="2900688" y="2789460"/>
                  </a:cubicBezTo>
                  <a:cubicBezTo>
                    <a:pt x="2891915" y="2798233"/>
                    <a:pt x="2880015" y="2803162"/>
                    <a:pt x="2867608" y="2803162"/>
                  </a:cubicBezTo>
                  <a:lnTo>
                    <a:pt x="46783" y="2803162"/>
                  </a:lnTo>
                  <a:cubicBezTo>
                    <a:pt x="20946" y="2803162"/>
                    <a:pt x="0" y="2782216"/>
                    <a:pt x="0" y="2756379"/>
                  </a:cubicBezTo>
                  <a:lnTo>
                    <a:pt x="0" y="46783"/>
                  </a:lnTo>
                  <a:cubicBezTo>
                    <a:pt x="0" y="20946"/>
                    <a:pt x="20946" y="0"/>
                    <a:pt x="46783" y="0"/>
                  </a:cubicBezTo>
                  <a:close/>
                </a:path>
              </a:pathLst>
            </a:custGeom>
            <a:ln w="19050" cap="rnd">
              <a:solidFill>
                <a:srgbClr val="000000">
                  <a:alpha val="26667"/>
                </a:srgbClr>
              </a:solidFill>
              <a:prstDash val="solid"/>
              <a:round/>
            </a:ln>
          </p:spPr>
        </p:sp>
        <p:sp>
          <p:nvSpPr>
            <p:cNvPr name="TextBox 4" id="4"/>
            <p:cNvSpPr txBox="true"/>
            <p:nvPr/>
          </p:nvSpPr>
          <p:spPr>
            <a:xfrm>
              <a:off x="0" y="-47625"/>
              <a:ext cx="2914391" cy="285078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486806" y="1665948"/>
            <a:ext cx="7227857" cy="8381979"/>
          </a:xfrm>
          <a:custGeom>
            <a:avLst/>
            <a:gdLst/>
            <a:ahLst/>
            <a:cxnLst/>
            <a:rect r="r" b="b" t="t" l="l"/>
            <a:pathLst>
              <a:path h="8381979" w="7227857">
                <a:moveTo>
                  <a:pt x="0" y="0"/>
                </a:moveTo>
                <a:lnTo>
                  <a:pt x="7227857" y="0"/>
                </a:lnTo>
                <a:lnTo>
                  <a:pt x="7227857" y="8381979"/>
                </a:lnTo>
                <a:lnTo>
                  <a:pt x="0" y="8381979"/>
                </a:lnTo>
                <a:lnTo>
                  <a:pt x="0" y="0"/>
                </a:lnTo>
                <a:close/>
              </a:path>
            </a:pathLst>
          </a:custGeom>
          <a:blipFill>
            <a:blip r:embed="rId2"/>
            <a:stretch>
              <a:fillRect l="-7983" t="0" r="-7983" b="0"/>
            </a:stretch>
          </a:blipFill>
          <a:ln w="76200" cap="rnd">
            <a:solidFill>
              <a:srgbClr val="A4C7FF"/>
            </a:solidFill>
            <a:prstDash val="solid"/>
            <a:round/>
          </a:ln>
        </p:spPr>
      </p:sp>
      <p:sp>
        <p:nvSpPr>
          <p:cNvPr name="TextBox 6" id="6"/>
          <p:cNvSpPr txBox="true"/>
          <p:nvPr/>
        </p:nvSpPr>
        <p:spPr>
          <a:xfrm rot="0">
            <a:off x="771866" y="1968733"/>
            <a:ext cx="7651920" cy="7690685"/>
          </a:xfrm>
          <a:prstGeom prst="rect">
            <a:avLst/>
          </a:prstGeom>
        </p:spPr>
        <p:txBody>
          <a:bodyPr anchor="t" rtlCol="false" tIns="0" lIns="0" bIns="0" rIns="0">
            <a:spAutoFit/>
          </a:bodyPr>
          <a:lstStyle/>
          <a:p>
            <a:pPr algn="l">
              <a:lnSpc>
                <a:spcPts val="6078"/>
              </a:lnSpc>
              <a:spcBef>
                <a:spcPct val="0"/>
              </a:spcBef>
            </a:pPr>
            <a:r>
              <a:rPr lang="en-US" sz="4342">
                <a:solidFill>
                  <a:srgbClr val="000000"/>
                </a:solidFill>
                <a:latin typeface="Roboto Slab"/>
                <a:ea typeface="Roboto Slab"/>
                <a:cs typeface="Roboto Slab"/>
                <a:sym typeface="Roboto Slab"/>
              </a:rPr>
              <a:t>N</a:t>
            </a:r>
            <a:r>
              <a:rPr lang="en-US" sz="4342">
                <a:solidFill>
                  <a:srgbClr val="000000"/>
                </a:solidFill>
                <a:latin typeface="Roboto Slab"/>
                <a:ea typeface="Roboto Slab"/>
                <a:cs typeface="Roboto Slab"/>
                <a:sym typeface="Roboto Slab"/>
              </a:rPr>
              <a:t>eologizm, həyatımıza</a:t>
            </a:r>
            <a:r>
              <a:rPr lang="en-US" sz="4342">
                <a:solidFill>
                  <a:srgbClr val="000000"/>
                </a:solidFill>
                <a:latin typeface="Roboto Slab"/>
                <a:ea typeface="Roboto Slab"/>
                <a:cs typeface="Roboto Slab"/>
                <a:sym typeface="Roboto Slab"/>
              </a:rPr>
              <a:t> yeni daxil olan anlayışları adlandırmaq</a:t>
            </a:r>
            <a:r>
              <a:rPr lang="en-US" sz="4342">
                <a:solidFill>
                  <a:srgbClr val="000000"/>
                </a:solidFill>
                <a:latin typeface="Roboto Slab"/>
                <a:ea typeface="Roboto Slab"/>
                <a:cs typeface="Roboto Slab"/>
                <a:sym typeface="Roboto Slab"/>
              </a:rPr>
              <a:t> üçün dilə gətirilən yeni sözlərdir.</a:t>
            </a:r>
          </a:p>
          <a:p>
            <a:pPr algn="l">
              <a:lnSpc>
                <a:spcPts val="6078"/>
              </a:lnSpc>
              <a:spcBef>
                <a:spcPct val="0"/>
              </a:spcBef>
            </a:pPr>
            <a:r>
              <a:rPr lang="en-US" sz="4342">
                <a:solidFill>
                  <a:srgbClr val="000000"/>
                </a:solidFill>
                <a:latin typeface="Roboto Slab"/>
                <a:ea typeface="Roboto Slab"/>
                <a:cs typeface="Roboto Slab"/>
                <a:sym typeface="Roboto Slab"/>
              </a:rPr>
              <a:t>Azərbaycan dilində neologizmlər </a:t>
            </a:r>
            <a:r>
              <a:rPr lang="en-US" sz="4342" i="true">
                <a:solidFill>
                  <a:srgbClr val="000000"/>
                </a:solidFill>
                <a:latin typeface="Roboto Slab"/>
                <a:ea typeface="Roboto Slab"/>
                <a:cs typeface="Roboto Slab"/>
                <a:sym typeface="Roboto Slab"/>
              </a:rPr>
              <a:t>elmi</a:t>
            </a:r>
            <a:r>
              <a:rPr lang="en-US" sz="4342">
                <a:solidFill>
                  <a:srgbClr val="000000"/>
                </a:solidFill>
                <a:latin typeface="Roboto Slab"/>
                <a:ea typeface="Roboto Slab"/>
                <a:cs typeface="Roboto Slab"/>
                <a:sym typeface="Roboto Slab"/>
              </a:rPr>
              <a:t>, </a:t>
            </a:r>
            <a:r>
              <a:rPr lang="en-US" sz="4342" i="true">
                <a:solidFill>
                  <a:srgbClr val="000000"/>
                </a:solidFill>
                <a:latin typeface="Roboto Slab"/>
                <a:ea typeface="Roboto Slab"/>
                <a:cs typeface="Roboto Slab"/>
                <a:sym typeface="Roboto Slab"/>
              </a:rPr>
              <a:t>texnoloji </a:t>
            </a:r>
            <a:r>
              <a:rPr lang="en-US" sz="4342">
                <a:solidFill>
                  <a:srgbClr val="000000"/>
                </a:solidFill>
                <a:latin typeface="Roboto Slab"/>
                <a:ea typeface="Roboto Slab"/>
                <a:cs typeface="Roboto Slab"/>
                <a:sym typeface="Roboto Slab"/>
              </a:rPr>
              <a:t>və </a:t>
            </a:r>
            <a:r>
              <a:rPr lang="en-US" sz="4342" i="true">
                <a:solidFill>
                  <a:srgbClr val="000000"/>
                </a:solidFill>
                <a:latin typeface="Roboto Slab"/>
                <a:ea typeface="Roboto Slab"/>
                <a:cs typeface="Roboto Slab"/>
                <a:sym typeface="Roboto Slab"/>
              </a:rPr>
              <a:t>sosial </a:t>
            </a:r>
            <a:r>
              <a:rPr lang="en-US" sz="4342">
                <a:solidFill>
                  <a:srgbClr val="000000"/>
                </a:solidFill>
                <a:latin typeface="Roboto Slab"/>
                <a:ea typeface="Roboto Slab"/>
                <a:cs typeface="Roboto Slab"/>
                <a:sym typeface="Roboto Slab"/>
              </a:rPr>
              <a:t>tərəqqini dildə rəsmiləşdirərək lüğət tərkibini zənginləşdirən əsas vasitədir.</a:t>
            </a:r>
          </a:p>
        </p:txBody>
      </p:sp>
      <p:sp>
        <p:nvSpPr>
          <p:cNvPr name="TextBox 7" id="7"/>
          <p:cNvSpPr txBox="true"/>
          <p:nvPr/>
        </p:nvSpPr>
        <p:spPr>
          <a:xfrm rot="0">
            <a:off x="286169" y="231686"/>
            <a:ext cx="1586266" cy="797014"/>
          </a:xfrm>
          <a:prstGeom prst="rect">
            <a:avLst/>
          </a:prstGeom>
        </p:spPr>
        <p:txBody>
          <a:bodyPr anchor="t" rtlCol="false" tIns="0" lIns="0" bIns="0" rIns="0">
            <a:spAutoFit/>
          </a:bodyPr>
          <a:lstStyle/>
          <a:p>
            <a:pPr algn="l">
              <a:lnSpc>
                <a:spcPts val="6502"/>
              </a:lnSpc>
              <a:spcBef>
                <a:spcPct val="0"/>
              </a:spcBef>
            </a:pPr>
            <a:r>
              <a:rPr lang="en-US" b="true" sz="4644">
                <a:solidFill>
                  <a:srgbClr val="000000"/>
                </a:solidFill>
                <a:latin typeface="Roboto Slab Bold"/>
                <a:ea typeface="Roboto Slab Bold"/>
                <a:cs typeface="Roboto Slab Bold"/>
                <a:sym typeface="Roboto Slab Bold"/>
              </a:rPr>
              <a:t>G</a:t>
            </a:r>
            <a:r>
              <a:rPr lang="en-US" b="true" sz="4644">
                <a:solidFill>
                  <a:srgbClr val="000000"/>
                </a:solidFill>
                <a:latin typeface="Roboto Slab Bold"/>
                <a:ea typeface="Roboto Slab Bold"/>
                <a:cs typeface="Roboto Slab Bold"/>
                <a:sym typeface="Roboto Slab Bold"/>
              </a:rPr>
              <a:t>iriş</a:t>
            </a:r>
          </a:p>
        </p:txBody>
      </p:sp>
      <p:sp>
        <p:nvSpPr>
          <p:cNvPr name="AutoShape 8" id="8"/>
          <p:cNvSpPr/>
          <p:nvPr/>
        </p:nvSpPr>
        <p:spPr>
          <a:xfrm>
            <a:off x="286169" y="1325757"/>
            <a:ext cx="6901088" cy="19050"/>
          </a:xfrm>
          <a:prstGeom prst="line">
            <a:avLst/>
          </a:prstGeom>
          <a:ln cap="rnd" w="57150">
            <a:solidFill>
              <a:srgbClr val="093F9A"/>
            </a:solidFill>
            <a:prstDash val="solid"/>
            <a:headEnd type="none" len="sm" w="sm"/>
            <a:tailEnd type="none" len="sm" w="sm"/>
          </a:ln>
        </p:spPr>
      </p:sp>
      <p:grpSp>
        <p:nvGrpSpPr>
          <p:cNvPr name="Group 9" id="9"/>
          <p:cNvGrpSpPr/>
          <p:nvPr/>
        </p:nvGrpSpPr>
        <p:grpSpPr>
          <a:xfrm rot="-5400000">
            <a:off x="14210311" y="6209311"/>
            <a:ext cx="7035932" cy="1119445"/>
            <a:chOff x="0" y="0"/>
            <a:chExt cx="1425301" cy="226770"/>
          </a:xfrm>
        </p:grpSpPr>
        <p:sp>
          <p:nvSpPr>
            <p:cNvPr name="Freeform 10" id="10"/>
            <p:cNvSpPr/>
            <p:nvPr/>
          </p:nvSpPr>
          <p:spPr>
            <a:xfrm flipH="false" flipV="false" rot="0">
              <a:off x="0" y="0"/>
              <a:ext cx="1425301" cy="226361"/>
            </a:xfrm>
            <a:custGeom>
              <a:avLst/>
              <a:gdLst/>
              <a:ahLst/>
              <a:cxnLst/>
              <a:rect r="r" b="b" t="t" l="l"/>
              <a:pathLst>
                <a:path h="226361" w="1425301">
                  <a:moveTo>
                    <a:pt x="712650" y="0"/>
                  </a:moveTo>
                  <a:lnTo>
                    <a:pt x="1425301" y="226361"/>
                  </a:lnTo>
                  <a:lnTo>
                    <a:pt x="0" y="226361"/>
                  </a:lnTo>
                  <a:close/>
                </a:path>
              </a:pathLst>
            </a:custGeom>
            <a:solidFill>
              <a:srgbClr val="4382EB"/>
            </a:solidFill>
          </p:spPr>
        </p:sp>
        <p:sp>
          <p:nvSpPr>
            <p:cNvPr name="TextBox 11" id="11"/>
            <p:cNvSpPr txBox="true"/>
            <p:nvPr/>
          </p:nvSpPr>
          <p:spPr>
            <a:xfrm>
              <a:off x="301772" y="48075"/>
              <a:ext cx="821756" cy="17828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062879" y="6769034"/>
            <a:ext cx="2225121" cy="3517966"/>
            <a:chOff x="0" y="0"/>
            <a:chExt cx="450753" cy="712647"/>
          </a:xfrm>
        </p:grpSpPr>
        <p:sp>
          <p:nvSpPr>
            <p:cNvPr name="Freeform 13" id="13"/>
            <p:cNvSpPr/>
            <p:nvPr/>
          </p:nvSpPr>
          <p:spPr>
            <a:xfrm flipH="false" flipV="false" rot="0">
              <a:off x="0" y="0"/>
              <a:ext cx="450753" cy="711363"/>
            </a:xfrm>
            <a:custGeom>
              <a:avLst/>
              <a:gdLst/>
              <a:ahLst/>
              <a:cxnLst/>
              <a:rect r="r" b="b" t="t" l="l"/>
              <a:pathLst>
                <a:path h="711363" w="450753">
                  <a:moveTo>
                    <a:pt x="225376" y="0"/>
                  </a:moveTo>
                  <a:lnTo>
                    <a:pt x="450753" y="711363"/>
                  </a:lnTo>
                  <a:lnTo>
                    <a:pt x="0" y="711363"/>
                  </a:lnTo>
                  <a:close/>
                </a:path>
              </a:pathLst>
            </a:custGeom>
            <a:solidFill>
              <a:srgbClr val="4382EB"/>
            </a:solidFill>
          </p:spPr>
        </p:sp>
        <p:sp>
          <p:nvSpPr>
            <p:cNvPr name="TextBox 14" id="14"/>
            <p:cNvSpPr txBox="true"/>
            <p:nvPr/>
          </p:nvSpPr>
          <p:spPr>
            <a:xfrm>
              <a:off x="95436" y="253121"/>
              <a:ext cx="259881" cy="458243"/>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5400000">
            <a:off x="14179439" y="3079861"/>
            <a:ext cx="7188422" cy="1028700"/>
            <a:chOff x="0" y="0"/>
            <a:chExt cx="1893247" cy="270932"/>
          </a:xfrm>
        </p:grpSpPr>
        <p:sp>
          <p:nvSpPr>
            <p:cNvPr name="Freeform 16" id="16"/>
            <p:cNvSpPr/>
            <p:nvPr/>
          </p:nvSpPr>
          <p:spPr>
            <a:xfrm flipH="false" flipV="false" rot="0">
              <a:off x="0" y="0"/>
              <a:ext cx="1893247" cy="270444"/>
            </a:xfrm>
            <a:custGeom>
              <a:avLst/>
              <a:gdLst/>
              <a:ahLst/>
              <a:cxnLst/>
              <a:rect r="r" b="b" t="t" l="l"/>
              <a:pathLst>
                <a:path h="270444" w="1893247">
                  <a:moveTo>
                    <a:pt x="946623" y="0"/>
                  </a:moveTo>
                  <a:lnTo>
                    <a:pt x="1893247" y="270444"/>
                  </a:lnTo>
                  <a:lnTo>
                    <a:pt x="0" y="270444"/>
                  </a:lnTo>
                  <a:close/>
                </a:path>
              </a:pathLst>
            </a:custGeom>
            <a:solidFill>
              <a:srgbClr val="2C58A0"/>
            </a:solidFill>
          </p:spPr>
        </p:sp>
        <p:sp>
          <p:nvSpPr>
            <p:cNvPr name="TextBox 17" id="17"/>
            <p:cNvSpPr txBox="true"/>
            <p:nvPr/>
          </p:nvSpPr>
          <p:spPr>
            <a:xfrm>
              <a:off x="400848" y="66712"/>
              <a:ext cx="1091550" cy="203732"/>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10800000">
            <a:off x="16236927" y="0"/>
            <a:ext cx="2044747" cy="3594211"/>
            <a:chOff x="0" y="0"/>
            <a:chExt cx="538534" cy="946619"/>
          </a:xfrm>
        </p:grpSpPr>
        <p:sp>
          <p:nvSpPr>
            <p:cNvPr name="Freeform 19" id="19"/>
            <p:cNvSpPr/>
            <p:nvPr/>
          </p:nvSpPr>
          <p:spPr>
            <a:xfrm flipH="false" flipV="false" rot="0">
              <a:off x="0" y="0"/>
              <a:ext cx="538534" cy="944914"/>
            </a:xfrm>
            <a:custGeom>
              <a:avLst/>
              <a:gdLst/>
              <a:ahLst/>
              <a:cxnLst/>
              <a:rect r="r" b="b" t="t" l="l"/>
              <a:pathLst>
                <a:path h="944914" w="538534">
                  <a:moveTo>
                    <a:pt x="269267" y="0"/>
                  </a:moveTo>
                  <a:lnTo>
                    <a:pt x="538534" y="944914"/>
                  </a:lnTo>
                  <a:lnTo>
                    <a:pt x="0" y="944914"/>
                  </a:lnTo>
                  <a:close/>
                </a:path>
              </a:pathLst>
            </a:custGeom>
            <a:solidFill>
              <a:srgbClr val="2C58A0"/>
            </a:solidFill>
          </p:spPr>
        </p:sp>
        <p:sp>
          <p:nvSpPr>
            <p:cNvPr name="TextBox 20" id="20"/>
            <p:cNvSpPr txBox="true"/>
            <p:nvPr/>
          </p:nvSpPr>
          <p:spPr>
            <a:xfrm>
              <a:off x="114021" y="351860"/>
              <a:ext cx="310492" cy="593054"/>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5400000">
            <a:off x="15813848" y="7819175"/>
            <a:ext cx="4147297" cy="788353"/>
            <a:chOff x="0" y="0"/>
            <a:chExt cx="1425301" cy="270932"/>
          </a:xfrm>
        </p:grpSpPr>
        <p:sp>
          <p:nvSpPr>
            <p:cNvPr name="Freeform 22" id="22"/>
            <p:cNvSpPr/>
            <p:nvPr/>
          </p:nvSpPr>
          <p:spPr>
            <a:xfrm flipH="false" flipV="false" rot="0">
              <a:off x="0" y="0"/>
              <a:ext cx="1425301" cy="270444"/>
            </a:xfrm>
            <a:custGeom>
              <a:avLst/>
              <a:gdLst/>
              <a:ahLst/>
              <a:cxnLst/>
              <a:rect r="r" b="b" t="t" l="l"/>
              <a:pathLst>
                <a:path h="270444" w="1425301">
                  <a:moveTo>
                    <a:pt x="712650" y="0"/>
                  </a:moveTo>
                  <a:lnTo>
                    <a:pt x="1425301" y="270444"/>
                  </a:lnTo>
                  <a:lnTo>
                    <a:pt x="0" y="270444"/>
                  </a:lnTo>
                  <a:close/>
                </a:path>
              </a:pathLst>
            </a:custGeom>
            <a:solidFill>
              <a:srgbClr val="84A5FF"/>
            </a:solidFill>
          </p:spPr>
        </p:sp>
        <p:sp>
          <p:nvSpPr>
            <p:cNvPr name="TextBox 23" id="23"/>
            <p:cNvSpPr txBox="true"/>
            <p:nvPr/>
          </p:nvSpPr>
          <p:spPr>
            <a:xfrm>
              <a:off x="301772" y="66712"/>
              <a:ext cx="821756" cy="203732"/>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6714663" y="8213352"/>
            <a:ext cx="1567010" cy="2073648"/>
            <a:chOff x="0" y="0"/>
            <a:chExt cx="538534" cy="712647"/>
          </a:xfrm>
        </p:grpSpPr>
        <p:sp>
          <p:nvSpPr>
            <p:cNvPr name="Freeform 25" id="25"/>
            <p:cNvSpPr/>
            <p:nvPr/>
          </p:nvSpPr>
          <p:spPr>
            <a:xfrm flipH="false" flipV="false" rot="0">
              <a:off x="0" y="0"/>
              <a:ext cx="538534" cy="711363"/>
            </a:xfrm>
            <a:custGeom>
              <a:avLst/>
              <a:gdLst/>
              <a:ahLst/>
              <a:cxnLst/>
              <a:rect r="r" b="b" t="t" l="l"/>
              <a:pathLst>
                <a:path h="711363" w="538534">
                  <a:moveTo>
                    <a:pt x="269267" y="0"/>
                  </a:moveTo>
                  <a:lnTo>
                    <a:pt x="538534" y="711363"/>
                  </a:lnTo>
                  <a:lnTo>
                    <a:pt x="0" y="711363"/>
                  </a:lnTo>
                  <a:close/>
                </a:path>
              </a:pathLst>
            </a:custGeom>
            <a:solidFill>
              <a:srgbClr val="84A5FF"/>
            </a:solidFill>
          </p:spPr>
        </p:sp>
        <p:sp>
          <p:nvSpPr>
            <p:cNvPr name="TextBox 26" id="26"/>
            <p:cNvSpPr txBox="true"/>
            <p:nvPr/>
          </p:nvSpPr>
          <p:spPr>
            <a:xfrm>
              <a:off x="114021" y="253121"/>
              <a:ext cx="310492" cy="458243"/>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5400000">
            <a:off x="13755459" y="3680810"/>
            <a:ext cx="8215339" cy="849744"/>
            <a:chOff x="0" y="0"/>
            <a:chExt cx="2163711" cy="223800"/>
          </a:xfrm>
        </p:grpSpPr>
        <p:sp>
          <p:nvSpPr>
            <p:cNvPr name="Freeform 28" id="28"/>
            <p:cNvSpPr/>
            <p:nvPr/>
          </p:nvSpPr>
          <p:spPr>
            <a:xfrm flipH="false" flipV="false" rot="0">
              <a:off x="0" y="0"/>
              <a:ext cx="2163711" cy="223397"/>
            </a:xfrm>
            <a:custGeom>
              <a:avLst/>
              <a:gdLst/>
              <a:ahLst/>
              <a:cxnLst/>
              <a:rect r="r" b="b" t="t" l="l"/>
              <a:pathLst>
                <a:path h="223397" w="2163711">
                  <a:moveTo>
                    <a:pt x="1081855" y="0"/>
                  </a:moveTo>
                  <a:lnTo>
                    <a:pt x="2163711" y="223397"/>
                  </a:lnTo>
                  <a:lnTo>
                    <a:pt x="0" y="223397"/>
                  </a:lnTo>
                  <a:close/>
                </a:path>
              </a:pathLst>
            </a:custGeom>
            <a:solidFill>
              <a:srgbClr val="A4C7FF"/>
            </a:solidFill>
          </p:spPr>
        </p:sp>
        <p:sp>
          <p:nvSpPr>
            <p:cNvPr name="TextBox 29" id="29"/>
            <p:cNvSpPr txBox="true"/>
            <p:nvPr/>
          </p:nvSpPr>
          <p:spPr>
            <a:xfrm>
              <a:off x="458112" y="46821"/>
              <a:ext cx="1247486" cy="176575"/>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10800000">
            <a:off x="16593738" y="-1987"/>
            <a:ext cx="1689036" cy="4107669"/>
            <a:chOff x="0" y="0"/>
            <a:chExt cx="444849" cy="1081850"/>
          </a:xfrm>
        </p:grpSpPr>
        <p:sp>
          <p:nvSpPr>
            <p:cNvPr name="Freeform 31" id="31"/>
            <p:cNvSpPr/>
            <p:nvPr/>
          </p:nvSpPr>
          <p:spPr>
            <a:xfrm flipH="false" flipV="false" rot="0">
              <a:off x="0" y="0"/>
              <a:ext cx="444849" cy="1079901"/>
            </a:xfrm>
            <a:custGeom>
              <a:avLst/>
              <a:gdLst/>
              <a:ahLst/>
              <a:cxnLst/>
              <a:rect r="r" b="b" t="t" l="l"/>
              <a:pathLst>
                <a:path h="1079901" w="444849">
                  <a:moveTo>
                    <a:pt x="222424" y="0"/>
                  </a:moveTo>
                  <a:lnTo>
                    <a:pt x="444849" y="1079901"/>
                  </a:lnTo>
                  <a:lnTo>
                    <a:pt x="0" y="1079901"/>
                  </a:lnTo>
                  <a:close/>
                </a:path>
              </a:pathLst>
            </a:custGeom>
            <a:solidFill>
              <a:srgbClr val="A4C7FF"/>
            </a:solidFill>
          </p:spPr>
        </p:sp>
        <p:sp>
          <p:nvSpPr>
            <p:cNvPr name="TextBox 32" id="32"/>
            <p:cNvSpPr txBox="true"/>
            <p:nvPr/>
          </p:nvSpPr>
          <p:spPr>
            <a:xfrm>
              <a:off x="94186" y="408929"/>
              <a:ext cx="256477" cy="67097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585458" y="1176345"/>
            <a:ext cx="11027747" cy="8929554"/>
            <a:chOff x="0" y="0"/>
            <a:chExt cx="3422006" cy="2770919"/>
          </a:xfrm>
        </p:grpSpPr>
        <p:sp>
          <p:nvSpPr>
            <p:cNvPr name="Freeform 3" id="3"/>
            <p:cNvSpPr/>
            <p:nvPr/>
          </p:nvSpPr>
          <p:spPr>
            <a:xfrm flipH="false" flipV="false" rot="0">
              <a:off x="0" y="0"/>
              <a:ext cx="3422006" cy="2770919"/>
            </a:xfrm>
            <a:custGeom>
              <a:avLst/>
              <a:gdLst/>
              <a:ahLst/>
              <a:cxnLst/>
              <a:rect r="r" b="b" t="t" l="l"/>
              <a:pathLst>
                <a:path h="2770919" w="3422006">
                  <a:moveTo>
                    <a:pt x="36506" y="0"/>
                  </a:moveTo>
                  <a:lnTo>
                    <a:pt x="3385500" y="0"/>
                  </a:lnTo>
                  <a:cubicBezTo>
                    <a:pt x="3405662" y="0"/>
                    <a:pt x="3422006" y="16344"/>
                    <a:pt x="3422006" y="36506"/>
                  </a:cubicBezTo>
                  <a:lnTo>
                    <a:pt x="3422006" y="2734413"/>
                  </a:lnTo>
                  <a:cubicBezTo>
                    <a:pt x="3422006" y="2744095"/>
                    <a:pt x="3418160" y="2753380"/>
                    <a:pt x="3411314" y="2760226"/>
                  </a:cubicBezTo>
                  <a:cubicBezTo>
                    <a:pt x="3404468" y="2767073"/>
                    <a:pt x="3395182" y="2770919"/>
                    <a:pt x="3385500" y="2770919"/>
                  </a:cubicBezTo>
                  <a:lnTo>
                    <a:pt x="36506" y="2770919"/>
                  </a:lnTo>
                  <a:cubicBezTo>
                    <a:pt x="16344" y="2770919"/>
                    <a:pt x="0" y="2754574"/>
                    <a:pt x="0" y="2734413"/>
                  </a:cubicBezTo>
                  <a:lnTo>
                    <a:pt x="0" y="36506"/>
                  </a:lnTo>
                  <a:cubicBezTo>
                    <a:pt x="0" y="16344"/>
                    <a:pt x="16344" y="0"/>
                    <a:pt x="36506" y="0"/>
                  </a:cubicBezTo>
                  <a:close/>
                </a:path>
              </a:pathLst>
            </a:custGeom>
            <a:ln w="9525" cap="rnd">
              <a:solidFill>
                <a:srgbClr val="000000">
                  <a:alpha val="26667"/>
                </a:srgbClr>
              </a:solidFill>
              <a:prstDash val="solid"/>
              <a:round/>
            </a:ln>
          </p:spPr>
        </p:sp>
        <p:sp>
          <p:nvSpPr>
            <p:cNvPr name="TextBox 4" id="4"/>
            <p:cNvSpPr txBox="true"/>
            <p:nvPr/>
          </p:nvSpPr>
          <p:spPr>
            <a:xfrm>
              <a:off x="0" y="-47625"/>
              <a:ext cx="3422006" cy="2818544"/>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247" y="0"/>
            <a:ext cx="5247300" cy="10287000"/>
          </a:xfrm>
          <a:custGeom>
            <a:avLst/>
            <a:gdLst/>
            <a:ahLst/>
            <a:cxnLst/>
            <a:rect r="r" b="b" t="t" l="l"/>
            <a:pathLst>
              <a:path h="10287000" w="5247300">
                <a:moveTo>
                  <a:pt x="0" y="0"/>
                </a:moveTo>
                <a:lnTo>
                  <a:pt x="5247300" y="0"/>
                </a:lnTo>
                <a:lnTo>
                  <a:pt x="5247300" y="10287000"/>
                </a:lnTo>
                <a:lnTo>
                  <a:pt x="0" y="10287000"/>
                </a:lnTo>
                <a:lnTo>
                  <a:pt x="0" y="0"/>
                </a:lnTo>
                <a:close/>
              </a:path>
            </a:pathLst>
          </a:custGeom>
          <a:blipFill>
            <a:blip r:embed="rId2"/>
            <a:stretch>
              <a:fillRect l="-123934" t="0" r="-70130" b="0"/>
            </a:stretch>
          </a:blipFill>
        </p:spPr>
      </p:sp>
      <p:sp>
        <p:nvSpPr>
          <p:cNvPr name="TextBox 6" id="6"/>
          <p:cNvSpPr txBox="true"/>
          <p:nvPr/>
        </p:nvSpPr>
        <p:spPr>
          <a:xfrm rot="0">
            <a:off x="6022461" y="1319652"/>
            <a:ext cx="10590743" cy="8519216"/>
          </a:xfrm>
          <a:prstGeom prst="rect">
            <a:avLst/>
          </a:prstGeom>
        </p:spPr>
        <p:txBody>
          <a:bodyPr anchor="t" rtlCol="false" tIns="0" lIns="0" bIns="0" rIns="0">
            <a:spAutoFit/>
          </a:bodyPr>
          <a:lstStyle/>
          <a:p>
            <a:pPr algn="l">
              <a:lnSpc>
                <a:spcPts val="5201"/>
              </a:lnSpc>
            </a:pPr>
            <a:r>
              <a:rPr lang="en-US" sz="3715">
                <a:solidFill>
                  <a:srgbClr val="000000"/>
                </a:solidFill>
                <a:latin typeface="Pridi"/>
                <a:ea typeface="Pridi"/>
                <a:cs typeface="Pridi"/>
                <a:sym typeface="Pridi"/>
              </a:rPr>
              <a:t>1.Neologizmlərin dilin inkişafında rolu</a:t>
            </a:r>
          </a:p>
          <a:p>
            <a:pPr algn="l">
              <a:lnSpc>
                <a:spcPts val="5201"/>
              </a:lnSpc>
            </a:pPr>
            <a:r>
              <a:rPr lang="en-US" sz="3715">
                <a:solidFill>
                  <a:srgbClr val="000000"/>
                </a:solidFill>
                <a:latin typeface="Pridi"/>
                <a:ea typeface="Pridi"/>
                <a:cs typeface="Pridi"/>
                <a:sym typeface="Pridi"/>
              </a:rPr>
              <a:t>2.Neologizmlərin yaranma səbəbləri</a:t>
            </a:r>
          </a:p>
          <a:p>
            <a:pPr algn="l">
              <a:lnSpc>
                <a:spcPts val="5201"/>
              </a:lnSpc>
            </a:pPr>
            <a:r>
              <a:rPr lang="en-US" sz="3715">
                <a:solidFill>
                  <a:srgbClr val="000000"/>
                </a:solidFill>
                <a:latin typeface="Pridi"/>
                <a:ea typeface="Pridi"/>
                <a:cs typeface="Pridi"/>
                <a:sym typeface="Pridi"/>
              </a:rPr>
              <a:t>3.Neologizmlərin yaranma yolları</a:t>
            </a:r>
          </a:p>
          <a:p>
            <a:pPr algn="l">
              <a:lnSpc>
                <a:spcPts val="5201"/>
              </a:lnSpc>
            </a:pPr>
            <a:r>
              <a:rPr lang="en-US" sz="3715">
                <a:solidFill>
                  <a:srgbClr val="000000"/>
                </a:solidFill>
                <a:latin typeface="Pridi"/>
                <a:ea typeface="Pridi"/>
                <a:cs typeface="Pridi"/>
                <a:sym typeface="Pridi"/>
              </a:rPr>
              <a:t>4.Texnoloji sahə neologizmləri</a:t>
            </a:r>
          </a:p>
          <a:p>
            <a:pPr algn="l">
              <a:lnSpc>
                <a:spcPts val="5201"/>
              </a:lnSpc>
            </a:pPr>
            <a:r>
              <a:rPr lang="en-US" sz="3715">
                <a:solidFill>
                  <a:srgbClr val="000000"/>
                </a:solidFill>
                <a:latin typeface="Pridi"/>
                <a:ea typeface="Pridi"/>
                <a:cs typeface="Pridi"/>
                <a:sym typeface="Pridi"/>
              </a:rPr>
              <a:t>5.Sosial və siyasi leksika</a:t>
            </a:r>
          </a:p>
          <a:p>
            <a:pPr algn="l">
              <a:lnSpc>
                <a:spcPts val="5201"/>
              </a:lnSpc>
            </a:pPr>
            <a:r>
              <a:rPr lang="en-US" sz="3715">
                <a:solidFill>
                  <a:srgbClr val="000000"/>
                </a:solidFill>
                <a:latin typeface="Pridi"/>
                <a:ea typeface="Pridi"/>
                <a:cs typeface="Pridi"/>
                <a:sym typeface="Pridi"/>
              </a:rPr>
              <a:t>6.Mədəni və gündəlik leksika</a:t>
            </a:r>
          </a:p>
          <a:p>
            <a:pPr algn="l">
              <a:lnSpc>
                <a:spcPts val="5201"/>
              </a:lnSpc>
            </a:pPr>
            <a:r>
              <a:rPr lang="en-US" sz="3715">
                <a:solidFill>
                  <a:srgbClr val="000000"/>
                </a:solidFill>
                <a:latin typeface="Pridi"/>
                <a:ea typeface="Pridi"/>
                <a:cs typeface="Pridi"/>
                <a:sym typeface="Pridi"/>
              </a:rPr>
              <a:t>7.Yeni sözlərin ədəbi norma ilə uyğunlaşdırılması zərurəti</a:t>
            </a:r>
          </a:p>
          <a:p>
            <a:pPr algn="l">
              <a:lnSpc>
                <a:spcPts val="5201"/>
              </a:lnSpc>
            </a:pPr>
            <a:r>
              <a:rPr lang="en-US" sz="3715">
                <a:solidFill>
                  <a:srgbClr val="000000"/>
                </a:solidFill>
                <a:latin typeface="Pridi"/>
                <a:ea typeface="Pridi"/>
                <a:cs typeface="Pridi"/>
                <a:sym typeface="Pridi"/>
              </a:rPr>
              <a:t>8.Azərbaycan dilində alınmaların              mənimsənilmə prosesi</a:t>
            </a:r>
          </a:p>
          <a:p>
            <a:pPr algn="l">
              <a:lnSpc>
                <a:spcPts val="5201"/>
              </a:lnSpc>
            </a:pPr>
            <a:r>
              <a:rPr lang="en-US" sz="3715">
                <a:solidFill>
                  <a:srgbClr val="000000"/>
                </a:solidFill>
                <a:latin typeface="Pridi"/>
                <a:ea typeface="Pridi"/>
                <a:cs typeface="Pridi"/>
                <a:sym typeface="Pridi"/>
              </a:rPr>
              <a:t>9.Dildə paralel leksika</a:t>
            </a:r>
          </a:p>
          <a:p>
            <a:pPr algn="l">
              <a:lnSpc>
                <a:spcPts val="5201"/>
              </a:lnSpc>
            </a:pPr>
            <a:r>
              <a:rPr lang="en-US" sz="3715">
                <a:solidFill>
                  <a:srgbClr val="000000"/>
                </a:solidFill>
                <a:latin typeface="Pridi"/>
                <a:ea typeface="Pridi"/>
                <a:cs typeface="Pridi"/>
                <a:sym typeface="Pridi"/>
              </a:rPr>
              <a:t>10.Ümumiləşdirmə</a:t>
            </a:r>
          </a:p>
          <a:p>
            <a:pPr algn="l">
              <a:lnSpc>
                <a:spcPts val="5201"/>
              </a:lnSpc>
            </a:pPr>
            <a:r>
              <a:rPr lang="en-US" sz="3715">
                <a:solidFill>
                  <a:srgbClr val="000000"/>
                </a:solidFill>
                <a:latin typeface="Pridi"/>
                <a:ea typeface="Pridi"/>
                <a:cs typeface="Pridi"/>
                <a:sym typeface="Pridi"/>
              </a:rPr>
              <a:t>11.Nəticə</a:t>
            </a:r>
          </a:p>
        </p:txBody>
      </p:sp>
      <p:sp>
        <p:nvSpPr>
          <p:cNvPr name="TextBox 7" id="7"/>
          <p:cNvSpPr txBox="true"/>
          <p:nvPr/>
        </p:nvSpPr>
        <p:spPr>
          <a:xfrm rot="0">
            <a:off x="5581783" y="231686"/>
            <a:ext cx="1723659" cy="797014"/>
          </a:xfrm>
          <a:prstGeom prst="rect">
            <a:avLst/>
          </a:prstGeom>
        </p:spPr>
        <p:txBody>
          <a:bodyPr anchor="t" rtlCol="false" tIns="0" lIns="0" bIns="0" rIns="0">
            <a:spAutoFit/>
          </a:bodyPr>
          <a:lstStyle/>
          <a:p>
            <a:pPr algn="l">
              <a:lnSpc>
                <a:spcPts val="6502"/>
              </a:lnSpc>
              <a:spcBef>
                <a:spcPct val="0"/>
              </a:spcBef>
            </a:pPr>
            <a:r>
              <a:rPr lang="en-US" b="true" sz="4644">
                <a:solidFill>
                  <a:srgbClr val="000000"/>
                </a:solidFill>
                <a:latin typeface="Roboto Slab Bold"/>
                <a:ea typeface="Roboto Slab Bold"/>
                <a:cs typeface="Roboto Slab Bold"/>
                <a:sym typeface="Roboto Slab Bold"/>
              </a:rPr>
              <a:t>Plan</a:t>
            </a:r>
          </a:p>
        </p:txBody>
      </p:sp>
      <p:grpSp>
        <p:nvGrpSpPr>
          <p:cNvPr name="Group 8" id="8"/>
          <p:cNvGrpSpPr/>
          <p:nvPr/>
        </p:nvGrpSpPr>
        <p:grpSpPr>
          <a:xfrm rot="-5400000">
            <a:off x="14210311" y="6209311"/>
            <a:ext cx="7035932" cy="1119445"/>
            <a:chOff x="0" y="0"/>
            <a:chExt cx="1425301" cy="226770"/>
          </a:xfrm>
        </p:grpSpPr>
        <p:sp>
          <p:nvSpPr>
            <p:cNvPr name="Freeform 9" id="9"/>
            <p:cNvSpPr/>
            <p:nvPr/>
          </p:nvSpPr>
          <p:spPr>
            <a:xfrm flipH="false" flipV="false" rot="0">
              <a:off x="0" y="0"/>
              <a:ext cx="1425301" cy="226361"/>
            </a:xfrm>
            <a:custGeom>
              <a:avLst/>
              <a:gdLst/>
              <a:ahLst/>
              <a:cxnLst/>
              <a:rect r="r" b="b" t="t" l="l"/>
              <a:pathLst>
                <a:path h="226361" w="1425301">
                  <a:moveTo>
                    <a:pt x="712650" y="0"/>
                  </a:moveTo>
                  <a:lnTo>
                    <a:pt x="1425301" y="226361"/>
                  </a:lnTo>
                  <a:lnTo>
                    <a:pt x="0" y="226361"/>
                  </a:lnTo>
                  <a:close/>
                </a:path>
              </a:pathLst>
            </a:custGeom>
            <a:solidFill>
              <a:srgbClr val="4382EB"/>
            </a:solidFill>
          </p:spPr>
        </p:sp>
        <p:sp>
          <p:nvSpPr>
            <p:cNvPr name="TextBox 10" id="10"/>
            <p:cNvSpPr txBox="true"/>
            <p:nvPr/>
          </p:nvSpPr>
          <p:spPr>
            <a:xfrm>
              <a:off x="301772" y="48075"/>
              <a:ext cx="821756" cy="17828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062879" y="6769034"/>
            <a:ext cx="2225121" cy="3517966"/>
            <a:chOff x="0" y="0"/>
            <a:chExt cx="450753" cy="712647"/>
          </a:xfrm>
        </p:grpSpPr>
        <p:sp>
          <p:nvSpPr>
            <p:cNvPr name="Freeform 12" id="12"/>
            <p:cNvSpPr/>
            <p:nvPr/>
          </p:nvSpPr>
          <p:spPr>
            <a:xfrm flipH="false" flipV="false" rot="0">
              <a:off x="0" y="0"/>
              <a:ext cx="450753" cy="711363"/>
            </a:xfrm>
            <a:custGeom>
              <a:avLst/>
              <a:gdLst/>
              <a:ahLst/>
              <a:cxnLst/>
              <a:rect r="r" b="b" t="t" l="l"/>
              <a:pathLst>
                <a:path h="711363" w="450753">
                  <a:moveTo>
                    <a:pt x="225376" y="0"/>
                  </a:moveTo>
                  <a:lnTo>
                    <a:pt x="450753" y="711363"/>
                  </a:lnTo>
                  <a:lnTo>
                    <a:pt x="0" y="711363"/>
                  </a:lnTo>
                  <a:close/>
                </a:path>
              </a:pathLst>
            </a:custGeom>
            <a:solidFill>
              <a:srgbClr val="4382EB"/>
            </a:solidFill>
          </p:spPr>
        </p:sp>
        <p:sp>
          <p:nvSpPr>
            <p:cNvPr name="TextBox 13" id="13"/>
            <p:cNvSpPr txBox="true"/>
            <p:nvPr/>
          </p:nvSpPr>
          <p:spPr>
            <a:xfrm>
              <a:off x="95436" y="253121"/>
              <a:ext cx="259881" cy="45824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14179439" y="3079861"/>
            <a:ext cx="7188422" cy="1028700"/>
            <a:chOff x="0" y="0"/>
            <a:chExt cx="1893247" cy="270932"/>
          </a:xfrm>
        </p:grpSpPr>
        <p:sp>
          <p:nvSpPr>
            <p:cNvPr name="Freeform 15" id="15"/>
            <p:cNvSpPr/>
            <p:nvPr/>
          </p:nvSpPr>
          <p:spPr>
            <a:xfrm flipH="false" flipV="false" rot="0">
              <a:off x="0" y="0"/>
              <a:ext cx="1893247" cy="270444"/>
            </a:xfrm>
            <a:custGeom>
              <a:avLst/>
              <a:gdLst/>
              <a:ahLst/>
              <a:cxnLst/>
              <a:rect r="r" b="b" t="t" l="l"/>
              <a:pathLst>
                <a:path h="270444" w="1893247">
                  <a:moveTo>
                    <a:pt x="946623" y="0"/>
                  </a:moveTo>
                  <a:lnTo>
                    <a:pt x="1893247" y="270444"/>
                  </a:lnTo>
                  <a:lnTo>
                    <a:pt x="0" y="270444"/>
                  </a:lnTo>
                  <a:close/>
                </a:path>
              </a:pathLst>
            </a:custGeom>
            <a:solidFill>
              <a:srgbClr val="2C58A0"/>
            </a:solidFill>
          </p:spPr>
        </p:sp>
        <p:sp>
          <p:nvSpPr>
            <p:cNvPr name="TextBox 16" id="16"/>
            <p:cNvSpPr txBox="true"/>
            <p:nvPr/>
          </p:nvSpPr>
          <p:spPr>
            <a:xfrm>
              <a:off x="400848" y="66712"/>
              <a:ext cx="1091550" cy="203732"/>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10800000">
            <a:off x="16236927" y="0"/>
            <a:ext cx="2044747" cy="3594211"/>
            <a:chOff x="0" y="0"/>
            <a:chExt cx="538534" cy="946619"/>
          </a:xfrm>
        </p:grpSpPr>
        <p:sp>
          <p:nvSpPr>
            <p:cNvPr name="Freeform 18" id="18"/>
            <p:cNvSpPr/>
            <p:nvPr/>
          </p:nvSpPr>
          <p:spPr>
            <a:xfrm flipH="false" flipV="false" rot="0">
              <a:off x="0" y="0"/>
              <a:ext cx="538534" cy="944914"/>
            </a:xfrm>
            <a:custGeom>
              <a:avLst/>
              <a:gdLst/>
              <a:ahLst/>
              <a:cxnLst/>
              <a:rect r="r" b="b" t="t" l="l"/>
              <a:pathLst>
                <a:path h="944914" w="538534">
                  <a:moveTo>
                    <a:pt x="269267" y="0"/>
                  </a:moveTo>
                  <a:lnTo>
                    <a:pt x="538534" y="944914"/>
                  </a:lnTo>
                  <a:lnTo>
                    <a:pt x="0" y="944914"/>
                  </a:lnTo>
                  <a:close/>
                </a:path>
              </a:pathLst>
            </a:custGeom>
            <a:solidFill>
              <a:srgbClr val="2C58A0"/>
            </a:solidFill>
          </p:spPr>
        </p:sp>
        <p:sp>
          <p:nvSpPr>
            <p:cNvPr name="TextBox 19" id="19"/>
            <p:cNvSpPr txBox="true"/>
            <p:nvPr/>
          </p:nvSpPr>
          <p:spPr>
            <a:xfrm>
              <a:off x="114021" y="351860"/>
              <a:ext cx="310492" cy="593054"/>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5400000">
            <a:off x="15813848" y="7819175"/>
            <a:ext cx="4147297" cy="788353"/>
            <a:chOff x="0" y="0"/>
            <a:chExt cx="1425301" cy="270932"/>
          </a:xfrm>
        </p:grpSpPr>
        <p:sp>
          <p:nvSpPr>
            <p:cNvPr name="Freeform 21" id="21"/>
            <p:cNvSpPr/>
            <p:nvPr/>
          </p:nvSpPr>
          <p:spPr>
            <a:xfrm flipH="false" flipV="false" rot="0">
              <a:off x="0" y="0"/>
              <a:ext cx="1425301" cy="270444"/>
            </a:xfrm>
            <a:custGeom>
              <a:avLst/>
              <a:gdLst/>
              <a:ahLst/>
              <a:cxnLst/>
              <a:rect r="r" b="b" t="t" l="l"/>
              <a:pathLst>
                <a:path h="270444" w="1425301">
                  <a:moveTo>
                    <a:pt x="712650" y="0"/>
                  </a:moveTo>
                  <a:lnTo>
                    <a:pt x="1425301" y="270444"/>
                  </a:lnTo>
                  <a:lnTo>
                    <a:pt x="0" y="270444"/>
                  </a:lnTo>
                  <a:close/>
                </a:path>
              </a:pathLst>
            </a:custGeom>
            <a:solidFill>
              <a:srgbClr val="84A5FF"/>
            </a:solidFill>
          </p:spPr>
        </p:sp>
        <p:sp>
          <p:nvSpPr>
            <p:cNvPr name="TextBox 22" id="22"/>
            <p:cNvSpPr txBox="true"/>
            <p:nvPr/>
          </p:nvSpPr>
          <p:spPr>
            <a:xfrm>
              <a:off x="301772" y="66712"/>
              <a:ext cx="821756" cy="203732"/>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6714663" y="8213352"/>
            <a:ext cx="1567010" cy="2073648"/>
            <a:chOff x="0" y="0"/>
            <a:chExt cx="538534" cy="712647"/>
          </a:xfrm>
        </p:grpSpPr>
        <p:sp>
          <p:nvSpPr>
            <p:cNvPr name="Freeform 24" id="24"/>
            <p:cNvSpPr/>
            <p:nvPr/>
          </p:nvSpPr>
          <p:spPr>
            <a:xfrm flipH="false" flipV="false" rot="0">
              <a:off x="0" y="0"/>
              <a:ext cx="538534" cy="711363"/>
            </a:xfrm>
            <a:custGeom>
              <a:avLst/>
              <a:gdLst/>
              <a:ahLst/>
              <a:cxnLst/>
              <a:rect r="r" b="b" t="t" l="l"/>
              <a:pathLst>
                <a:path h="711363" w="538534">
                  <a:moveTo>
                    <a:pt x="269267" y="0"/>
                  </a:moveTo>
                  <a:lnTo>
                    <a:pt x="538534" y="711363"/>
                  </a:lnTo>
                  <a:lnTo>
                    <a:pt x="0" y="711363"/>
                  </a:lnTo>
                  <a:close/>
                </a:path>
              </a:pathLst>
            </a:custGeom>
            <a:solidFill>
              <a:srgbClr val="84A5FF"/>
            </a:solidFill>
          </p:spPr>
        </p:sp>
        <p:sp>
          <p:nvSpPr>
            <p:cNvPr name="TextBox 25" id="25"/>
            <p:cNvSpPr txBox="true"/>
            <p:nvPr/>
          </p:nvSpPr>
          <p:spPr>
            <a:xfrm>
              <a:off x="114021" y="253121"/>
              <a:ext cx="310492" cy="458243"/>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5400000">
            <a:off x="13755459" y="3680810"/>
            <a:ext cx="8215339" cy="849744"/>
            <a:chOff x="0" y="0"/>
            <a:chExt cx="2163711" cy="223800"/>
          </a:xfrm>
        </p:grpSpPr>
        <p:sp>
          <p:nvSpPr>
            <p:cNvPr name="Freeform 27" id="27"/>
            <p:cNvSpPr/>
            <p:nvPr/>
          </p:nvSpPr>
          <p:spPr>
            <a:xfrm flipH="false" flipV="false" rot="0">
              <a:off x="0" y="0"/>
              <a:ext cx="2163711" cy="223397"/>
            </a:xfrm>
            <a:custGeom>
              <a:avLst/>
              <a:gdLst/>
              <a:ahLst/>
              <a:cxnLst/>
              <a:rect r="r" b="b" t="t" l="l"/>
              <a:pathLst>
                <a:path h="223397" w="2163711">
                  <a:moveTo>
                    <a:pt x="1081855" y="0"/>
                  </a:moveTo>
                  <a:lnTo>
                    <a:pt x="2163711" y="223397"/>
                  </a:lnTo>
                  <a:lnTo>
                    <a:pt x="0" y="223397"/>
                  </a:lnTo>
                  <a:close/>
                </a:path>
              </a:pathLst>
            </a:custGeom>
            <a:solidFill>
              <a:srgbClr val="A4C7FF"/>
            </a:solidFill>
          </p:spPr>
        </p:sp>
        <p:sp>
          <p:nvSpPr>
            <p:cNvPr name="TextBox 28" id="28"/>
            <p:cNvSpPr txBox="true"/>
            <p:nvPr/>
          </p:nvSpPr>
          <p:spPr>
            <a:xfrm>
              <a:off x="458112" y="46821"/>
              <a:ext cx="1247486" cy="176575"/>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10800000">
            <a:off x="16593738" y="-1987"/>
            <a:ext cx="1689036" cy="4107669"/>
            <a:chOff x="0" y="0"/>
            <a:chExt cx="444849" cy="1081850"/>
          </a:xfrm>
        </p:grpSpPr>
        <p:sp>
          <p:nvSpPr>
            <p:cNvPr name="Freeform 30" id="30"/>
            <p:cNvSpPr/>
            <p:nvPr/>
          </p:nvSpPr>
          <p:spPr>
            <a:xfrm flipH="false" flipV="false" rot="0">
              <a:off x="0" y="0"/>
              <a:ext cx="444849" cy="1079901"/>
            </a:xfrm>
            <a:custGeom>
              <a:avLst/>
              <a:gdLst/>
              <a:ahLst/>
              <a:cxnLst/>
              <a:rect r="r" b="b" t="t" l="l"/>
              <a:pathLst>
                <a:path h="1079901" w="444849">
                  <a:moveTo>
                    <a:pt x="222424" y="0"/>
                  </a:moveTo>
                  <a:lnTo>
                    <a:pt x="444849" y="1079901"/>
                  </a:lnTo>
                  <a:lnTo>
                    <a:pt x="0" y="1079901"/>
                  </a:lnTo>
                  <a:close/>
                </a:path>
              </a:pathLst>
            </a:custGeom>
            <a:solidFill>
              <a:srgbClr val="A4C7FF"/>
            </a:solidFill>
          </p:spPr>
        </p:sp>
        <p:sp>
          <p:nvSpPr>
            <p:cNvPr name="TextBox 31" id="31"/>
            <p:cNvSpPr txBox="true"/>
            <p:nvPr/>
          </p:nvSpPr>
          <p:spPr>
            <a:xfrm>
              <a:off x="94186" y="408929"/>
              <a:ext cx="256477" cy="67097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2736" y="1357446"/>
            <a:ext cx="10542742" cy="8494843"/>
            <a:chOff x="0" y="0"/>
            <a:chExt cx="2924705" cy="2356589"/>
          </a:xfrm>
        </p:grpSpPr>
        <p:sp>
          <p:nvSpPr>
            <p:cNvPr name="Freeform 3" id="3"/>
            <p:cNvSpPr/>
            <p:nvPr/>
          </p:nvSpPr>
          <p:spPr>
            <a:xfrm flipH="false" flipV="false" rot="0">
              <a:off x="0" y="0"/>
              <a:ext cx="2924705" cy="2356589"/>
            </a:xfrm>
            <a:custGeom>
              <a:avLst/>
              <a:gdLst/>
              <a:ahLst/>
              <a:cxnLst/>
              <a:rect r="r" b="b" t="t" l="l"/>
              <a:pathLst>
                <a:path h="2356589" w="2924705">
                  <a:moveTo>
                    <a:pt x="38185" y="0"/>
                  </a:moveTo>
                  <a:lnTo>
                    <a:pt x="2886520" y="0"/>
                  </a:lnTo>
                  <a:cubicBezTo>
                    <a:pt x="2896647" y="0"/>
                    <a:pt x="2906360" y="4023"/>
                    <a:pt x="2913521" y="11184"/>
                  </a:cubicBezTo>
                  <a:cubicBezTo>
                    <a:pt x="2920682" y="18345"/>
                    <a:pt x="2924705" y="28058"/>
                    <a:pt x="2924705" y="38185"/>
                  </a:cubicBezTo>
                  <a:lnTo>
                    <a:pt x="2924705" y="2318404"/>
                  </a:lnTo>
                  <a:cubicBezTo>
                    <a:pt x="2924705" y="2339493"/>
                    <a:pt x="2907609" y="2356589"/>
                    <a:pt x="2886520" y="2356589"/>
                  </a:cubicBezTo>
                  <a:lnTo>
                    <a:pt x="38185" y="2356589"/>
                  </a:lnTo>
                  <a:cubicBezTo>
                    <a:pt x="17096" y="2356589"/>
                    <a:pt x="0" y="2339493"/>
                    <a:pt x="0" y="2318404"/>
                  </a:cubicBezTo>
                  <a:lnTo>
                    <a:pt x="0" y="38185"/>
                  </a:lnTo>
                  <a:cubicBezTo>
                    <a:pt x="0" y="17096"/>
                    <a:pt x="17096" y="0"/>
                    <a:pt x="38185" y="0"/>
                  </a:cubicBezTo>
                  <a:close/>
                </a:path>
              </a:pathLst>
            </a:custGeom>
            <a:solidFill>
              <a:srgbClr val="FFFFFF">
                <a:alpha val="40784"/>
              </a:srgbClr>
            </a:solidFill>
            <a:ln w="19050" cap="rnd">
              <a:solidFill>
                <a:srgbClr val="000000">
                  <a:alpha val="40784"/>
                </a:srgbClr>
              </a:solidFill>
              <a:prstDash val="solid"/>
              <a:round/>
            </a:ln>
          </p:spPr>
        </p:sp>
        <p:sp>
          <p:nvSpPr>
            <p:cNvPr name="TextBox 4" id="4"/>
            <p:cNvSpPr txBox="true"/>
            <p:nvPr/>
          </p:nvSpPr>
          <p:spPr>
            <a:xfrm>
              <a:off x="0" y="-47625"/>
              <a:ext cx="2924705" cy="2404214"/>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1689622" y="3251068"/>
            <a:ext cx="4547305" cy="4472658"/>
          </a:xfrm>
          <a:custGeom>
            <a:avLst/>
            <a:gdLst/>
            <a:ahLst/>
            <a:cxnLst/>
            <a:rect r="r" b="b" t="t" l="l"/>
            <a:pathLst>
              <a:path h="4472658" w="4547305">
                <a:moveTo>
                  <a:pt x="0" y="0"/>
                </a:moveTo>
                <a:lnTo>
                  <a:pt x="4547305" y="0"/>
                </a:lnTo>
                <a:lnTo>
                  <a:pt x="4547305" y="4472658"/>
                </a:lnTo>
                <a:lnTo>
                  <a:pt x="0" y="4472658"/>
                </a:lnTo>
                <a:lnTo>
                  <a:pt x="0" y="0"/>
                </a:lnTo>
                <a:close/>
              </a:path>
            </a:pathLst>
          </a:custGeom>
          <a:blipFill>
            <a:blip r:embed="rId2"/>
            <a:stretch>
              <a:fillRect l="0" t="-834" r="0" b="-834"/>
            </a:stretch>
          </a:blipFill>
          <a:ln cap="rnd">
            <a:noFill/>
            <a:prstDash val="solid"/>
            <a:round/>
          </a:ln>
        </p:spPr>
      </p:sp>
      <p:sp>
        <p:nvSpPr>
          <p:cNvPr name="TextBox 6" id="6"/>
          <p:cNvSpPr txBox="true"/>
          <p:nvPr/>
        </p:nvSpPr>
        <p:spPr>
          <a:xfrm rot="0">
            <a:off x="911925" y="1529161"/>
            <a:ext cx="9577547" cy="8023535"/>
          </a:xfrm>
          <a:prstGeom prst="rect">
            <a:avLst/>
          </a:prstGeom>
        </p:spPr>
        <p:txBody>
          <a:bodyPr anchor="t" rtlCol="false" tIns="0" lIns="0" bIns="0" rIns="0">
            <a:spAutoFit/>
          </a:bodyPr>
          <a:lstStyle/>
          <a:p>
            <a:pPr algn="l">
              <a:lnSpc>
                <a:spcPts val="6375"/>
              </a:lnSpc>
            </a:pPr>
            <a:r>
              <a:rPr lang="en-US" sz="4554">
                <a:solidFill>
                  <a:srgbClr val="000000"/>
                </a:solidFill>
                <a:latin typeface="Roboto Slab"/>
                <a:ea typeface="Roboto Slab"/>
                <a:cs typeface="Roboto Slab"/>
                <a:sym typeface="Roboto Slab"/>
              </a:rPr>
              <a:t>Neologizmlər dilin yeni reallıqlara, elmə və cəmiyyətdəki dəyişikliklərə uyğunlaşmasını təmin edərək söz ehtiyatını canlı saxlayır. Onlar dilin quruluşunu və işləkliyi gücləndirməklə dövrün ruhunu əks etdirir; məsələn, media vasitəsilə yayılan yeni sözlər dilin inkişafını daha da sürətləndirir.</a:t>
            </a:r>
          </a:p>
        </p:txBody>
      </p:sp>
      <p:sp>
        <p:nvSpPr>
          <p:cNvPr name="TextBox 7" id="7"/>
          <p:cNvSpPr txBox="true"/>
          <p:nvPr/>
        </p:nvSpPr>
        <p:spPr>
          <a:xfrm rot="0">
            <a:off x="472736" y="135410"/>
            <a:ext cx="17808937" cy="893290"/>
          </a:xfrm>
          <a:prstGeom prst="rect">
            <a:avLst/>
          </a:prstGeom>
        </p:spPr>
        <p:txBody>
          <a:bodyPr anchor="t" rtlCol="false" tIns="0" lIns="0" bIns="0" rIns="0">
            <a:spAutoFit/>
          </a:bodyPr>
          <a:lstStyle/>
          <a:p>
            <a:pPr algn="l">
              <a:lnSpc>
                <a:spcPts val="7306"/>
              </a:lnSpc>
              <a:spcBef>
                <a:spcPct val="0"/>
              </a:spcBef>
            </a:pPr>
            <a:r>
              <a:rPr lang="en-US" b="true" sz="5218">
                <a:solidFill>
                  <a:srgbClr val="000000"/>
                </a:solidFill>
                <a:latin typeface="Roboto Slab Bold"/>
                <a:ea typeface="Roboto Slab Bold"/>
                <a:cs typeface="Roboto Slab Bold"/>
                <a:sym typeface="Roboto Slab Bold"/>
              </a:rPr>
              <a:t>Neologizmlərin dilin inkişafında rolu</a:t>
            </a:r>
          </a:p>
        </p:txBody>
      </p:sp>
      <p:grpSp>
        <p:nvGrpSpPr>
          <p:cNvPr name="Group 8" id="8"/>
          <p:cNvGrpSpPr/>
          <p:nvPr/>
        </p:nvGrpSpPr>
        <p:grpSpPr>
          <a:xfrm rot="-5400000">
            <a:off x="14210311" y="6209311"/>
            <a:ext cx="7035932" cy="1119445"/>
            <a:chOff x="0" y="0"/>
            <a:chExt cx="1425301" cy="226770"/>
          </a:xfrm>
        </p:grpSpPr>
        <p:sp>
          <p:nvSpPr>
            <p:cNvPr name="Freeform 9" id="9"/>
            <p:cNvSpPr/>
            <p:nvPr/>
          </p:nvSpPr>
          <p:spPr>
            <a:xfrm flipH="false" flipV="false" rot="0">
              <a:off x="0" y="0"/>
              <a:ext cx="1425301" cy="226361"/>
            </a:xfrm>
            <a:custGeom>
              <a:avLst/>
              <a:gdLst/>
              <a:ahLst/>
              <a:cxnLst/>
              <a:rect r="r" b="b" t="t" l="l"/>
              <a:pathLst>
                <a:path h="226361" w="1425301">
                  <a:moveTo>
                    <a:pt x="712650" y="0"/>
                  </a:moveTo>
                  <a:lnTo>
                    <a:pt x="1425301" y="226361"/>
                  </a:lnTo>
                  <a:lnTo>
                    <a:pt x="0" y="226361"/>
                  </a:lnTo>
                  <a:close/>
                </a:path>
              </a:pathLst>
            </a:custGeom>
            <a:solidFill>
              <a:srgbClr val="4382EB"/>
            </a:solidFill>
          </p:spPr>
        </p:sp>
        <p:sp>
          <p:nvSpPr>
            <p:cNvPr name="TextBox 10" id="10"/>
            <p:cNvSpPr txBox="true"/>
            <p:nvPr/>
          </p:nvSpPr>
          <p:spPr>
            <a:xfrm>
              <a:off x="301772" y="48075"/>
              <a:ext cx="821756" cy="17828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062879" y="6769034"/>
            <a:ext cx="2225121" cy="3517966"/>
            <a:chOff x="0" y="0"/>
            <a:chExt cx="450753" cy="712647"/>
          </a:xfrm>
        </p:grpSpPr>
        <p:sp>
          <p:nvSpPr>
            <p:cNvPr name="Freeform 12" id="12"/>
            <p:cNvSpPr/>
            <p:nvPr/>
          </p:nvSpPr>
          <p:spPr>
            <a:xfrm flipH="false" flipV="false" rot="0">
              <a:off x="0" y="0"/>
              <a:ext cx="450753" cy="711363"/>
            </a:xfrm>
            <a:custGeom>
              <a:avLst/>
              <a:gdLst/>
              <a:ahLst/>
              <a:cxnLst/>
              <a:rect r="r" b="b" t="t" l="l"/>
              <a:pathLst>
                <a:path h="711363" w="450753">
                  <a:moveTo>
                    <a:pt x="225376" y="0"/>
                  </a:moveTo>
                  <a:lnTo>
                    <a:pt x="450753" y="711363"/>
                  </a:lnTo>
                  <a:lnTo>
                    <a:pt x="0" y="711363"/>
                  </a:lnTo>
                  <a:close/>
                </a:path>
              </a:pathLst>
            </a:custGeom>
            <a:solidFill>
              <a:srgbClr val="4382EB"/>
            </a:solidFill>
          </p:spPr>
        </p:sp>
        <p:sp>
          <p:nvSpPr>
            <p:cNvPr name="TextBox 13" id="13"/>
            <p:cNvSpPr txBox="true"/>
            <p:nvPr/>
          </p:nvSpPr>
          <p:spPr>
            <a:xfrm>
              <a:off x="95436" y="253121"/>
              <a:ext cx="259881" cy="45824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14179439" y="3079861"/>
            <a:ext cx="7188422" cy="1028700"/>
            <a:chOff x="0" y="0"/>
            <a:chExt cx="1893247" cy="270932"/>
          </a:xfrm>
        </p:grpSpPr>
        <p:sp>
          <p:nvSpPr>
            <p:cNvPr name="Freeform 15" id="15"/>
            <p:cNvSpPr/>
            <p:nvPr/>
          </p:nvSpPr>
          <p:spPr>
            <a:xfrm flipH="false" flipV="false" rot="0">
              <a:off x="0" y="0"/>
              <a:ext cx="1893247" cy="270444"/>
            </a:xfrm>
            <a:custGeom>
              <a:avLst/>
              <a:gdLst/>
              <a:ahLst/>
              <a:cxnLst/>
              <a:rect r="r" b="b" t="t" l="l"/>
              <a:pathLst>
                <a:path h="270444" w="1893247">
                  <a:moveTo>
                    <a:pt x="946623" y="0"/>
                  </a:moveTo>
                  <a:lnTo>
                    <a:pt x="1893247" y="270444"/>
                  </a:lnTo>
                  <a:lnTo>
                    <a:pt x="0" y="270444"/>
                  </a:lnTo>
                  <a:close/>
                </a:path>
              </a:pathLst>
            </a:custGeom>
            <a:solidFill>
              <a:srgbClr val="2C58A0"/>
            </a:solidFill>
          </p:spPr>
        </p:sp>
        <p:sp>
          <p:nvSpPr>
            <p:cNvPr name="TextBox 16" id="16"/>
            <p:cNvSpPr txBox="true"/>
            <p:nvPr/>
          </p:nvSpPr>
          <p:spPr>
            <a:xfrm>
              <a:off x="400848" y="66712"/>
              <a:ext cx="1091550" cy="203732"/>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10800000">
            <a:off x="16236927" y="0"/>
            <a:ext cx="2044747" cy="3594211"/>
            <a:chOff x="0" y="0"/>
            <a:chExt cx="538534" cy="946619"/>
          </a:xfrm>
        </p:grpSpPr>
        <p:sp>
          <p:nvSpPr>
            <p:cNvPr name="Freeform 18" id="18"/>
            <p:cNvSpPr/>
            <p:nvPr/>
          </p:nvSpPr>
          <p:spPr>
            <a:xfrm flipH="false" flipV="false" rot="0">
              <a:off x="0" y="0"/>
              <a:ext cx="538534" cy="944914"/>
            </a:xfrm>
            <a:custGeom>
              <a:avLst/>
              <a:gdLst/>
              <a:ahLst/>
              <a:cxnLst/>
              <a:rect r="r" b="b" t="t" l="l"/>
              <a:pathLst>
                <a:path h="944914" w="538534">
                  <a:moveTo>
                    <a:pt x="269267" y="0"/>
                  </a:moveTo>
                  <a:lnTo>
                    <a:pt x="538534" y="944914"/>
                  </a:lnTo>
                  <a:lnTo>
                    <a:pt x="0" y="944914"/>
                  </a:lnTo>
                  <a:close/>
                </a:path>
              </a:pathLst>
            </a:custGeom>
            <a:solidFill>
              <a:srgbClr val="2C58A0"/>
            </a:solidFill>
          </p:spPr>
        </p:sp>
        <p:sp>
          <p:nvSpPr>
            <p:cNvPr name="TextBox 19" id="19"/>
            <p:cNvSpPr txBox="true"/>
            <p:nvPr/>
          </p:nvSpPr>
          <p:spPr>
            <a:xfrm>
              <a:off x="114021" y="351860"/>
              <a:ext cx="310492" cy="593054"/>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5400000">
            <a:off x="15813848" y="7819175"/>
            <a:ext cx="4147297" cy="788353"/>
            <a:chOff x="0" y="0"/>
            <a:chExt cx="1425301" cy="270932"/>
          </a:xfrm>
        </p:grpSpPr>
        <p:sp>
          <p:nvSpPr>
            <p:cNvPr name="Freeform 21" id="21"/>
            <p:cNvSpPr/>
            <p:nvPr/>
          </p:nvSpPr>
          <p:spPr>
            <a:xfrm flipH="false" flipV="false" rot="0">
              <a:off x="0" y="0"/>
              <a:ext cx="1425301" cy="270444"/>
            </a:xfrm>
            <a:custGeom>
              <a:avLst/>
              <a:gdLst/>
              <a:ahLst/>
              <a:cxnLst/>
              <a:rect r="r" b="b" t="t" l="l"/>
              <a:pathLst>
                <a:path h="270444" w="1425301">
                  <a:moveTo>
                    <a:pt x="712650" y="0"/>
                  </a:moveTo>
                  <a:lnTo>
                    <a:pt x="1425301" y="270444"/>
                  </a:lnTo>
                  <a:lnTo>
                    <a:pt x="0" y="270444"/>
                  </a:lnTo>
                  <a:close/>
                </a:path>
              </a:pathLst>
            </a:custGeom>
            <a:solidFill>
              <a:srgbClr val="84A5FF"/>
            </a:solidFill>
          </p:spPr>
        </p:sp>
        <p:sp>
          <p:nvSpPr>
            <p:cNvPr name="TextBox 22" id="22"/>
            <p:cNvSpPr txBox="true"/>
            <p:nvPr/>
          </p:nvSpPr>
          <p:spPr>
            <a:xfrm>
              <a:off x="301772" y="66712"/>
              <a:ext cx="821756" cy="203732"/>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6714663" y="8213352"/>
            <a:ext cx="1567010" cy="2073648"/>
            <a:chOff x="0" y="0"/>
            <a:chExt cx="538534" cy="712647"/>
          </a:xfrm>
        </p:grpSpPr>
        <p:sp>
          <p:nvSpPr>
            <p:cNvPr name="Freeform 24" id="24"/>
            <p:cNvSpPr/>
            <p:nvPr/>
          </p:nvSpPr>
          <p:spPr>
            <a:xfrm flipH="false" flipV="false" rot="0">
              <a:off x="0" y="0"/>
              <a:ext cx="538534" cy="711363"/>
            </a:xfrm>
            <a:custGeom>
              <a:avLst/>
              <a:gdLst/>
              <a:ahLst/>
              <a:cxnLst/>
              <a:rect r="r" b="b" t="t" l="l"/>
              <a:pathLst>
                <a:path h="711363" w="538534">
                  <a:moveTo>
                    <a:pt x="269267" y="0"/>
                  </a:moveTo>
                  <a:lnTo>
                    <a:pt x="538534" y="711363"/>
                  </a:lnTo>
                  <a:lnTo>
                    <a:pt x="0" y="711363"/>
                  </a:lnTo>
                  <a:close/>
                </a:path>
              </a:pathLst>
            </a:custGeom>
            <a:solidFill>
              <a:srgbClr val="84A5FF"/>
            </a:solidFill>
          </p:spPr>
        </p:sp>
        <p:sp>
          <p:nvSpPr>
            <p:cNvPr name="TextBox 25" id="25"/>
            <p:cNvSpPr txBox="true"/>
            <p:nvPr/>
          </p:nvSpPr>
          <p:spPr>
            <a:xfrm>
              <a:off x="114021" y="253121"/>
              <a:ext cx="310492" cy="458243"/>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5400000">
            <a:off x="13755459" y="3680810"/>
            <a:ext cx="8215339" cy="849744"/>
            <a:chOff x="0" y="0"/>
            <a:chExt cx="2163711" cy="223800"/>
          </a:xfrm>
        </p:grpSpPr>
        <p:sp>
          <p:nvSpPr>
            <p:cNvPr name="Freeform 27" id="27"/>
            <p:cNvSpPr/>
            <p:nvPr/>
          </p:nvSpPr>
          <p:spPr>
            <a:xfrm flipH="false" flipV="false" rot="0">
              <a:off x="0" y="0"/>
              <a:ext cx="2163711" cy="223397"/>
            </a:xfrm>
            <a:custGeom>
              <a:avLst/>
              <a:gdLst/>
              <a:ahLst/>
              <a:cxnLst/>
              <a:rect r="r" b="b" t="t" l="l"/>
              <a:pathLst>
                <a:path h="223397" w="2163711">
                  <a:moveTo>
                    <a:pt x="1081855" y="0"/>
                  </a:moveTo>
                  <a:lnTo>
                    <a:pt x="2163711" y="223397"/>
                  </a:lnTo>
                  <a:lnTo>
                    <a:pt x="0" y="223397"/>
                  </a:lnTo>
                  <a:close/>
                </a:path>
              </a:pathLst>
            </a:custGeom>
            <a:solidFill>
              <a:srgbClr val="A4C7FF"/>
            </a:solidFill>
          </p:spPr>
        </p:sp>
        <p:sp>
          <p:nvSpPr>
            <p:cNvPr name="TextBox 28" id="28"/>
            <p:cNvSpPr txBox="true"/>
            <p:nvPr/>
          </p:nvSpPr>
          <p:spPr>
            <a:xfrm>
              <a:off x="458112" y="46821"/>
              <a:ext cx="1247486" cy="176575"/>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10800000">
            <a:off x="16593738" y="-1987"/>
            <a:ext cx="1689036" cy="4107669"/>
            <a:chOff x="0" y="0"/>
            <a:chExt cx="444849" cy="1081850"/>
          </a:xfrm>
        </p:grpSpPr>
        <p:sp>
          <p:nvSpPr>
            <p:cNvPr name="Freeform 30" id="30"/>
            <p:cNvSpPr/>
            <p:nvPr/>
          </p:nvSpPr>
          <p:spPr>
            <a:xfrm flipH="false" flipV="false" rot="0">
              <a:off x="0" y="0"/>
              <a:ext cx="444849" cy="1079901"/>
            </a:xfrm>
            <a:custGeom>
              <a:avLst/>
              <a:gdLst/>
              <a:ahLst/>
              <a:cxnLst/>
              <a:rect r="r" b="b" t="t" l="l"/>
              <a:pathLst>
                <a:path h="1079901" w="444849">
                  <a:moveTo>
                    <a:pt x="222424" y="0"/>
                  </a:moveTo>
                  <a:lnTo>
                    <a:pt x="444849" y="1079901"/>
                  </a:lnTo>
                  <a:lnTo>
                    <a:pt x="0" y="1079901"/>
                  </a:lnTo>
                  <a:close/>
                </a:path>
              </a:pathLst>
            </a:custGeom>
            <a:solidFill>
              <a:srgbClr val="A4C7FF"/>
            </a:solidFill>
          </p:spPr>
        </p:sp>
        <p:sp>
          <p:nvSpPr>
            <p:cNvPr name="TextBox 31" id="31"/>
            <p:cNvSpPr txBox="true"/>
            <p:nvPr/>
          </p:nvSpPr>
          <p:spPr>
            <a:xfrm>
              <a:off x="94186" y="408929"/>
              <a:ext cx="256477" cy="67097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185535" y="1404679"/>
            <a:ext cx="10542742" cy="8494843"/>
            <a:chOff x="0" y="0"/>
            <a:chExt cx="2924705" cy="2356589"/>
          </a:xfrm>
        </p:grpSpPr>
        <p:sp>
          <p:nvSpPr>
            <p:cNvPr name="Freeform 3" id="3"/>
            <p:cNvSpPr/>
            <p:nvPr/>
          </p:nvSpPr>
          <p:spPr>
            <a:xfrm flipH="false" flipV="false" rot="0">
              <a:off x="0" y="0"/>
              <a:ext cx="2924705" cy="2356589"/>
            </a:xfrm>
            <a:custGeom>
              <a:avLst/>
              <a:gdLst/>
              <a:ahLst/>
              <a:cxnLst/>
              <a:rect r="r" b="b" t="t" l="l"/>
              <a:pathLst>
                <a:path h="2356589" w="2924705">
                  <a:moveTo>
                    <a:pt x="38185" y="0"/>
                  </a:moveTo>
                  <a:lnTo>
                    <a:pt x="2886520" y="0"/>
                  </a:lnTo>
                  <a:cubicBezTo>
                    <a:pt x="2896647" y="0"/>
                    <a:pt x="2906360" y="4023"/>
                    <a:pt x="2913521" y="11184"/>
                  </a:cubicBezTo>
                  <a:cubicBezTo>
                    <a:pt x="2920682" y="18345"/>
                    <a:pt x="2924705" y="28058"/>
                    <a:pt x="2924705" y="38185"/>
                  </a:cubicBezTo>
                  <a:lnTo>
                    <a:pt x="2924705" y="2318404"/>
                  </a:lnTo>
                  <a:cubicBezTo>
                    <a:pt x="2924705" y="2339493"/>
                    <a:pt x="2907609" y="2356589"/>
                    <a:pt x="2886520" y="2356589"/>
                  </a:cubicBezTo>
                  <a:lnTo>
                    <a:pt x="38185" y="2356589"/>
                  </a:lnTo>
                  <a:cubicBezTo>
                    <a:pt x="17096" y="2356589"/>
                    <a:pt x="0" y="2339493"/>
                    <a:pt x="0" y="2318404"/>
                  </a:cubicBezTo>
                  <a:lnTo>
                    <a:pt x="0" y="38185"/>
                  </a:lnTo>
                  <a:cubicBezTo>
                    <a:pt x="0" y="17096"/>
                    <a:pt x="17096" y="0"/>
                    <a:pt x="38185" y="0"/>
                  </a:cubicBezTo>
                  <a:close/>
                </a:path>
              </a:pathLst>
            </a:custGeom>
            <a:solidFill>
              <a:srgbClr val="FFFFFF">
                <a:alpha val="40784"/>
              </a:srgbClr>
            </a:solidFill>
            <a:ln w="19050" cap="rnd">
              <a:solidFill>
                <a:srgbClr val="000000">
                  <a:alpha val="40784"/>
                </a:srgbClr>
              </a:solidFill>
              <a:prstDash val="solid"/>
              <a:round/>
            </a:ln>
          </p:spPr>
        </p:sp>
        <p:sp>
          <p:nvSpPr>
            <p:cNvPr name="TextBox 4" id="4"/>
            <p:cNvSpPr txBox="true"/>
            <p:nvPr/>
          </p:nvSpPr>
          <p:spPr>
            <a:xfrm>
              <a:off x="0" y="-47625"/>
              <a:ext cx="2924705" cy="2404214"/>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400000">
            <a:off x="14210311" y="6209311"/>
            <a:ext cx="7035932" cy="1119445"/>
            <a:chOff x="0" y="0"/>
            <a:chExt cx="1425301" cy="226770"/>
          </a:xfrm>
        </p:grpSpPr>
        <p:sp>
          <p:nvSpPr>
            <p:cNvPr name="Freeform 6" id="6"/>
            <p:cNvSpPr/>
            <p:nvPr/>
          </p:nvSpPr>
          <p:spPr>
            <a:xfrm flipH="false" flipV="false" rot="0">
              <a:off x="0" y="0"/>
              <a:ext cx="1425301" cy="226361"/>
            </a:xfrm>
            <a:custGeom>
              <a:avLst/>
              <a:gdLst/>
              <a:ahLst/>
              <a:cxnLst/>
              <a:rect r="r" b="b" t="t" l="l"/>
              <a:pathLst>
                <a:path h="226361" w="1425301">
                  <a:moveTo>
                    <a:pt x="712650" y="0"/>
                  </a:moveTo>
                  <a:lnTo>
                    <a:pt x="1425301" y="226361"/>
                  </a:lnTo>
                  <a:lnTo>
                    <a:pt x="0" y="226361"/>
                  </a:lnTo>
                  <a:close/>
                </a:path>
              </a:pathLst>
            </a:custGeom>
            <a:solidFill>
              <a:srgbClr val="4382EB"/>
            </a:solidFill>
          </p:spPr>
        </p:sp>
        <p:sp>
          <p:nvSpPr>
            <p:cNvPr name="TextBox 7" id="7"/>
            <p:cNvSpPr txBox="true"/>
            <p:nvPr/>
          </p:nvSpPr>
          <p:spPr>
            <a:xfrm>
              <a:off x="301772" y="48075"/>
              <a:ext cx="821756" cy="17828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062879" y="6769034"/>
            <a:ext cx="2225121" cy="3517966"/>
            <a:chOff x="0" y="0"/>
            <a:chExt cx="450753" cy="712647"/>
          </a:xfrm>
        </p:grpSpPr>
        <p:sp>
          <p:nvSpPr>
            <p:cNvPr name="Freeform 9" id="9"/>
            <p:cNvSpPr/>
            <p:nvPr/>
          </p:nvSpPr>
          <p:spPr>
            <a:xfrm flipH="false" flipV="false" rot="0">
              <a:off x="0" y="0"/>
              <a:ext cx="450753" cy="711363"/>
            </a:xfrm>
            <a:custGeom>
              <a:avLst/>
              <a:gdLst/>
              <a:ahLst/>
              <a:cxnLst/>
              <a:rect r="r" b="b" t="t" l="l"/>
              <a:pathLst>
                <a:path h="711363" w="450753">
                  <a:moveTo>
                    <a:pt x="225376" y="0"/>
                  </a:moveTo>
                  <a:lnTo>
                    <a:pt x="450753" y="711363"/>
                  </a:lnTo>
                  <a:lnTo>
                    <a:pt x="0" y="711363"/>
                  </a:lnTo>
                  <a:close/>
                </a:path>
              </a:pathLst>
            </a:custGeom>
            <a:solidFill>
              <a:srgbClr val="4382EB"/>
            </a:solidFill>
          </p:spPr>
        </p:sp>
        <p:sp>
          <p:nvSpPr>
            <p:cNvPr name="TextBox 10" id="10"/>
            <p:cNvSpPr txBox="true"/>
            <p:nvPr/>
          </p:nvSpPr>
          <p:spPr>
            <a:xfrm>
              <a:off x="95436" y="253121"/>
              <a:ext cx="259881" cy="45824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4179439" y="3079861"/>
            <a:ext cx="7188422" cy="1028700"/>
            <a:chOff x="0" y="0"/>
            <a:chExt cx="1893247" cy="270932"/>
          </a:xfrm>
        </p:grpSpPr>
        <p:sp>
          <p:nvSpPr>
            <p:cNvPr name="Freeform 12" id="12"/>
            <p:cNvSpPr/>
            <p:nvPr/>
          </p:nvSpPr>
          <p:spPr>
            <a:xfrm flipH="false" flipV="false" rot="0">
              <a:off x="0" y="0"/>
              <a:ext cx="1893247" cy="270444"/>
            </a:xfrm>
            <a:custGeom>
              <a:avLst/>
              <a:gdLst/>
              <a:ahLst/>
              <a:cxnLst/>
              <a:rect r="r" b="b" t="t" l="l"/>
              <a:pathLst>
                <a:path h="270444" w="1893247">
                  <a:moveTo>
                    <a:pt x="946623" y="0"/>
                  </a:moveTo>
                  <a:lnTo>
                    <a:pt x="1893247" y="270444"/>
                  </a:lnTo>
                  <a:lnTo>
                    <a:pt x="0" y="270444"/>
                  </a:lnTo>
                  <a:close/>
                </a:path>
              </a:pathLst>
            </a:custGeom>
            <a:solidFill>
              <a:srgbClr val="2C58A0"/>
            </a:solidFill>
          </p:spPr>
        </p:sp>
        <p:sp>
          <p:nvSpPr>
            <p:cNvPr name="TextBox 13" id="13"/>
            <p:cNvSpPr txBox="true"/>
            <p:nvPr/>
          </p:nvSpPr>
          <p:spPr>
            <a:xfrm>
              <a:off x="400848" y="66712"/>
              <a:ext cx="1091550" cy="2037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10800000">
            <a:off x="16236927" y="0"/>
            <a:ext cx="2044747" cy="3594211"/>
            <a:chOff x="0" y="0"/>
            <a:chExt cx="538534" cy="946619"/>
          </a:xfrm>
        </p:grpSpPr>
        <p:sp>
          <p:nvSpPr>
            <p:cNvPr name="Freeform 15" id="15"/>
            <p:cNvSpPr/>
            <p:nvPr/>
          </p:nvSpPr>
          <p:spPr>
            <a:xfrm flipH="false" flipV="false" rot="0">
              <a:off x="0" y="0"/>
              <a:ext cx="538534" cy="944914"/>
            </a:xfrm>
            <a:custGeom>
              <a:avLst/>
              <a:gdLst/>
              <a:ahLst/>
              <a:cxnLst/>
              <a:rect r="r" b="b" t="t" l="l"/>
              <a:pathLst>
                <a:path h="944914" w="538534">
                  <a:moveTo>
                    <a:pt x="269267" y="0"/>
                  </a:moveTo>
                  <a:lnTo>
                    <a:pt x="538534" y="944914"/>
                  </a:lnTo>
                  <a:lnTo>
                    <a:pt x="0" y="944914"/>
                  </a:lnTo>
                  <a:close/>
                </a:path>
              </a:pathLst>
            </a:custGeom>
            <a:solidFill>
              <a:srgbClr val="2C58A0"/>
            </a:solidFill>
          </p:spPr>
        </p:sp>
        <p:sp>
          <p:nvSpPr>
            <p:cNvPr name="TextBox 16" id="16"/>
            <p:cNvSpPr txBox="true"/>
            <p:nvPr/>
          </p:nvSpPr>
          <p:spPr>
            <a:xfrm>
              <a:off x="114021" y="351860"/>
              <a:ext cx="310492" cy="593054"/>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5400000">
            <a:off x="15813848" y="7819175"/>
            <a:ext cx="4147297" cy="788353"/>
            <a:chOff x="0" y="0"/>
            <a:chExt cx="1425301" cy="270932"/>
          </a:xfrm>
        </p:grpSpPr>
        <p:sp>
          <p:nvSpPr>
            <p:cNvPr name="Freeform 18" id="18"/>
            <p:cNvSpPr/>
            <p:nvPr/>
          </p:nvSpPr>
          <p:spPr>
            <a:xfrm flipH="false" flipV="false" rot="0">
              <a:off x="0" y="0"/>
              <a:ext cx="1425301" cy="270444"/>
            </a:xfrm>
            <a:custGeom>
              <a:avLst/>
              <a:gdLst/>
              <a:ahLst/>
              <a:cxnLst/>
              <a:rect r="r" b="b" t="t" l="l"/>
              <a:pathLst>
                <a:path h="270444" w="1425301">
                  <a:moveTo>
                    <a:pt x="712650" y="0"/>
                  </a:moveTo>
                  <a:lnTo>
                    <a:pt x="1425301" y="270444"/>
                  </a:lnTo>
                  <a:lnTo>
                    <a:pt x="0" y="270444"/>
                  </a:lnTo>
                  <a:close/>
                </a:path>
              </a:pathLst>
            </a:custGeom>
            <a:solidFill>
              <a:srgbClr val="84A5FF"/>
            </a:solidFill>
          </p:spPr>
        </p:sp>
        <p:sp>
          <p:nvSpPr>
            <p:cNvPr name="TextBox 19" id="19"/>
            <p:cNvSpPr txBox="true"/>
            <p:nvPr/>
          </p:nvSpPr>
          <p:spPr>
            <a:xfrm>
              <a:off x="301772" y="66712"/>
              <a:ext cx="821756" cy="203732"/>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6714663" y="8213352"/>
            <a:ext cx="1567010" cy="2073648"/>
            <a:chOff x="0" y="0"/>
            <a:chExt cx="538534" cy="712647"/>
          </a:xfrm>
        </p:grpSpPr>
        <p:sp>
          <p:nvSpPr>
            <p:cNvPr name="Freeform 21" id="21"/>
            <p:cNvSpPr/>
            <p:nvPr/>
          </p:nvSpPr>
          <p:spPr>
            <a:xfrm flipH="false" flipV="false" rot="0">
              <a:off x="0" y="0"/>
              <a:ext cx="538534" cy="711363"/>
            </a:xfrm>
            <a:custGeom>
              <a:avLst/>
              <a:gdLst/>
              <a:ahLst/>
              <a:cxnLst/>
              <a:rect r="r" b="b" t="t" l="l"/>
              <a:pathLst>
                <a:path h="711363" w="538534">
                  <a:moveTo>
                    <a:pt x="269267" y="0"/>
                  </a:moveTo>
                  <a:lnTo>
                    <a:pt x="538534" y="711363"/>
                  </a:lnTo>
                  <a:lnTo>
                    <a:pt x="0" y="711363"/>
                  </a:lnTo>
                  <a:close/>
                </a:path>
              </a:pathLst>
            </a:custGeom>
            <a:solidFill>
              <a:srgbClr val="84A5FF"/>
            </a:solidFill>
          </p:spPr>
        </p:sp>
        <p:sp>
          <p:nvSpPr>
            <p:cNvPr name="TextBox 22" id="22"/>
            <p:cNvSpPr txBox="true"/>
            <p:nvPr/>
          </p:nvSpPr>
          <p:spPr>
            <a:xfrm>
              <a:off x="114021" y="253121"/>
              <a:ext cx="310492" cy="458243"/>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5400000">
            <a:off x="13755459" y="3680810"/>
            <a:ext cx="8215339" cy="849744"/>
            <a:chOff x="0" y="0"/>
            <a:chExt cx="2163711" cy="223800"/>
          </a:xfrm>
        </p:grpSpPr>
        <p:sp>
          <p:nvSpPr>
            <p:cNvPr name="Freeform 24" id="24"/>
            <p:cNvSpPr/>
            <p:nvPr/>
          </p:nvSpPr>
          <p:spPr>
            <a:xfrm flipH="false" flipV="false" rot="0">
              <a:off x="0" y="0"/>
              <a:ext cx="2163711" cy="223397"/>
            </a:xfrm>
            <a:custGeom>
              <a:avLst/>
              <a:gdLst/>
              <a:ahLst/>
              <a:cxnLst/>
              <a:rect r="r" b="b" t="t" l="l"/>
              <a:pathLst>
                <a:path h="223397" w="2163711">
                  <a:moveTo>
                    <a:pt x="1081855" y="0"/>
                  </a:moveTo>
                  <a:lnTo>
                    <a:pt x="2163711" y="223397"/>
                  </a:lnTo>
                  <a:lnTo>
                    <a:pt x="0" y="223397"/>
                  </a:lnTo>
                  <a:close/>
                </a:path>
              </a:pathLst>
            </a:custGeom>
            <a:solidFill>
              <a:srgbClr val="A4C7FF"/>
            </a:solidFill>
          </p:spPr>
        </p:sp>
        <p:sp>
          <p:nvSpPr>
            <p:cNvPr name="TextBox 25" id="25"/>
            <p:cNvSpPr txBox="true"/>
            <p:nvPr/>
          </p:nvSpPr>
          <p:spPr>
            <a:xfrm>
              <a:off x="458112" y="46821"/>
              <a:ext cx="1247486" cy="176575"/>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10800000">
            <a:off x="16593738" y="-1987"/>
            <a:ext cx="1689036" cy="4107669"/>
            <a:chOff x="0" y="0"/>
            <a:chExt cx="444849" cy="1081850"/>
          </a:xfrm>
        </p:grpSpPr>
        <p:sp>
          <p:nvSpPr>
            <p:cNvPr name="Freeform 27" id="27"/>
            <p:cNvSpPr/>
            <p:nvPr/>
          </p:nvSpPr>
          <p:spPr>
            <a:xfrm flipH="false" flipV="false" rot="0">
              <a:off x="0" y="0"/>
              <a:ext cx="444849" cy="1079901"/>
            </a:xfrm>
            <a:custGeom>
              <a:avLst/>
              <a:gdLst/>
              <a:ahLst/>
              <a:cxnLst/>
              <a:rect r="r" b="b" t="t" l="l"/>
              <a:pathLst>
                <a:path h="1079901" w="444849">
                  <a:moveTo>
                    <a:pt x="222424" y="0"/>
                  </a:moveTo>
                  <a:lnTo>
                    <a:pt x="444849" y="1079901"/>
                  </a:lnTo>
                  <a:lnTo>
                    <a:pt x="0" y="1079901"/>
                  </a:lnTo>
                  <a:close/>
                </a:path>
              </a:pathLst>
            </a:custGeom>
            <a:solidFill>
              <a:srgbClr val="A4C7FF"/>
            </a:solidFill>
          </p:spPr>
        </p:sp>
        <p:sp>
          <p:nvSpPr>
            <p:cNvPr name="TextBox 28" id="28"/>
            <p:cNvSpPr txBox="true"/>
            <p:nvPr/>
          </p:nvSpPr>
          <p:spPr>
            <a:xfrm>
              <a:off x="94186" y="408929"/>
              <a:ext cx="256477" cy="670972"/>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7624724" y="1585920"/>
            <a:ext cx="8438155" cy="8101646"/>
          </a:xfrm>
          <a:prstGeom prst="rect">
            <a:avLst/>
          </a:prstGeom>
        </p:spPr>
        <p:txBody>
          <a:bodyPr anchor="t" rtlCol="false" tIns="0" lIns="0" bIns="0" rIns="0">
            <a:spAutoFit/>
          </a:bodyPr>
          <a:lstStyle/>
          <a:p>
            <a:pPr algn="l">
              <a:lnSpc>
                <a:spcPts val="5852"/>
              </a:lnSpc>
            </a:pPr>
            <a:r>
              <a:rPr lang="en-US" sz="4180">
                <a:solidFill>
                  <a:srgbClr val="000000"/>
                </a:solidFill>
                <a:latin typeface="Roboto Slab"/>
                <a:ea typeface="Roboto Slab"/>
                <a:cs typeface="Roboto Slab"/>
                <a:sym typeface="Roboto Slab"/>
              </a:rPr>
              <a:t>Neologizmlər müasir həyatda, xüsusən elm, texnologiya və sosial sahələrdə baş verən yenilikləri adlandırmaq ehtiyacından yaranır. Məsələn, pandemiya dövründə sosial media və qlobal hadisələr yeni terminlərə tələbat yaratdığı üçün həm ingilis, həm də Azərbaycan dilinə yüzlərlə yeni söz daxil olmuşdur.</a:t>
            </a:r>
          </a:p>
        </p:txBody>
      </p:sp>
      <p:sp>
        <p:nvSpPr>
          <p:cNvPr name="Freeform 30" id="30"/>
          <p:cNvSpPr/>
          <p:nvPr/>
        </p:nvSpPr>
        <p:spPr>
          <a:xfrm flipH="false" flipV="false" rot="0">
            <a:off x="295891" y="2244176"/>
            <a:ext cx="6784869" cy="6815850"/>
          </a:xfrm>
          <a:custGeom>
            <a:avLst/>
            <a:gdLst/>
            <a:ahLst/>
            <a:cxnLst/>
            <a:rect r="r" b="b" t="t" l="l"/>
            <a:pathLst>
              <a:path h="6815850" w="6784869">
                <a:moveTo>
                  <a:pt x="0" y="0"/>
                </a:moveTo>
                <a:lnTo>
                  <a:pt x="6784869" y="0"/>
                </a:lnTo>
                <a:lnTo>
                  <a:pt x="6784869" y="6815850"/>
                </a:lnTo>
                <a:lnTo>
                  <a:pt x="0" y="6815850"/>
                </a:lnTo>
                <a:lnTo>
                  <a:pt x="0" y="0"/>
                </a:lnTo>
                <a:close/>
              </a:path>
            </a:pathLst>
          </a:custGeom>
          <a:blipFill>
            <a:blip r:embed="rId2"/>
            <a:stretch>
              <a:fillRect l="0" t="0" r="0" b="0"/>
            </a:stretch>
          </a:blipFill>
        </p:spPr>
      </p:sp>
      <p:sp>
        <p:nvSpPr>
          <p:cNvPr name="TextBox 31" id="31"/>
          <p:cNvSpPr txBox="true"/>
          <p:nvPr/>
        </p:nvSpPr>
        <p:spPr>
          <a:xfrm rot="0">
            <a:off x="464308" y="231686"/>
            <a:ext cx="13960034" cy="797014"/>
          </a:xfrm>
          <a:prstGeom prst="rect">
            <a:avLst/>
          </a:prstGeom>
        </p:spPr>
        <p:txBody>
          <a:bodyPr anchor="t" rtlCol="false" tIns="0" lIns="0" bIns="0" rIns="0">
            <a:spAutoFit/>
          </a:bodyPr>
          <a:lstStyle/>
          <a:p>
            <a:pPr algn="l">
              <a:lnSpc>
                <a:spcPts val="6502"/>
              </a:lnSpc>
              <a:spcBef>
                <a:spcPct val="0"/>
              </a:spcBef>
            </a:pPr>
            <a:r>
              <a:rPr lang="en-US" b="true" sz="4644">
                <a:solidFill>
                  <a:srgbClr val="000000"/>
                </a:solidFill>
                <a:latin typeface="Roboto Slab Bold"/>
                <a:ea typeface="Roboto Slab Bold"/>
                <a:cs typeface="Roboto Slab Bold"/>
                <a:sym typeface="Roboto Slab Bold"/>
              </a:rPr>
              <a:t>Neologizmlərin yaranma səbəbləri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14210311" y="6209311"/>
            <a:ext cx="7035932" cy="1119445"/>
            <a:chOff x="0" y="0"/>
            <a:chExt cx="1425301" cy="226770"/>
          </a:xfrm>
        </p:grpSpPr>
        <p:sp>
          <p:nvSpPr>
            <p:cNvPr name="Freeform 3" id="3"/>
            <p:cNvSpPr/>
            <p:nvPr/>
          </p:nvSpPr>
          <p:spPr>
            <a:xfrm flipH="false" flipV="false" rot="0">
              <a:off x="0" y="0"/>
              <a:ext cx="1425301" cy="226361"/>
            </a:xfrm>
            <a:custGeom>
              <a:avLst/>
              <a:gdLst/>
              <a:ahLst/>
              <a:cxnLst/>
              <a:rect r="r" b="b" t="t" l="l"/>
              <a:pathLst>
                <a:path h="226361" w="1425301">
                  <a:moveTo>
                    <a:pt x="712650" y="0"/>
                  </a:moveTo>
                  <a:lnTo>
                    <a:pt x="1425301" y="226361"/>
                  </a:lnTo>
                  <a:lnTo>
                    <a:pt x="0" y="226361"/>
                  </a:lnTo>
                  <a:close/>
                </a:path>
              </a:pathLst>
            </a:custGeom>
            <a:solidFill>
              <a:srgbClr val="4382EB"/>
            </a:solidFill>
          </p:spPr>
        </p:sp>
        <p:sp>
          <p:nvSpPr>
            <p:cNvPr name="TextBox 4" id="4"/>
            <p:cNvSpPr txBox="true"/>
            <p:nvPr/>
          </p:nvSpPr>
          <p:spPr>
            <a:xfrm>
              <a:off x="301772" y="48075"/>
              <a:ext cx="821756" cy="17828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062879" y="6769034"/>
            <a:ext cx="2225121" cy="3517966"/>
            <a:chOff x="0" y="0"/>
            <a:chExt cx="450753" cy="712647"/>
          </a:xfrm>
        </p:grpSpPr>
        <p:sp>
          <p:nvSpPr>
            <p:cNvPr name="Freeform 6" id="6"/>
            <p:cNvSpPr/>
            <p:nvPr/>
          </p:nvSpPr>
          <p:spPr>
            <a:xfrm flipH="false" flipV="false" rot="0">
              <a:off x="0" y="0"/>
              <a:ext cx="450753" cy="711363"/>
            </a:xfrm>
            <a:custGeom>
              <a:avLst/>
              <a:gdLst/>
              <a:ahLst/>
              <a:cxnLst/>
              <a:rect r="r" b="b" t="t" l="l"/>
              <a:pathLst>
                <a:path h="711363" w="450753">
                  <a:moveTo>
                    <a:pt x="225376" y="0"/>
                  </a:moveTo>
                  <a:lnTo>
                    <a:pt x="450753" y="711363"/>
                  </a:lnTo>
                  <a:lnTo>
                    <a:pt x="0" y="711363"/>
                  </a:lnTo>
                  <a:close/>
                </a:path>
              </a:pathLst>
            </a:custGeom>
            <a:solidFill>
              <a:srgbClr val="4382EB"/>
            </a:solidFill>
          </p:spPr>
        </p:sp>
        <p:sp>
          <p:nvSpPr>
            <p:cNvPr name="TextBox 7" id="7"/>
            <p:cNvSpPr txBox="true"/>
            <p:nvPr/>
          </p:nvSpPr>
          <p:spPr>
            <a:xfrm>
              <a:off x="95436" y="253121"/>
              <a:ext cx="259881" cy="45824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14179439" y="3079861"/>
            <a:ext cx="7188422" cy="1028700"/>
            <a:chOff x="0" y="0"/>
            <a:chExt cx="1893247" cy="270932"/>
          </a:xfrm>
        </p:grpSpPr>
        <p:sp>
          <p:nvSpPr>
            <p:cNvPr name="Freeform 9" id="9"/>
            <p:cNvSpPr/>
            <p:nvPr/>
          </p:nvSpPr>
          <p:spPr>
            <a:xfrm flipH="false" flipV="false" rot="0">
              <a:off x="0" y="0"/>
              <a:ext cx="1893247" cy="270444"/>
            </a:xfrm>
            <a:custGeom>
              <a:avLst/>
              <a:gdLst/>
              <a:ahLst/>
              <a:cxnLst/>
              <a:rect r="r" b="b" t="t" l="l"/>
              <a:pathLst>
                <a:path h="270444" w="1893247">
                  <a:moveTo>
                    <a:pt x="946623" y="0"/>
                  </a:moveTo>
                  <a:lnTo>
                    <a:pt x="1893247" y="270444"/>
                  </a:lnTo>
                  <a:lnTo>
                    <a:pt x="0" y="270444"/>
                  </a:lnTo>
                  <a:close/>
                </a:path>
              </a:pathLst>
            </a:custGeom>
            <a:solidFill>
              <a:srgbClr val="2C58A0"/>
            </a:solidFill>
          </p:spPr>
        </p:sp>
        <p:sp>
          <p:nvSpPr>
            <p:cNvPr name="TextBox 10" id="10"/>
            <p:cNvSpPr txBox="true"/>
            <p:nvPr/>
          </p:nvSpPr>
          <p:spPr>
            <a:xfrm>
              <a:off x="400848" y="66712"/>
              <a:ext cx="1091550" cy="20373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10800000">
            <a:off x="16236927" y="0"/>
            <a:ext cx="2044747" cy="3594211"/>
            <a:chOff x="0" y="0"/>
            <a:chExt cx="538534" cy="946619"/>
          </a:xfrm>
        </p:grpSpPr>
        <p:sp>
          <p:nvSpPr>
            <p:cNvPr name="Freeform 12" id="12"/>
            <p:cNvSpPr/>
            <p:nvPr/>
          </p:nvSpPr>
          <p:spPr>
            <a:xfrm flipH="false" flipV="false" rot="0">
              <a:off x="0" y="0"/>
              <a:ext cx="538534" cy="944914"/>
            </a:xfrm>
            <a:custGeom>
              <a:avLst/>
              <a:gdLst/>
              <a:ahLst/>
              <a:cxnLst/>
              <a:rect r="r" b="b" t="t" l="l"/>
              <a:pathLst>
                <a:path h="944914" w="538534">
                  <a:moveTo>
                    <a:pt x="269267" y="0"/>
                  </a:moveTo>
                  <a:lnTo>
                    <a:pt x="538534" y="944914"/>
                  </a:lnTo>
                  <a:lnTo>
                    <a:pt x="0" y="944914"/>
                  </a:lnTo>
                  <a:close/>
                </a:path>
              </a:pathLst>
            </a:custGeom>
            <a:solidFill>
              <a:srgbClr val="2C58A0"/>
            </a:solidFill>
          </p:spPr>
        </p:sp>
        <p:sp>
          <p:nvSpPr>
            <p:cNvPr name="TextBox 13" id="13"/>
            <p:cNvSpPr txBox="true"/>
            <p:nvPr/>
          </p:nvSpPr>
          <p:spPr>
            <a:xfrm>
              <a:off x="114021" y="351860"/>
              <a:ext cx="310492" cy="593054"/>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15813848" y="7819175"/>
            <a:ext cx="4147297" cy="788353"/>
            <a:chOff x="0" y="0"/>
            <a:chExt cx="1425301" cy="270932"/>
          </a:xfrm>
        </p:grpSpPr>
        <p:sp>
          <p:nvSpPr>
            <p:cNvPr name="Freeform 15" id="15"/>
            <p:cNvSpPr/>
            <p:nvPr/>
          </p:nvSpPr>
          <p:spPr>
            <a:xfrm flipH="false" flipV="false" rot="0">
              <a:off x="0" y="0"/>
              <a:ext cx="1425301" cy="270444"/>
            </a:xfrm>
            <a:custGeom>
              <a:avLst/>
              <a:gdLst/>
              <a:ahLst/>
              <a:cxnLst/>
              <a:rect r="r" b="b" t="t" l="l"/>
              <a:pathLst>
                <a:path h="270444" w="1425301">
                  <a:moveTo>
                    <a:pt x="712650" y="0"/>
                  </a:moveTo>
                  <a:lnTo>
                    <a:pt x="1425301" y="270444"/>
                  </a:lnTo>
                  <a:lnTo>
                    <a:pt x="0" y="270444"/>
                  </a:lnTo>
                  <a:close/>
                </a:path>
              </a:pathLst>
            </a:custGeom>
            <a:solidFill>
              <a:srgbClr val="84A5FF"/>
            </a:solidFill>
          </p:spPr>
        </p:sp>
        <p:sp>
          <p:nvSpPr>
            <p:cNvPr name="TextBox 16" id="16"/>
            <p:cNvSpPr txBox="true"/>
            <p:nvPr/>
          </p:nvSpPr>
          <p:spPr>
            <a:xfrm>
              <a:off x="301772" y="66712"/>
              <a:ext cx="821756" cy="203732"/>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6714663" y="8213352"/>
            <a:ext cx="1567010" cy="2073648"/>
            <a:chOff x="0" y="0"/>
            <a:chExt cx="538534" cy="712647"/>
          </a:xfrm>
        </p:grpSpPr>
        <p:sp>
          <p:nvSpPr>
            <p:cNvPr name="Freeform 18" id="18"/>
            <p:cNvSpPr/>
            <p:nvPr/>
          </p:nvSpPr>
          <p:spPr>
            <a:xfrm flipH="false" flipV="false" rot="0">
              <a:off x="0" y="0"/>
              <a:ext cx="538534" cy="711363"/>
            </a:xfrm>
            <a:custGeom>
              <a:avLst/>
              <a:gdLst/>
              <a:ahLst/>
              <a:cxnLst/>
              <a:rect r="r" b="b" t="t" l="l"/>
              <a:pathLst>
                <a:path h="711363" w="538534">
                  <a:moveTo>
                    <a:pt x="269267" y="0"/>
                  </a:moveTo>
                  <a:lnTo>
                    <a:pt x="538534" y="711363"/>
                  </a:lnTo>
                  <a:lnTo>
                    <a:pt x="0" y="711363"/>
                  </a:lnTo>
                  <a:close/>
                </a:path>
              </a:pathLst>
            </a:custGeom>
            <a:solidFill>
              <a:srgbClr val="84A5FF"/>
            </a:solidFill>
          </p:spPr>
        </p:sp>
        <p:sp>
          <p:nvSpPr>
            <p:cNvPr name="TextBox 19" id="19"/>
            <p:cNvSpPr txBox="true"/>
            <p:nvPr/>
          </p:nvSpPr>
          <p:spPr>
            <a:xfrm>
              <a:off x="114021" y="253121"/>
              <a:ext cx="310492" cy="458243"/>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5400000">
            <a:off x="13755459" y="3680810"/>
            <a:ext cx="8215339" cy="849744"/>
            <a:chOff x="0" y="0"/>
            <a:chExt cx="2163711" cy="223800"/>
          </a:xfrm>
        </p:grpSpPr>
        <p:sp>
          <p:nvSpPr>
            <p:cNvPr name="Freeform 21" id="21"/>
            <p:cNvSpPr/>
            <p:nvPr/>
          </p:nvSpPr>
          <p:spPr>
            <a:xfrm flipH="false" flipV="false" rot="0">
              <a:off x="0" y="0"/>
              <a:ext cx="2163711" cy="223397"/>
            </a:xfrm>
            <a:custGeom>
              <a:avLst/>
              <a:gdLst/>
              <a:ahLst/>
              <a:cxnLst/>
              <a:rect r="r" b="b" t="t" l="l"/>
              <a:pathLst>
                <a:path h="223397" w="2163711">
                  <a:moveTo>
                    <a:pt x="1081855" y="0"/>
                  </a:moveTo>
                  <a:lnTo>
                    <a:pt x="2163711" y="223397"/>
                  </a:lnTo>
                  <a:lnTo>
                    <a:pt x="0" y="223397"/>
                  </a:lnTo>
                  <a:close/>
                </a:path>
              </a:pathLst>
            </a:custGeom>
            <a:solidFill>
              <a:srgbClr val="A4C7FF"/>
            </a:solidFill>
          </p:spPr>
        </p:sp>
        <p:sp>
          <p:nvSpPr>
            <p:cNvPr name="TextBox 22" id="22"/>
            <p:cNvSpPr txBox="true"/>
            <p:nvPr/>
          </p:nvSpPr>
          <p:spPr>
            <a:xfrm>
              <a:off x="458112" y="46821"/>
              <a:ext cx="1247486" cy="176575"/>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10800000">
            <a:off x="16593738" y="-1987"/>
            <a:ext cx="1689036" cy="4107669"/>
            <a:chOff x="0" y="0"/>
            <a:chExt cx="444849" cy="1081850"/>
          </a:xfrm>
        </p:grpSpPr>
        <p:sp>
          <p:nvSpPr>
            <p:cNvPr name="Freeform 24" id="24"/>
            <p:cNvSpPr/>
            <p:nvPr/>
          </p:nvSpPr>
          <p:spPr>
            <a:xfrm flipH="false" flipV="false" rot="0">
              <a:off x="0" y="0"/>
              <a:ext cx="444849" cy="1079901"/>
            </a:xfrm>
            <a:custGeom>
              <a:avLst/>
              <a:gdLst/>
              <a:ahLst/>
              <a:cxnLst/>
              <a:rect r="r" b="b" t="t" l="l"/>
              <a:pathLst>
                <a:path h="1079901" w="444849">
                  <a:moveTo>
                    <a:pt x="222424" y="0"/>
                  </a:moveTo>
                  <a:lnTo>
                    <a:pt x="444849" y="1079901"/>
                  </a:lnTo>
                  <a:lnTo>
                    <a:pt x="0" y="1079901"/>
                  </a:lnTo>
                  <a:close/>
                </a:path>
              </a:pathLst>
            </a:custGeom>
            <a:solidFill>
              <a:srgbClr val="A4C7FF"/>
            </a:solidFill>
          </p:spPr>
        </p:sp>
        <p:sp>
          <p:nvSpPr>
            <p:cNvPr name="TextBox 25" id="25"/>
            <p:cNvSpPr txBox="true"/>
            <p:nvPr/>
          </p:nvSpPr>
          <p:spPr>
            <a:xfrm>
              <a:off x="94186" y="408929"/>
              <a:ext cx="256477" cy="670972"/>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475421" y="2334784"/>
            <a:ext cx="9662787" cy="2518854"/>
            <a:chOff x="0" y="0"/>
            <a:chExt cx="2924705" cy="762400"/>
          </a:xfrm>
        </p:grpSpPr>
        <p:sp>
          <p:nvSpPr>
            <p:cNvPr name="Freeform 27" id="27"/>
            <p:cNvSpPr/>
            <p:nvPr/>
          </p:nvSpPr>
          <p:spPr>
            <a:xfrm flipH="false" flipV="false" rot="0">
              <a:off x="0" y="0"/>
              <a:ext cx="2924705" cy="762400"/>
            </a:xfrm>
            <a:custGeom>
              <a:avLst/>
              <a:gdLst/>
              <a:ahLst/>
              <a:cxnLst/>
              <a:rect r="r" b="b" t="t" l="l"/>
              <a:pathLst>
                <a:path h="762400" w="2924705">
                  <a:moveTo>
                    <a:pt x="41663" y="0"/>
                  </a:moveTo>
                  <a:lnTo>
                    <a:pt x="2883042" y="0"/>
                  </a:lnTo>
                  <a:cubicBezTo>
                    <a:pt x="2894092" y="0"/>
                    <a:pt x="2904689" y="4389"/>
                    <a:pt x="2912503" y="12203"/>
                  </a:cubicBezTo>
                  <a:cubicBezTo>
                    <a:pt x="2920316" y="20016"/>
                    <a:pt x="2924705" y="30613"/>
                    <a:pt x="2924705" y="41663"/>
                  </a:cubicBezTo>
                  <a:lnTo>
                    <a:pt x="2924705" y="720737"/>
                  </a:lnTo>
                  <a:cubicBezTo>
                    <a:pt x="2924705" y="743746"/>
                    <a:pt x="2906052" y="762400"/>
                    <a:pt x="2883042" y="762400"/>
                  </a:cubicBezTo>
                  <a:lnTo>
                    <a:pt x="41663" y="762400"/>
                  </a:lnTo>
                  <a:cubicBezTo>
                    <a:pt x="18653" y="762400"/>
                    <a:pt x="0" y="743746"/>
                    <a:pt x="0" y="720737"/>
                  </a:cubicBezTo>
                  <a:lnTo>
                    <a:pt x="0" y="41663"/>
                  </a:lnTo>
                  <a:cubicBezTo>
                    <a:pt x="0" y="18653"/>
                    <a:pt x="18653" y="0"/>
                    <a:pt x="41663" y="0"/>
                  </a:cubicBezTo>
                  <a:close/>
                </a:path>
              </a:pathLst>
            </a:custGeom>
            <a:solidFill>
              <a:srgbClr val="FFFFFF">
                <a:alpha val="40784"/>
              </a:srgbClr>
            </a:solidFill>
            <a:ln w="19050" cap="rnd">
              <a:solidFill>
                <a:srgbClr val="000000">
                  <a:alpha val="40784"/>
                </a:srgbClr>
              </a:solidFill>
              <a:prstDash val="solid"/>
              <a:round/>
            </a:ln>
          </p:spPr>
        </p:sp>
        <p:sp>
          <p:nvSpPr>
            <p:cNvPr name="TextBox 28" id="28"/>
            <p:cNvSpPr txBox="true"/>
            <p:nvPr/>
          </p:nvSpPr>
          <p:spPr>
            <a:xfrm>
              <a:off x="0" y="-47625"/>
              <a:ext cx="2924705" cy="810025"/>
            </a:xfrm>
            <a:prstGeom prst="rect">
              <a:avLst/>
            </a:prstGeom>
          </p:spPr>
          <p:txBody>
            <a:bodyPr anchor="ctr" rtlCol="false" tIns="50800" lIns="50800" bIns="50800" rIns="50800"/>
            <a:lstStyle/>
            <a:p>
              <a:pPr algn="ctr">
                <a:lnSpc>
                  <a:spcPts val="2659"/>
                </a:lnSpc>
                <a:spcBef>
                  <a:spcPct val="0"/>
                </a:spcBef>
              </a:pPr>
            </a:p>
          </p:txBody>
        </p:sp>
      </p:grpSp>
      <p:grpSp>
        <p:nvGrpSpPr>
          <p:cNvPr name="Group 29" id="29"/>
          <p:cNvGrpSpPr/>
          <p:nvPr/>
        </p:nvGrpSpPr>
        <p:grpSpPr>
          <a:xfrm rot="0">
            <a:off x="475421" y="5376031"/>
            <a:ext cx="14179127" cy="4014020"/>
            <a:chOff x="0" y="0"/>
            <a:chExt cx="4956465" cy="1403144"/>
          </a:xfrm>
        </p:grpSpPr>
        <p:sp>
          <p:nvSpPr>
            <p:cNvPr name="Freeform 30" id="30"/>
            <p:cNvSpPr/>
            <p:nvPr/>
          </p:nvSpPr>
          <p:spPr>
            <a:xfrm flipH="false" flipV="false" rot="0">
              <a:off x="0" y="0"/>
              <a:ext cx="4956465" cy="1403144"/>
            </a:xfrm>
            <a:custGeom>
              <a:avLst/>
              <a:gdLst/>
              <a:ahLst/>
              <a:cxnLst/>
              <a:rect r="r" b="b" t="t" l="l"/>
              <a:pathLst>
                <a:path h="1403144" w="4956465">
                  <a:moveTo>
                    <a:pt x="28392" y="0"/>
                  </a:moveTo>
                  <a:lnTo>
                    <a:pt x="4928073" y="0"/>
                  </a:lnTo>
                  <a:cubicBezTo>
                    <a:pt x="4935603" y="0"/>
                    <a:pt x="4942825" y="2991"/>
                    <a:pt x="4948150" y="8316"/>
                  </a:cubicBezTo>
                  <a:cubicBezTo>
                    <a:pt x="4953474" y="13641"/>
                    <a:pt x="4956465" y="20862"/>
                    <a:pt x="4956465" y="28392"/>
                  </a:cubicBezTo>
                  <a:lnTo>
                    <a:pt x="4956465" y="1374751"/>
                  </a:lnTo>
                  <a:cubicBezTo>
                    <a:pt x="4956465" y="1390432"/>
                    <a:pt x="4943754" y="1403144"/>
                    <a:pt x="4928073" y="1403144"/>
                  </a:cubicBezTo>
                  <a:lnTo>
                    <a:pt x="28392" y="1403144"/>
                  </a:lnTo>
                  <a:cubicBezTo>
                    <a:pt x="12712" y="1403144"/>
                    <a:pt x="0" y="1390432"/>
                    <a:pt x="0" y="1374751"/>
                  </a:cubicBezTo>
                  <a:lnTo>
                    <a:pt x="0" y="28392"/>
                  </a:lnTo>
                  <a:cubicBezTo>
                    <a:pt x="0" y="12712"/>
                    <a:pt x="12712" y="0"/>
                    <a:pt x="28392" y="0"/>
                  </a:cubicBezTo>
                  <a:close/>
                </a:path>
              </a:pathLst>
            </a:custGeom>
            <a:solidFill>
              <a:srgbClr val="FFFFFF">
                <a:alpha val="40784"/>
              </a:srgbClr>
            </a:solidFill>
            <a:ln w="19050" cap="rnd">
              <a:solidFill>
                <a:srgbClr val="000000">
                  <a:alpha val="40784"/>
                </a:srgbClr>
              </a:solidFill>
              <a:prstDash val="solid"/>
              <a:round/>
            </a:ln>
          </p:spPr>
        </p:sp>
        <p:sp>
          <p:nvSpPr>
            <p:cNvPr name="TextBox 31" id="31"/>
            <p:cNvSpPr txBox="true"/>
            <p:nvPr/>
          </p:nvSpPr>
          <p:spPr>
            <a:xfrm>
              <a:off x="0" y="-47625"/>
              <a:ext cx="4956465" cy="1450769"/>
            </a:xfrm>
            <a:prstGeom prst="rect">
              <a:avLst/>
            </a:prstGeom>
          </p:spPr>
          <p:txBody>
            <a:bodyPr anchor="ctr" rtlCol="false" tIns="50800" lIns="50800" bIns="50800" rIns="50800"/>
            <a:lstStyle/>
            <a:p>
              <a:pPr algn="ctr">
                <a:lnSpc>
                  <a:spcPts val="2659"/>
                </a:lnSpc>
                <a:spcBef>
                  <a:spcPct val="0"/>
                </a:spcBef>
              </a:pPr>
            </a:p>
          </p:txBody>
        </p:sp>
      </p:grpSp>
      <p:sp>
        <p:nvSpPr>
          <p:cNvPr name="Freeform 32" id="32"/>
          <p:cNvSpPr/>
          <p:nvPr/>
        </p:nvSpPr>
        <p:spPr>
          <a:xfrm flipH="false" flipV="false" rot="0">
            <a:off x="10503739" y="766107"/>
            <a:ext cx="4702408" cy="4609924"/>
          </a:xfrm>
          <a:custGeom>
            <a:avLst/>
            <a:gdLst/>
            <a:ahLst/>
            <a:cxnLst/>
            <a:rect r="r" b="b" t="t" l="l"/>
            <a:pathLst>
              <a:path h="4609924" w="4702408">
                <a:moveTo>
                  <a:pt x="0" y="0"/>
                </a:moveTo>
                <a:lnTo>
                  <a:pt x="4702408" y="0"/>
                </a:lnTo>
                <a:lnTo>
                  <a:pt x="4702408" y="4609924"/>
                </a:lnTo>
                <a:lnTo>
                  <a:pt x="0" y="4609924"/>
                </a:lnTo>
                <a:lnTo>
                  <a:pt x="0" y="0"/>
                </a:lnTo>
                <a:close/>
              </a:path>
            </a:pathLst>
          </a:custGeom>
          <a:blipFill>
            <a:blip r:embed="rId2"/>
            <a:stretch>
              <a:fillRect l="0" t="0" r="0" b="0"/>
            </a:stretch>
          </a:blipFill>
        </p:spPr>
      </p:sp>
      <p:sp>
        <p:nvSpPr>
          <p:cNvPr name="TextBox 33" id="33"/>
          <p:cNvSpPr txBox="true"/>
          <p:nvPr/>
        </p:nvSpPr>
        <p:spPr>
          <a:xfrm rot="0">
            <a:off x="475421" y="111143"/>
            <a:ext cx="10424589" cy="917557"/>
          </a:xfrm>
          <a:prstGeom prst="rect">
            <a:avLst/>
          </a:prstGeom>
        </p:spPr>
        <p:txBody>
          <a:bodyPr anchor="t" rtlCol="false" tIns="0" lIns="0" bIns="0" rIns="0">
            <a:spAutoFit/>
          </a:bodyPr>
          <a:lstStyle/>
          <a:p>
            <a:pPr algn="l">
              <a:lnSpc>
                <a:spcPts val="7531"/>
              </a:lnSpc>
              <a:spcBef>
                <a:spcPct val="0"/>
              </a:spcBef>
            </a:pPr>
            <a:r>
              <a:rPr lang="en-US" b="true" sz="5379">
                <a:solidFill>
                  <a:srgbClr val="000000"/>
                </a:solidFill>
                <a:latin typeface="Roboto Slab Bold"/>
                <a:ea typeface="Roboto Slab Bold"/>
                <a:cs typeface="Roboto Slab Bold"/>
                <a:sym typeface="Roboto Slab Bold"/>
              </a:rPr>
              <a:t>Neologizmlərin yaranma yolları</a:t>
            </a:r>
          </a:p>
        </p:txBody>
      </p:sp>
      <p:sp>
        <p:nvSpPr>
          <p:cNvPr name="TextBox 34" id="34"/>
          <p:cNvSpPr txBox="true"/>
          <p:nvPr/>
        </p:nvSpPr>
        <p:spPr>
          <a:xfrm rot="0">
            <a:off x="877953" y="2504062"/>
            <a:ext cx="8238194" cy="2001972"/>
          </a:xfrm>
          <a:prstGeom prst="rect">
            <a:avLst/>
          </a:prstGeom>
        </p:spPr>
        <p:txBody>
          <a:bodyPr anchor="t" rtlCol="false" tIns="0" lIns="0" bIns="0" rIns="0">
            <a:spAutoFit/>
          </a:bodyPr>
          <a:lstStyle/>
          <a:p>
            <a:pPr algn="l">
              <a:lnSpc>
                <a:spcPts val="5363"/>
              </a:lnSpc>
            </a:pPr>
            <a:r>
              <a:rPr lang="en-US" sz="3831">
                <a:solidFill>
                  <a:srgbClr val="000000"/>
                </a:solidFill>
                <a:latin typeface="Roboto Slab"/>
                <a:ea typeface="Roboto Slab"/>
                <a:cs typeface="Roboto Slab"/>
                <a:sym typeface="Roboto Slab"/>
              </a:rPr>
              <a:t>Neologizmlər dilin daxili imkanları (leksik, semantik, morfoloji yollar) və başqa dillərdən almaqla yaranır.</a:t>
            </a:r>
          </a:p>
        </p:txBody>
      </p:sp>
      <p:sp>
        <p:nvSpPr>
          <p:cNvPr name="TextBox 35" id="35"/>
          <p:cNvSpPr txBox="true"/>
          <p:nvPr/>
        </p:nvSpPr>
        <p:spPr>
          <a:xfrm rot="0">
            <a:off x="614498" y="5523269"/>
            <a:ext cx="13900974" cy="3671920"/>
          </a:xfrm>
          <a:prstGeom prst="rect">
            <a:avLst/>
          </a:prstGeom>
        </p:spPr>
        <p:txBody>
          <a:bodyPr anchor="t" rtlCol="false" tIns="0" lIns="0" bIns="0" rIns="0">
            <a:spAutoFit/>
          </a:bodyPr>
          <a:lstStyle/>
          <a:p>
            <a:pPr algn="l" marL="643923" indent="-321961" lvl="1">
              <a:lnSpc>
                <a:spcPts val="4175"/>
              </a:lnSpc>
              <a:buFont typeface="Arial"/>
              <a:buChar char="•"/>
            </a:pPr>
            <a:r>
              <a:rPr lang="en-US" sz="2982">
                <a:solidFill>
                  <a:srgbClr val="000000"/>
                </a:solidFill>
                <a:latin typeface="Roboto Slab"/>
                <a:ea typeface="Roboto Slab"/>
                <a:cs typeface="Roboto Slab"/>
                <a:sym typeface="Roboto Slab"/>
              </a:rPr>
              <a:t>L</a:t>
            </a:r>
            <a:r>
              <a:rPr lang="en-US" sz="2982">
                <a:solidFill>
                  <a:srgbClr val="000000"/>
                </a:solidFill>
                <a:latin typeface="Roboto Slab"/>
                <a:ea typeface="Roboto Slab"/>
                <a:cs typeface="Roboto Slab"/>
                <a:sym typeface="Roboto Slab"/>
              </a:rPr>
              <a:t>eksik yol :</a:t>
            </a:r>
          </a:p>
          <a:p>
            <a:pPr algn="l" marL="1287845" indent="-429282" lvl="2">
              <a:lnSpc>
                <a:spcPts val="4175"/>
              </a:lnSpc>
              <a:buFont typeface="Arial"/>
              <a:buChar char="⚬"/>
            </a:pPr>
            <a:r>
              <a:rPr lang="en-US" sz="2982">
                <a:solidFill>
                  <a:srgbClr val="000000"/>
                </a:solidFill>
                <a:latin typeface="Roboto Slab"/>
                <a:ea typeface="Roboto Slab"/>
                <a:cs typeface="Roboto Slab"/>
                <a:sym typeface="Roboto Slab"/>
              </a:rPr>
              <a:t>Yeni sözün birbaşa yaranması və ya dilə daxil olmasıdır -&gt;</a:t>
            </a:r>
            <a:r>
              <a:rPr lang="en-US" sz="2982">
                <a:solidFill>
                  <a:srgbClr val="000000"/>
                </a:solidFill>
                <a:latin typeface="Roboto Slab"/>
                <a:ea typeface="Roboto Slab"/>
                <a:cs typeface="Roboto Slab"/>
                <a:sym typeface="Roboto Slab"/>
              </a:rPr>
              <a:t> Kompüter</a:t>
            </a:r>
          </a:p>
          <a:p>
            <a:pPr algn="l" marL="643923" indent="-321961" lvl="1">
              <a:lnSpc>
                <a:spcPts val="4175"/>
              </a:lnSpc>
              <a:buFont typeface="Arial"/>
              <a:buChar char="•"/>
            </a:pPr>
            <a:r>
              <a:rPr lang="en-US" sz="2982">
                <a:solidFill>
                  <a:srgbClr val="000000"/>
                </a:solidFill>
                <a:latin typeface="Roboto Slab"/>
                <a:ea typeface="Roboto Slab"/>
                <a:cs typeface="Roboto Slab"/>
                <a:sym typeface="Roboto Slab"/>
              </a:rPr>
              <a:t>Semantik yol :</a:t>
            </a:r>
          </a:p>
          <a:p>
            <a:pPr algn="l" marL="1287845" indent="-429282" lvl="2">
              <a:lnSpc>
                <a:spcPts val="4175"/>
              </a:lnSpc>
              <a:buFont typeface="Arial"/>
              <a:buChar char="⚬"/>
            </a:pPr>
            <a:r>
              <a:rPr lang="en-US" sz="2982">
                <a:solidFill>
                  <a:srgbClr val="000000"/>
                </a:solidFill>
                <a:latin typeface="Roboto Slab"/>
                <a:ea typeface="Roboto Slab"/>
                <a:cs typeface="Roboto Slab"/>
                <a:sym typeface="Roboto Slab"/>
              </a:rPr>
              <a:t> Mövcud sözün yeni məna qazanmasıdır -&gt; Platforma</a:t>
            </a:r>
          </a:p>
          <a:p>
            <a:pPr algn="l" marL="643923" indent="-321961" lvl="1">
              <a:lnSpc>
                <a:spcPts val="4175"/>
              </a:lnSpc>
              <a:buFont typeface="Arial"/>
              <a:buChar char="•"/>
            </a:pPr>
            <a:r>
              <a:rPr lang="en-US" sz="2982">
                <a:solidFill>
                  <a:srgbClr val="000000"/>
                </a:solidFill>
                <a:latin typeface="Roboto Slab"/>
                <a:ea typeface="Roboto Slab"/>
                <a:cs typeface="Roboto Slab"/>
                <a:sym typeface="Roboto Slab"/>
              </a:rPr>
              <a:t>Morfoloji yol :</a:t>
            </a:r>
          </a:p>
          <a:p>
            <a:pPr algn="l" marL="1287845" indent="-429282" lvl="2">
              <a:lnSpc>
                <a:spcPts val="4175"/>
              </a:lnSpc>
              <a:buFont typeface="Arial"/>
              <a:buChar char="⚬"/>
            </a:pPr>
            <a:r>
              <a:rPr lang="en-US" sz="2982">
                <a:solidFill>
                  <a:srgbClr val="000000"/>
                </a:solidFill>
                <a:latin typeface="Roboto Slab"/>
                <a:ea typeface="Roboto Slab"/>
                <a:cs typeface="Roboto Slab"/>
                <a:sym typeface="Roboto Slab"/>
              </a:rPr>
              <a:t> Sözdüzəltmə vasitələri ilə yeni sözlərin yaradılmasıdır -&gt;</a:t>
            </a:r>
            <a:r>
              <a:rPr lang="en-US" sz="2982">
                <a:solidFill>
                  <a:srgbClr val="000000"/>
                </a:solidFill>
                <a:latin typeface="Roboto Slab"/>
                <a:ea typeface="Roboto Slab"/>
                <a:cs typeface="Roboto Slab"/>
                <a:sym typeface="Roboto Slab"/>
              </a:rPr>
              <a:t> Yenilənmə</a:t>
            </a:r>
          </a:p>
          <a:p>
            <a:pPr algn="l">
              <a:lnSpc>
                <a:spcPts val="4175"/>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09059" y="1681300"/>
            <a:ext cx="10551652" cy="8132854"/>
            <a:chOff x="0" y="0"/>
            <a:chExt cx="4524353" cy="3487218"/>
          </a:xfrm>
        </p:grpSpPr>
        <p:sp>
          <p:nvSpPr>
            <p:cNvPr name="Freeform 3" id="3"/>
            <p:cNvSpPr/>
            <p:nvPr/>
          </p:nvSpPr>
          <p:spPr>
            <a:xfrm flipH="false" flipV="false" rot="0">
              <a:off x="0" y="0"/>
              <a:ext cx="4524353" cy="3487218"/>
            </a:xfrm>
            <a:custGeom>
              <a:avLst/>
              <a:gdLst/>
              <a:ahLst/>
              <a:cxnLst/>
              <a:rect r="r" b="b" t="t" l="l"/>
              <a:pathLst>
                <a:path h="3487218" w="4524353">
                  <a:moveTo>
                    <a:pt x="38153" y="0"/>
                  </a:moveTo>
                  <a:lnTo>
                    <a:pt x="4486200" y="0"/>
                  </a:lnTo>
                  <a:cubicBezTo>
                    <a:pt x="4496319" y="0"/>
                    <a:pt x="4506023" y="4020"/>
                    <a:pt x="4513178" y="11175"/>
                  </a:cubicBezTo>
                  <a:cubicBezTo>
                    <a:pt x="4520334" y="18330"/>
                    <a:pt x="4524353" y="28034"/>
                    <a:pt x="4524353" y="38153"/>
                  </a:cubicBezTo>
                  <a:lnTo>
                    <a:pt x="4524353" y="3449065"/>
                  </a:lnTo>
                  <a:cubicBezTo>
                    <a:pt x="4524353" y="3459183"/>
                    <a:pt x="4520334" y="3468888"/>
                    <a:pt x="4513178" y="3476043"/>
                  </a:cubicBezTo>
                  <a:cubicBezTo>
                    <a:pt x="4506023" y="3483198"/>
                    <a:pt x="4496319" y="3487218"/>
                    <a:pt x="4486200" y="3487218"/>
                  </a:cubicBezTo>
                  <a:lnTo>
                    <a:pt x="38153" y="3487218"/>
                  </a:lnTo>
                  <a:cubicBezTo>
                    <a:pt x="17082" y="3487218"/>
                    <a:pt x="0" y="3470136"/>
                    <a:pt x="0" y="3449065"/>
                  </a:cubicBezTo>
                  <a:lnTo>
                    <a:pt x="0" y="38153"/>
                  </a:lnTo>
                  <a:cubicBezTo>
                    <a:pt x="0" y="28034"/>
                    <a:pt x="4020" y="18330"/>
                    <a:pt x="11175" y="11175"/>
                  </a:cubicBezTo>
                  <a:cubicBezTo>
                    <a:pt x="18330" y="4020"/>
                    <a:pt x="28034" y="0"/>
                    <a:pt x="38153" y="0"/>
                  </a:cubicBezTo>
                  <a:close/>
                </a:path>
              </a:pathLst>
            </a:custGeom>
            <a:solidFill>
              <a:srgbClr val="FFFFFF">
                <a:alpha val="81961"/>
              </a:srgbClr>
            </a:solidFill>
            <a:ln w="9525" cap="rnd">
              <a:solidFill>
                <a:srgbClr val="000000">
                  <a:alpha val="81961"/>
                </a:srgbClr>
              </a:solidFill>
              <a:prstDash val="solid"/>
              <a:round/>
            </a:ln>
          </p:spPr>
        </p:sp>
        <p:sp>
          <p:nvSpPr>
            <p:cNvPr name="TextBox 4" id="4"/>
            <p:cNvSpPr txBox="true"/>
            <p:nvPr/>
          </p:nvSpPr>
          <p:spPr>
            <a:xfrm>
              <a:off x="0" y="-47625"/>
              <a:ext cx="4524353" cy="353484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61604" y="320041"/>
            <a:ext cx="1039283" cy="1241085"/>
          </a:xfrm>
          <a:custGeom>
            <a:avLst/>
            <a:gdLst/>
            <a:ahLst/>
            <a:cxnLst/>
            <a:rect r="r" b="b" t="t" l="l"/>
            <a:pathLst>
              <a:path h="1241085" w="1039283">
                <a:moveTo>
                  <a:pt x="0" y="0"/>
                </a:moveTo>
                <a:lnTo>
                  <a:pt x="1039283" y="0"/>
                </a:lnTo>
                <a:lnTo>
                  <a:pt x="1039283" y="1241085"/>
                </a:lnTo>
                <a:lnTo>
                  <a:pt x="0" y="12410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204081" y="2399934"/>
            <a:ext cx="6294088" cy="6695587"/>
          </a:xfrm>
          <a:custGeom>
            <a:avLst/>
            <a:gdLst/>
            <a:ahLst/>
            <a:cxnLst/>
            <a:rect r="r" b="b" t="t" l="l"/>
            <a:pathLst>
              <a:path h="6695587" w="6294088">
                <a:moveTo>
                  <a:pt x="0" y="0"/>
                </a:moveTo>
                <a:lnTo>
                  <a:pt x="6294087" y="0"/>
                </a:lnTo>
                <a:lnTo>
                  <a:pt x="6294087" y="6695586"/>
                </a:lnTo>
                <a:lnTo>
                  <a:pt x="0" y="6695586"/>
                </a:lnTo>
                <a:lnTo>
                  <a:pt x="0" y="0"/>
                </a:lnTo>
                <a:close/>
              </a:path>
            </a:pathLst>
          </a:custGeom>
          <a:blipFill>
            <a:blip r:embed="rId4"/>
            <a:stretch>
              <a:fillRect l="0" t="0" r="0" b="0"/>
            </a:stretch>
          </a:blipFill>
        </p:spPr>
      </p:sp>
      <p:sp>
        <p:nvSpPr>
          <p:cNvPr name="TextBox 7" id="7"/>
          <p:cNvSpPr txBox="true"/>
          <p:nvPr/>
        </p:nvSpPr>
        <p:spPr>
          <a:xfrm rot="0">
            <a:off x="981246" y="1933269"/>
            <a:ext cx="9586931" cy="7162251"/>
          </a:xfrm>
          <a:prstGeom prst="rect">
            <a:avLst/>
          </a:prstGeom>
        </p:spPr>
        <p:txBody>
          <a:bodyPr anchor="t" rtlCol="false" tIns="0" lIns="0" bIns="0" rIns="0">
            <a:spAutoFit/>
          </a:bodyPr>
          <a:lstStyle/>
          <a:p>
            <a:pPr algn="l">
              <a:lnSpc>
                <a:spcPts val="4718"/>
              </a:lnSpc>
            </a:pPr>
            <a:r>
              <a:rPr lang="en-US" sz="3370">
                <a:solidFill>
                  <a:srgbClr val="000000"/>
                </a:solidFill>
                <a:latin typeface="Roboto Slab"/>
                <a:ea typeface="Roboto Slab"/>
                <a:cs typeface="Roboto Slab"/>
                <a:sym typeface="Roboto Slab"/>
              </a:rPr>
              <a:t>Texnoloji sahədə neologizmlərin yaranması ən sürətli proseslərdən biridir.</a:t>
            </a:r>
          </a:p>
          <a:p>
            <a:pPr algn="l">
              <a:lnSpc>
                <a:spcPts val="4718"/>
              </a:lnSpc>
            </a:pPr>
            <a:r>
              <a:rPr lang="en-US" sz="3370">
                <a:solidFill>
                  <a:srgbClr val="000000"/>
                </a:solidFill>
                <a:latin typeface="Roboto Slab"/>
                <a:ea typeface="Roboto Slab"/>
                <a:cs typeface="Roboto Slab"/>
                <a:sym typeface="Roboto Slab"/>
              </a:rPr>
              <a:t> Kompyuter texnologiyaları ilə bağlı aşağıdakı sözlər dilə keçmişdir:</a:t>
            </a:r>
          </a:p>
          <a:p>
            <a:pPr algn="l">
              <a:lnSpc>
                <a:spcPts val="4718"/>
              </a:lnSpc>
            </a:pPr>
          </a:p>
          <a:p>
            <a:pPr algn="l" marL="727681" indent="-363841" lvl="1">
              <a:lnSpc>
                <a:spcPts val="4718"/>
              </a:lnSpc>
              <a:buFont typeface="Arial"/>
              <a:buChar char="•"/>
            </a:pPr>
            <a:r>
              <a:rPr lang="en-US" sz="3370">
                <a:solidFill>
                  <a:srgbClr val="000000"/>
                </a:solidFill>
                <a:latin typeface="Roboto Slab"/>
                <a:ea typeface="Roboto Slab"/>
                <a:cs typeface="Roboto Slab"/>
                <a:sym typeface="Roboto Slab"/>
              </a:rPr>
              <a:t>Süni intellekt (AI): Maşın tərəfindən insan zəkasının simulyasiyası.</a:t>
            </a:r>
          </a:p>
          <a:p>
            <a:pPr algn="l" marL="727681" indent="-363841" lvl="1">
              <a:lnSpc>
                <a:spcPts val="4718"/>
              </a:lnSpc>
              <a:buFont typeface="Arial"/>
              <a:buChar char="•"/>
            </a:pPr>
            <a:r>
              <a:rPr lang="en-US" sz="3370">
                <a:solidFill>
                  <a:srgbClr val="000000"/>
                </a:solidFill>
                <a:latin typeface="Roboto Slab"/>
                <a:ea typeface="Roboto Slab"/>
                <a:cs typeface="Roboto Slab"/>
                <a:sym typeface="Roboto Slab"/>
              </a:rPr>
              <a:t>Kriptovalyuta: Rəqəmsal və ya virtual valyuta növü (məs: Bitkoin).</a:t>
            </a:r>
          </a:p>
          <a:p>
            <a:pPr algn="l" marL="727681" indent="-363841" lvl="1">
              <a:lnSpc>
                <a:spcPts val="4718"/>
              </a:lnSpc>
              <a:buFont typeface="Arial"/>
              <a:buChar char="•"/>
            </a:pPr>
            <a:r>
              <a:rPr lang="en-US" sz="3370">
                <a:solidFill>
                  <a:srgbClr val="000000"/>
                </a:solidFill>
                <a:latin typeface="Roboto Slab"/>
                <a:ea typeface="Roboto Slab"/>
                <a:cs typeface="Roboto Slab"/>
                <a:sym typeface="Roboto Slab"/>
              </a:rPr>
              <a:t>Kibertəhlükəsizlik: Rəqəmsal sistemlərin və şəbəkələrin hücumlardan qorunması.</a:t>
            </a:r>
          </a:p>
          <a:p>
            <a:pPr algn="l">
              <a:lnSpc>
                <a:spcPts val="4718"/>
              </a:lnSpc>
            </a:pPr>
          </a:p>
        </p:txBody>
      </p:sp>
      <p:sp>
        <p:nvSpPr>
          <p:cNvPr name="TextBox 8" id="8"/>
          <p:cNvSpPr txBox="true"/>
          <p:nvPr/>
        </p:nvSpPr>
        <p:spPr>
          <a:xfrm rot="0">
            <a:off x="1675215" y="234316"/>
            <a:ext cx="8949916" cy="795268"/>
          </a:xfrm>
          <a:prstGeom prst="rect">
            <a:avLst/>
          </a:prstGeom>
        </p:spPr>
        <p:txBody>
          <a:bodyPr anchor="t" rtlCol="false" tIns="0" lIns="0" bIns="0" rIns="0">
            <a:spAutoFit/>
          </a:bodyPr>
          <a:lstStyle/>
          <a:p>
            <a:pPr algn="ctr">
              <a:lnSpc>
                <a:spcPts val="6566"/>
              </a:lnSpc>
              <a:spcBef>
                <a:spcPct val="0"/>
              </a:spcBef>
            </a:pPr>
            <a:r>
              <a:rPr lang="en-US" b="true" sz="4690">
                <a:solidFill>
                  <a:srgbClr val="000000"/>
                </a:solidFill>
                <a:latin typeface="Roboto Slab Bold"/>
                <a:ea typeface="Roboto Slab Bold"/>
                <a:cs typeface="Roboto Slab Bold"/>
                <a:sym typeface="Roboto Slab Bold"/>
              </a:rPr>
              <a:t>Texnoloji sahə neologizmləri</a:t>
            </a:r>
          </a:p>
        </p:txBody>
      </p:sp>
      <p:grpSp>
        <p:nvGrpSpPr>
          <p:cNvPr name="Group 9" id="9"/>
          <p:cNvGrpSpPr/>
          <p:nvPr/>
        </p:nvGrpSpPr>
        <p:grpSpPr>
          <a:xfrm rot="-5400000">
            <a:off x="14210311" y="6209311"/>
            <a:ext cx="7035932" cy="1119445"/>
            <a:chOff x="0" y="0"/>
            <a:chExt cx="1425301" cy="226770"/>
          </a:xfrm>
        </p:grpSpPr>
        <p:sp>
          <p:nvSpPr>
            <p:cNvPr name="Freeform 10" id="10"/>
            <p:cNvSpPr/>
            <p:nvPr/>
          </p:nvSpPr>
          <p:spPr>
            <a:xfrm flipH="false" flipV="false" rot="0">
              <a:off x="0" y="0"/>
              <a:ext cx="1425301" cy="226361"/>
            </a:xfrm>
            <a:custGeom>
              <a:avLst/>
              <a:gdLst/>
              <a:ahLst/>
              <a:cxnLst/>
              <a:rect r="r" b="b" t="t" l="l"/>
              <a:pathLst>
                <a:path h="226361" w="1425301">
                  <a:moveTo>
                    <a:pt x="712650" y="0"/>
                  </a:moveTo>
                  <a:lnTo>
                    <a:pt x="1425301" y="226361"/>
                  </a:lnTo>
                  <a:lnTo>
                    <a:pt x="0" y="226361"/>
                  </a:lnTo>
                  <a:close/>
                </a:path>
              </a:pathLst>
            </a:custGeom>
            <a:solidFill>
              <a:srgbClr val="4382EB"/>
            </a:solidFill>
          </p:spPr>
        </p:sp>
        <p:sp>
          <p:nvSpPr>
            <p:cNvPr name="TextBox 11" id="11"/>
            <p:cNvSpPr txBox="true"/>
            <p:nvPr/>
          </p:nvSpPr>
          <p:spPr>
            <a:xfrm>
              <a:off x="301772" y="48075"/>
              <a:ext cx="821756" cy="17828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062879" y="6769034"/>
            <a:ext cx="2225121" cy="3517966"/>
            <a:chOff x="0" y="0"/>
            <a:chExt cx="450753" cy="712647"/>
          </a:xfrm>
        </p:grpSpPr>
        <p:sp>
          <p:nvSpPr>
            <p:cNvPr name="Freeform 13" id="13"/>
            <p:cNvSpPr/>
            <p:nvPr/>
          </p:nvSpPr>
          <p:spPr>
            <a:xfrm flipH="false" flipV="false" rot="0">
              <a:off x="0" y="0"/>
              <a:ext cx="450753" cy="711363"/>
            </a:xfrm>
            <a:custGeom>
              <a:avLst/>
              <a:gdLst/>
              <a:ahLst/>
              <a:cxnLst/>
              <a:rect r="r" b="b" t="t" l="l"/>
              <a:pathLst>
                <a:path h="711363" w="450753">
                  <a:moveTo>
                    <a:pt x="225376" y="0"/>
                  </a:moveTo>
                  <a:lnTo>
                    <a:pt x="450753" y="711363"/>
                  </a:lnTo>
                  <a:lnTo>
                    <a:pt x="0" y="711363"/>
                  </a:lnTo>
                  <a:close/>
                </a:path>
              </a:pathLst>
            </a:custGeom>
            <a:solidFill>
              <a:srgbClr val="4382EB"/>
            </a:solidFill>
          </p:spPr>
        </p:sp>
        <p:sp>
          <p:nvSpPr>
            <p:cNvPr name="TextBox 14" id="14"/>
            <p:cNvSpPr txBox="true"/>
            <p:nvPr/>
          </p:nvSpPr>
          <p:spPr>
            <a:xfrm>
              <a:off x="95436" y="253121"/>
              <a:ext cx="259881" cy="458243"/>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5400000">
            <a:off x="14179439" y="3079861"/>
            <a:ext cx="7188422" cy="1028700"/>
            <a:chOff x="0" y="0"/>
            <a:chExt cx="1893247" cy="270932"/>
          </a:xfrm>
        </p:grpSpPr>
        <p:sp>
          <p:nvSpPr>
            <p:cNvPr name="Freeform 16" id="16"/>
            <p:cNvSpPr/>
            <p:nvPr/>
          </p:nvSpPr>
          <p:spPr>
            <a:xfrm flipH="false" flipV="false" rot="0">
              <a:off x="0" y="0"/>
              <a:ext cx="1893247" cy="270444"/>
            </a:xfrm>
            <a:custGeom>
              <a:avLst/>
              <a:gdLst/>
              <a:ahLst/>
              <a:cxnLst/>
              <a:rect r="r" b="b" t="t" l="l"/>
              <a:pathLst>
                <a:path h="270444" w="1893247">
                  <a:moveTo>
                    <a:pt x="946623" y="0"/>
                  </a:moveTo>
                  <a:lnTo>
                    <a:pt x="1893247" y="270444"/>
                  </a:lnTo>
                  <a:lnTo>
                    <a:pt x="0" y="270444"/>
                  </a:lnTo>
                  <a:close/>
                </a:path>
              </a:pathLst>
            </a:custGeom>
            <a:solidFill>
              <a:srgbClr val="2C58A0"/>
            </a:solidFill>
          </p:spPr>
        </p:sp>
        <p:sp>
          <p:nvSpPr>
            <p:cNvPr name="TextBox 17" id="17"/>
            <p:cNvSpPr txBox="true"/>
            <p:nvPr/>
          </p:nvSpPr>
          <p:spPr>
            <a:xfrm>
              <a:off x="400848" y="66712"/>
              <a:ext cx="1091550" cy="203732"/>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10800000">
            <a:off x="16236927" y="0"/>
            <a:ext cx="2044747" cy="3594211"/>
            <a:chOff x="0" y="0"/>
            <a:chExt cx="538534" cy="946619"/>
          </a:xfrm>
        </p:grpSpPr>
        <p:sp>
          <p:nvSpPr>
            <p:cNvPr name="Freeform 19" id="19"/>
            <p:cNvSpPr/>
            <p:nvPr/>
          </p:nvSpPr>
          <p:spPr>
            <a:xfrm flipH="false" flipV="false" rot="0">
              <a:off x="0" y="0"/>
              <a:ext cx="538534" cy="944914"/>
            </a:xfrm>
            <a:custGeom>
              <a:avLst/>
              <a:gdLst/>
              <a:ahLst/>
              <a:cxnLst/>
              <a:rect r="r" b="b" t="t" l="l"/>
              <a:pathLst>
                <a:path h="944914" w="538534">
                  <a:moveTo>
                    <a:pt x="269267" y="0"/>
                  </a:moveTo>
                  <a:lnTo>
                    <a:pt x="538534" y="944914"/>
                  </a:lnTo>
                  <a:lnTo>
                    <a:pt x="0" y="944914"/>
                  </a:lnTo>
                  <a:close/>
                </a:path>
              </a:pathLst>
            </a:custGeom>
            <a:solidFill>
              <a:srgbClr val="2C58A0"/>
            </a:solidFill>
          </p:spPr>
        </p:sp>
        <p:sp>
          <p:nvSpPr>
            <p:cNvPr name="TextBox 20" id="20"/>
            <p:cNvSpPr txBox="true"/>
            <p:nvPr/>
          </p:nvSpPr>
          <p:spPr>
            <a:xfrm>
              <a:off x="114021" y="351860"/>
              <a:ext cx="310492" cy="593054"/>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5400000">
            <a:off x="15813848" y="7819175"/>
            <a:ext cx="4147297" cy="788353"/>
            <a:chOff x="0" y="0"/>
            <a:chExt cx="1425301" cy="270932"/>
          </a:xfrm>
        </p:grpSpPr>
        <p:sp>
          <p:nvSpPr>
            <p:cNvPr name="Freeform 22" id="22"/>
            <p:cNvSpPr/>
            <p:nvPr/>
          </p:nvSpPr>
          <p:spPr>
            <a:xfrm flipH="false" flipV="false" rot="0">
              <a:off x="0" y="0"/>
              <a:ext cx="1425301" cy="270444"/>
            </a:xfrm>
            <a:custGeom>
              <a:avLst/>
              <a:gdLst/>
              <a:ahLst/>
              <a:cxnLst/>
              <a:rect r="r" b="b" t="t" l="l"/>
              <a:pathLst>
                <a:path h="270444" w="1425301">
                  <a:moveTo>
                    <a:pt x="712650" y="0"/>
                  </a:moveTo>
                  <a:lnTo>
                    <a:pt x="1425301" y="270444"/>
                  </a:lnTo>
                  <a:lnTo>
                    <a:pt x="0" y="270444"/>
                  </a:lnTo>
                  <a:close/>
                </a:path>
              </a:pathLst>
            </a:custGeom>
            <a:solidFill>
              <a:srgbClr val="84A5FF"/>
            </a:solidFill>
          </p:spPr>
        </p:sp>
        <p:sp>
          <p:nvSpPr>
            <p:cNvPr name="TextBox 23" id="23"/>
            <p:cNvSpPr txBox="true"/>
            <p:nvPr/>
          </p:nvSpPr>
          <p:spPr>
            <a:xfrm>
              <a:off x="301772" y="66712"/>
              <a:ext cx="821756" cy="203732"/>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6714663" y="8213352"/>
            <a:ext cx="1567010" cy="2073648"/>
            <a:chOff x="0" y="0"/>
            <a:chExt cx="538534" cy="712647"/>
          </a:xfrm>
        </p:grpSpPr>
        <p:sp>
          <p:nvSpPr>
            <p:cNvPr name="Freeform 25" id="25"/>
            <p:cNvSpPr/>
            <p:nvPr/>
          </p:nvSpPr>
          <p:spPr>
            <a:xfrm flipH="false" flipV="false" rot="0">
              <a:off x="0" y="0"/>
              <a:ext cx="538534" cy="711363"/>
            </a:xfrm>
            <a:custGeom>
              <a:avLst/>
              <a:gdLst/>
              <a:ahLst/>
              <a:cxnLst/>
              <a:rect r="r" b="b" t="t" l="l"/>
              <a:pathLst>
                <a:path h="711363" w="538534">
                  <a:moveTo>
                    <a:pt x="269267" y="0"/>
                  </a:moveTo>
                  <a:lnTo>
                    <a:pt x="538534" y="711363"/>
                  </a:lnTo>
                  <a:lnTo>
                    <a:pt x="0" y="711363"/>
                  </a:lnTo>
                  <a:close/>
                </a:path>
              </a:pathLst>
            </a:custGeom>
            <a:solidFill>
              <a:srgbClr val="84A5FF"/>
            </a:solidFill>
          </p:spPr>
        </p:sp>
        <p:sp>
          <p:nvSpPr>
            <p:cNvPr name="TextBox 26" id="26"/>
            <p:cNvSpPr txBox="true"/>
            <p:nvPr/>
          </p:nvSpPr>
          <p:spPr>
            <a:xfrm>
              <a:off x="114021" y="253121"/>
              <a:ext cx="310492" cy="458243"/>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5400000">
            <a:off x="13755459" y="3680810"/>
            <a:ext cx="8215339" cy="849744"/>
            <a:chOff x="0" y="0"/>
            <a:chExt cx="2163711" cy="223800"/>
          </a:xfrm>
        </p:grpSpPr>
        <p:sp>
          <p:nvSpPr>
            <p:cNvPr name="Freeform 28" id="28"/>
            <p:cNvSpPr/>
            <p:nvPr/>
          </p:nvSpPr>
          <p:spPr>
            <a:xfrm flipH="false" flipV="false" rot="0">
              <a:off x="0" y="0"/>
              <a:ext cx="2163711" cy="223397"/>
            </a:xfrm>
            <a:custGeom>
              <a:avLst/>
              <a:gdLst/>
              <a:ahLst/>
              <a:cxnLst/>
              <a:rect r="r" b="b" t="t" l="l"/>
              <a:pathLst>
                <a:path h="223397" w="2163711">
                  <a:moveTo>
                    <a:pt x="1081855" y="0"/>
                  </a:moveTo>
                  <a:lnTo>
                    <a:pt x="2163711" y="223397"/>
                  </a:lnTo>
                  <a:lnTo>
                    <a:pt x="0" y="223397"/>
                  </a:lnTo>
                  <a:close/>
                </a:path>
              </a:pathLst>
            </a:custGeom>
            <a:solidFill>
              <a:srgbClr val="A4C7FF"/>
            </a:solidFill>
          </p:spPr>
        </p:sp>
        <p:sp>
          <p:nvSpPr>
            <p:cNvPr name="TextBox 29" id="29"/>
            <p:cNvSpPr txBox="true"/>
            <p:nvPr/>
          </p:nvSpPr>
          <p:spPr>
            <a:xfrm>
              <a:off x="458112" y="46821"/>
              <a:ext cx="1247486" cy="176575"/>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10800000">
            <a:off x="16593738" y="-1987"/>
            <a:ext cx="1689036" cy="4107669"/>
            <a:chOff x="0" y="0"/>
            <a:chExt cx="444849" cy="1081850"/>
          </a:xfrm>
        </p:grpSpPr>
        <p:sp>
          <p:nvSpPr>
            <p:cNvPr name="Freeform 31" id="31"/>
            <p:cNvSpPr/>
            <p:nvPr/>
          </p:nvSpPr>
          <p:spPr>
            <a:xfrm flipH="false" flipV="false" rot="0">
              <a:off x="0" y="0"/>
              <a:ext cx="444849" cy="1079901"/>
            </a:xfrm>
            <a:custGeom>
              <a:avLst/>
              <a:gdLst/>
              <a:ahLst/>
              <a:cxnLst/>
              <a:rect r="r" b="b" t="t" l="l"/>
              <a:pathLst>
                <a:path h="1079901" w="444849">
                  <a:moveTo>
                    <a:pt x="222424" y="0"/>
                  </a:moveTo>
                  <a:lnTo>
                    <a:pt x="444849" y="1079901"/>
                  </a:lnTo>
                  <a:lnTo>
                    <a:pt x="0" y="1079901"/>
                  </a:lnTo>
                  <a:close/>
                </a:path>
              </a:pathLst>
            </a:custGeom>
            <a:solidFill>
              <a:srgbClr val="A4C7FF"/>
            </a:solidFill>
          </p:spPr>
        </p:sp>
        <p:sp>
          <p:nvSpPr>
            <p:cNvPr name="TextBox 32" id="32"/>
            <p:cNvSpPr txBox="true"/>
            <p:nvPr/>
          </p:nvSpPr>
          <p:spPr>
            <a:xfrm>
              <a:off x="94186" y="408929"/>
              <a:ext cx="256477" cy="67097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3249" y="1186214"/>
            <a:ext cx="12287082" cy="8940583"/>
            <a:chOff x="0" y="0"/>
            <a:chExt cx="4578267" cy="3331334"/>
          </a:xfrm>
        </p:grpSpPr>
        <p:sp>
          <p:nvSpPr>
            <p:cNvPr name="Freeform 3" id="3"/>
            <p:cNvSpPr/>
            <p:nvPr/>
          </p:nvSpPr>
          <p:spPr>
            <a:xfrm flipH="false" flipV="false" rot="0">
              <a:off x="0" y="0"/>
              <a:ext cx="4578267" cy="3331334"/>
            </a:xfrm>
            <a:custGeom>
              <a:avLst/>
              <a:gdLst/>
              <a:ahLst/>
              <a:cxnLst/>
              <a:rect r="r" b="b" t="t" l="l"/>
              <a:pathLst>
                <a:path h="3331334" w="4578267">
                  <a:moveTo>
                    <a:pt x="32764" y="0"/>
                  </a:moveTo>
                  <a:lnTo>
                    <a:pt x="4545503" y="0"/>
                  </a:lnTo>
                  <a:cubicBezTo>
                    <a:pt x="4554192" y="0"/>
                    <a:pt x="4562526" y="3452"/>
                    <a:pt x="4568671" y="9596"/>
                  </a:cubicBezTo>
                  <a:cubicBezTo>
                    <a:pt x="4574815" y="15741"/>
                    <a:pt x="4578267" y="24075"/>
                    <a:pt x="4578267" y="32764"/>
                  </a:cubicBezTo>
                  <a:lnTo>
                    <a:pt x="4578267" y="3298570"/>
                  </a:lnTo>
                  <a:cubicBezTo>
                    <a:pt x="4578267" y="3307259"/>
                    <a:pt x="4574815" y="3315593"/>
                    <a:pt x="4568671" y="3321738"/>
                  </a:cubicBezTo>
                  <a:cubicBezTo>
                    <a:pt x="4562526" y="3327882"/>
                    <a:pt x="4554192" y="3331334"/>
                    <a:pt x="4545503" y="3331334"/>
                  </a:cubicBezTo>
                  <a:lnTo>
                    <a:pt x="32764" y="3331334"/>
                  </a:lnTo>
                  <a:cubicBezTo>
                    <a:pt x="24075" y="3331334"/>
                    <a:pt x="15741" y="3327882"/>
                    <a:pt x="9596" y="3321738"/>
                  </a:cubicBezTo>
                  <a:cubicBezTo>
                    <a:pt x="3452" y="3315593"/>
                    <a:pt x="0" y="3307259"/>
                    <a:pt x="0" y="3298570"/>
                  </a:cubicBezTo>
                  <a:lnTo>
                    <a:pt x="0" y="32764"/>
                  </a:lnTo>
                  <a:cubicBezTo>
                    <a:pt x="0" y="24075"/>
                    <a:pt x="3452" y="15741"/>
                    <a:pt x="9596" y="9596"/>
                  </a:cubicBezTo>
                  <a:cubicBezTo>
                    <a:pt x="15741" y="3452"/>
                    <a:pt x="24075" y="0"/>
                    <a:pt x="32764" y="0"/>
                  </a:cubicBezTo>
                  <a:close/>
                </a:path>
              </a:pathLst>
            </a:custGeom>
            <a:solidFill>
              <a:srgbClr val="A4C7FF">
                <a:alpha val="4706"/>
              </a:srgbClr>
            </a:solidFill>
            <a:ln w="19050" cap="rnd">
              <a:solidFill>
                <a:srgbClr val="000000">
                  <a:alpha val="4706"/>
                </a:srgbClr>
              </a:solidFill>
              <a:prstDash val="solid"/>
              <a:round/>
            </a:ln>
          </p:spPr>
        </p:sp>
        <p:sp>
          <p:nvSpPr>
            <p:cNvPr name="TextBox 4" id="4"/>
            <p:cNvSpPr txBox="true"/>
            <p:nvPr/>
          </p:nvSpPr>
          <p:spPr>
            <a:xfrm>
              <a:off x="0" y="-47625"/>
              <a:ext cx="4578267" cy="337895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7898406" y="300623"/>
            <a:ext cx="715661" cy="727490"/>
          </a:xfrm>
          <a:custGeom>
            <a:avLst/>
            <a:gdLst/>
            <a:ahLst/>
            <a:cxnLst/>
            <a:rect r="r" b="b" t="t" l="l"/>
            <a:pathLst>
              <a:path h="727490" w="715661">
                <a:moveTo>
                  <a:pt x="0" y="0"/>
                </a:moveTo>
                <a:lnTo>
                  <a:pt x="715661" y="0"/>
                </a:lnTo>
                <a:lnTo>
                  <a:pt x="715661" y="727490"/>
                </a:lnTo>
                <a:lnTo>
                  <a:pt x="0" y="7274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95228" y="1368027"/>
            <a:ext cx="10506277" cy="8918973"/>
          </a:xfrm>
          <a:prstGeom prst="rect">
            <a:avLst/>
          </a:prstGeom>
        </p:spPr>
        <p:txBody>
          <a:bodyPr anchor="t" rtlCol="false" tIns="0" lIns="0" bIns="0" rIns="0">
            <a:spAutoFit/>
          </a:bodyPr>
          <a:lstStyle/>
          <a:p>
            <a:pPr algn="l">
              <a:lnSpc>
                <a:spcPts val="4734"/>
              </a:lnSpc>
            </a:pPr>
            <a:r>
              <a:rPr lang="en-US" sz="3381">
                <a:solidFill>
                  <a:srgbClr val="000000"/>
                </a:solidFill>
                <a:latin typeface="Roboto Slab"/>
                <a:ea typeface="Roboto Slab"/>
                <a:cs typeface="Roboto Slab"/>
                <a:sym typeface="Roboto Slab"/>
              </a:rPr>
              <a:t>Sosial və siyasi neologizmlər ictimai həyatdakı dəyişikliklərlə bağlı yaranır.</a:t>
            </a:r>
          </a:p>
          <a:p>
            <a:pPr algn="l">
              <a:lnSpc>
                <a:spcPts val="4734"/>
              </a:lnSpc>
            </a:pPr>
            <a:r>
              <a:rPr lang="en-US" sz="3381">
                <a:solidFill>
                  <a:srgbClr val="000000"/>
                </a:solidFill>
                <a:latin typeface="Roboto Slab"/>
                <a:ea typeface="Roboto Slab"/>
                <a:cs typeface="Roboto Slab"/>
                <a:sym typeface="Roboto Slab"/>
              </a:rPr>
              <a:t>"Siyasi atmosfer", "soyuq müharibə" kimi ifadələr semantik üsulla terminləşir. Nümunələr:</a:t>
            </a:r>
          </a:p>
          <a:p>
            <a:pPr algn="l">
              <a:lnSpc>
                <a:spcPts val="4734"/>
              </a:lnSpc>
            </a:pPr>
          </a:p>
          <a:p>
            <a:pPr algn="l" marL="730151" indent="-365076" lvl="1">
              <a:lnSpc>
                <a:spcPts val="4734"/>
              </a:lnSpc>
              <a:buFont typeface="Arial"/>
              <a:buChar char="•"/>
            </a:pPr>
            <a:r>
              <a:rPr lang="en-US" sz="3381">
                <a:solidFill>
                  <a:srgbClr val="000000"/>
                </a:solidFill>
                <a:latin typeface="Roboto Slab"/>
                <a:ea typeface="Roboto Slab"/>
                <a:cs typeface="Roboto Slab"/>
                <a:sym typeface="Roboto Slab"/>
              </a:rPr>
              <a:t>Müstəqillik: Dövlətin daxili və xarici siyasətində tam sərbəst olması, başqa dövlətdən asılı olmaması.</a:t>
            </a:r>
          </a:p>
          <a:p>
            <a:pPr algn="l" marL="730151" indent="-365076" lvl="1">
              <a:lnSpc>
                <a:spcPts val="4734"/>
              </a:lnSpc>
              <a:buFont typeface="Arial"/>
              <a:buChar char="•"/>
            </a:pPr>
            <a:r>
              <a:rPr lang="en-US" sz="3381">
                <a:solidFill>
                  <a:srgbClr val="000000"/>
                </a:solidFill>
                <a:latin typeface="Roboto Slab"/>
                <a:ea typeface="Roboto Slab"/>
                <a:cs typeface="Roboto Slab"/>
                <a:sym typeface="Roboto Slab"/>
              </a:rPr>
              <a:t>Media: Kütləvi informasiya vasitələrinin (mətbuat, TV, radio, internet saytları) ümumi adı.</a:t>
            </a:r>
          </a:p>
          <a:p>
            <a:pPr algn="l" marL="730151" indent="-365076" lvl="1">
              <a:lnSpc>
                <a:spcPts val="4734"/>
              </a:lnSpc>
              <a:buFont typeface="Arial"/>
              <a:buChar char="•"/>
            </a:pPr>
            <a:r>
              <a:rPr lang="en-US" sz="3381">
                <a:solidFill>
                  <a:srgbClr val="000000"/>
                </a:solidFill>
                <a:latin typeface="Roboto Slab"/>
                <a:ea typeface="Roboto Slab"/>
                <a:cs typeface="Roboto Slab"/>
                <a:sym typeface="Roboto Slab"/>
              </a:rPr>
              <a:t>Səfirlik: Bir dövlətin digər dövlət yanında fəaliyyət göstərən ali diplomatik nümayəndəliyi.</a:t>
            </a:r>
          </a:p>
          <a:p>
            <a:pPr algn="l">
              <a:lnSpc>
                <a:spcPts val="4734"/>
              </a:lnSpc>
            </a:pPr>
          </a:p>
        </p:txBody>
      </p:sp>
      <p:sp>
        <p:nvSpPr>
          <p:cNvPr name="Freeform 7" id="7"/>
          <p:cNvSpPr/>
          <p:nvPr/>
        </p:nvSpPr>
        <p:spPr>
          <a:xfrm flipH="false" flipV="false" rot="0">
            <a:off x="10636386" y="1797105"/>
            <a:ext cx="7981883" cy="5966458"/>
          </a:xfrm>
          <a:custGeom>
            <a:avLst/>
            <a:gdLst/>
            <a:ahLst/>
            <a:cxnLst/>
            <a:rect r="r" b="b" t="t" l="l"/>
            <a:pathLst>
              <a:path h="5966458" w="7981883">
                <a:moveTo>
                  <a:pt x="0" y="0"/>
                </a:moveTo>
                <a:lnTo>
                  <a:pt x="7981883" y="0"/>
                </a:lnTo>
                <a:lnTo>
                  <a:pt x="7981883" y="5966458"/>
                </a:lnTo>
                <a:lnTo>
                  <a:pt x="0" y="5966458"/>
                </a:lnTo>
                <a:lnTo>
                  <a:pt x="0" y="0"/>
                </a:lnTo>
                <a:close/>
              </a:path>
            </a:pathLst>
          </a:custGeom>
          <a:blipFill>
            <a:blip r:embed="rId4"/>
            <a:stretch>
              <a:fillRect l="0" t="0" r="0" b="0"/>
            </a:stretch>
          </a:blipFill>
        </p:spPr>
      </p:sp>
      <p:sp>
        <p:nvSpPr>
          <p:cNvPr name="TextBox 8" id="8"/>
          <p:cNvSpPr txBox="true"/>
          <p:nvPr/>
        </p:nvSpPr>
        <p:spPr>
          <a:xfrm rot="0">
            <a:off x="695228" y="231686"/>
            <a:ext cx="12530734" cy="796427"/>
          </a:xfrm>
          <a:prstGeom prst="rect">
            <a:avLst/>
          </a:prstGeom>
        </p:spPr>
        <p:txBody>
          <a:bodyPr anchor="t" rtlCol="false" tIns="0" lIns="0" bIns="0" rIns="0">
            <a:spAutoFit/>
          </a:bodyPr>
          <a:lstStyle/>
          <a:p>
            <a:pPr algn="l">
              <a:lnSpc>
                <a:spcPts val="6502"/>
              </a:lnSpc>
              <a:spcBef>
                <a:spcPct val="0"/>
              </a:spcBef>
            </a:pPr>
            <a:r>
              <a:rPr lang="en-US" b="true" sz="4644">
                <a:solidFill>
                  <a:srgbClr val="000000"/>
                </a:solidFill>
                <a:latin typeface="Roboto Slab Bold"/>
                <a:ea typeface="Roboto Slab Bold"/>
                <a:cs typeface="Roboto Slab Bold"/>
                <a:sym typeface="Roboto Slab Bold"/>
              </a:rPr>
              <a:t>Sosial Və Siyasi Leksika</a:t>
            </a:r>
          </a:p>
        </p:txBody>
      </p:sp>
      <p:grpSp>
        <p:nvGrpSpPr>
          <p:cNvPr name="Group 9" id="9"/>
          <p:cNvGrpSpPr/>
          <p:nvPr/>
        </p:nvGrpSpPr>
        <p:grpSpPr>
          <a:xfrm rot="-5400000">
            <a:off x="14210311" y="6209311"/>
            <a:ext cx="7035932" cy="1119445"/>
            <a:chOff x="0" y="0"/>
            <a:chExt cx="1425301" cy="226770"/>
          </a:xfrm>
        </p:grpSpPr>
        <p:sp>
          <p:nvSpPr>
            <p:cNvPr name="Freeform 10" id="10"/>
            <p:cNvSpPr/>
            <p:nvPr/>
          </p:nvSpPr>
          <p:spPr>
            <a:xfrm flipH="false" flipV="false" rot="0">
              <a:off x="0" y="0"/>
              <a:ext cx="1425301" cy="226361"/>
            </a:xfrm>
            <a:custGeom>
              <a:avLst/>
              <a:gdLst/>
              <a:ahLst/>
              <a:cxnLst/>
              <a:rect r="r" b="b" t="t" l="l"/>
              <a:pathLst>
                <a:path h="226361" w="1425301">
                  <a:moveTo>
                    <a:pt x="712650" y="0"/>
                  </a:moveTo>
                  <a:lnTo>
                    <a:pt x="1425301" y="226361"/>
                  </a:lnTo>
                  <a:lnTo>
                    <a:pt x="0" y="226361"/>
                  </a:lnTo>
                  <a:close/>
                </a:path>
              </a:pathLst>
            </a:custGeom>
            <a:solidFill>
              <a:srgbClr val="4382EB"/>
            </a:solidFill>
          </p:spPr>
        </p:sp>
        <p:sp>
          <p:nvSpPr>
            <p:cNvPr name="TextBox 11" id="11"/>
            <p:cNvSpPr txBox="true"/>
            <p:nvPr/>
          </p:nvSpPr>
          <p:spPr>
            <a:xfrm>
              <a:off x="301772" y="48075"/>
              <a:ext cx="821756" cy="17828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062879" y="6769034"/>
            <a:ext cx="2225121" cy="3517966"/>
            <a:chOff x="0" y="0"/>
            <a:chExt cx="450753" cy="712647"/>
          </a:xfrm>
        </p:grpSpPr>
        <p:sp>
          <p:nvSpPr>
            <p:cNvPr name="Freeform 13" id="13"/>
            <p:cNvSpPr/>
            <p:nvPr/>
          </p:nvSpPr>
          <p:spPr>
            <a:xfrm flipH="false" flipV="false" rot="0">
              <a:off x="0" y="0"/>
              <a:ext cx="450753" cy="711363"/>
            </a:xfrm>
            <a:custGeom>
              <a:avLst/>
              <a:gdLst/>
              <a:ahLst/>
              <a:cxnLst/>
              <a:rect r="r" b="b" t="t" l="l"/>
              <a:pathLst>
                <a:path h="711363" w="450753">
                  <a:moveTo>
                    <a:pt x="225376" y="0"/>
                  </a:moveTo>
                  <a:lnTo>
                    <a:pt x="450753" y="711363"/>
                  </a:lnTo>
                  <a:lnTo>
                    <a:pt x="0" y="711363"/>
                  </a:lnTo>
                  <a:close/>
                </a:path>
              </a:pathLst>
            </a:custGeom>
            <a:solidFill>
              <a:srgbClr val="4382EB"/>
            </a:solidFill>
          </p:spPr>
        </p:sp>
        <p:sp>
          <p:nvSpPr>
            <p:cNvPr name="TextBox 14" id="14"/>
            <p:cNvSpPr txBox="true"/>
            <p:nvPr/>
          </p:nvSpPr>
          <p:spPr>
            <a:xfrm>
              <a:off x="95436" y="253121"/>
              <a:ext cx="259881" cy="458243"/>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5400000">
            <a:off x="14179439" y="3079861"/>
            <a:ext cx="7188422" cy="1028700"/>
            <a:chOff x="0" y="0"/>
            <a:chExt cx="1893247" cy="270932"/>
          </a:xfrm>
        </p:grpSpPr>
        <p:sp>
          <p:nvSpPr>
            <p:cNvPr name="Freeform 16" id="16"/>
            <p:cNvSpPr/>
            <p:nvPr/>
          </p:nvSpPr>
          <p:spPr>
            <a:xfrm flipH="false" flipV="false" rot="0">
              <a:off x="0" y="0"/>
              <a:ext cx="1893247" cy="270444"/>
            </a:xfrm>
            <a:custGeom>
              <a:avLst/>
              <a:gdLst/>
              <a:ahLst/>
              <a:cxnLst/>
              <a:rect r="r" b="b" t="t" l="l"/>
              <a:pathLst>
                <a:path h="270444" w="1893247">
                  <a:moveTo>
                    <a:pt x="946623" y="0"/>
                  </a:moveTo>
                  <a:lnTo>
                    <a:pt x="1893247" y="270444"/>
                  </a:lnTo>
                  <a:lnTo>
                    <a:pt x="0" y="270444"/>
                  </a:lnTo>
                  <a:close/>
                </a:path>
              </a:pathLst>
            </a:custGeom>
            <a:solidFill>
              <a:srgbClr val="2C58A0"/>
            </a:solidFill>
          </p:spPr>
        </p:sp>
        <p:sp>
          <p:nvSpPr>
            <p:cNvPr name="TextBox 17" id="17"/>
            <p:cNvSpPr txBox="true"/>
            <p:nvPr/>
          </p:nvSpPr>
          <p:spPr>
            <a:xfrm>
              <a:off x="400848" y="66712"/>
              <a:ext cx="1091550" cy="203732"/>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10800000">
            <a:off x="16236927" y="0"/>
            <a:ext cx="2044747" cy="3594211"/>
            <a:chOff x="0" y="0"/>
            <a:chExt cx="538534" cy="946619"/>
          </a:xfrm>
        </p:grpSpPr>
        <p:sp>
          <p:nvSpPr>
            <p:cNvPr name="Freeform 19" id="19"/>
            <p:cNvSpPr/>
            <p:nvPr/>
          </p:nvSpPr>
          <p:spPr>
            <a:xfrm flipH="false" flipV="false" rot="0">
              <a:off x="0" y="0"/>
              <a:ext cx="538534" cy="944914"/>
            </a:xfrm>
            <a:custGeom>
              <a:avLst/>
              <a:gdLst/>
              <a:ahLst/>
              <a:cxnLst/>
              <a:rect r="r" b="b" t="t" l="l"/>
              <a:pathLst>
                <a:path h="944914" w="538534">
                  <a:moveTo>
                    <a:pt x="269267" y="0"/>
                  </a:moveTo>
                  <a:lnTo>
                    <a:pt x="538534" y="944914"/>
                  </a:lnTo>
                  <a:lnTo>
                    <a:pt x="0" y="944914"/>
                  </a:lnTo>
                  <a:close/>
                </a:path>
              </a:pathLst>
            </a:custGeom>
            <a:solidFill>
              <a:srgbClr val="2C58A0"/>
            </a:solidFill>
          </p:spPr>
        </p:sp>
        <p:sp>
          <p:nvSpPr>
            <p:cNvPr name="TextBox 20" id="20"/>
            <p:cNvSpPr txBox="true"/>
            <p:nvPr/>
          </p:nvSpPr>
          <p:spPr>
            <a:xfrm>
              <a:off x="114021" y="351860"/>
              <a:ext cx="310492" cy="593054"/>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5400000">
            <a:off x="15813848" y="7819175"/>
            <a:ext cx="4147297" cy="788353"/>
            <a:chOff x="0" y="0"/>
            <a:chExt cx="1425301" cy="270932"/>
          </a:xfrm>
        </p:grpSpPr>
        <p:sp>
          <p:nvSpPr>
            <p:cNvPr name="Freeform 22" id="22"/>
            <p:cNvSpPr/>
            <p:nvPr/>
          </p:nvSpPr>
          <p:spPr>
            <a:xfrm flipH="false" flipV="false" rot="0">
              <a:off x="0" y="0"/>
              <a:ext cx="1425301" cy="270444"/>
            </a:xfrm>
            <a:custGeom>
              <a:avLst/>
              <a:gdLst/>
              <a:ahLst/>
              <a:cxnLst/>
              <a:rect r="r" b="b" t="t" l="l"/>
              <a:pathLst>
                <a:path h="270444" w="1425301">
                  <a:moveTo>
                    <a:pt x="712650" y="0"/>
                  </a:moveTo>
                  <a:lnTo>
                    <a:pt x="1425301" y="270444"/>
                  </a:lnTo>
                  <a:lnTo>
                    <a:pt x="0" y="270444"/>
                  </a:lnTo>
                  <a:close/>
                </a:path>
              </a:pathLst>
            </a:custGeom>
            <a:solidFill>
              <a:srgbClr val="84A5FF"/>
            </a:solidFill>
          </p:spPr>
        </p:sp>
        <p:sp>
          <p:nvSpPr>
            <p:cNvPr name="TextBox 23" id="23"/>
            <p:cNvSpPr txBox="true"/>
            <p:nvPr/>
          </p:nvSpPr>
          <p:spPr>
            <a:xfrm>
              <a:off x="301772" y="66712"/>
              <a:ext cx="821756" cy="203732"/>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6714663" y="8213352"/>
            <a:ext cx="1567010" cy="2073648"/>
            <a:chOff x="0" y="0"/>
            <a:chExt cx="538534" cy="712647"/>
          </a:xfrm>
        </p:grpSpPr>
        <p:sp>
          <p:nvSpPr>
            <p:cNvPr name="Freeform 25" id="25"/>
            <p:cNvSpPr/>
            <p:nvPr/>
          </p:nvSpPr>
          <p:spPr>
            <a:xfrm flipH="false" flipV="false" rot="0">
              <a:off x="0" y="0"/>
              <a:ext cx="538534" cy="711363"/>
            </a:xfrm>
            <a:custGeom>
              <a:avLst/>
              <a:gdLst/>
              <a:ahLst/>
              <a:cxnLst/>
              <a:rect r="r" b="b" t="t" l="l"/>
              <a:pathLst>
                <a:path h="711363" w="538534">
                  <a:moveTo>
                    <a:pt x="269267" y="0"/>
                  </a:moveTo>
                  <a:lnTo>
                    <a:pt x="538534" y="711363"/>
                  </a:lnTo>
                  <a:lnTo>
                    <a:pt x="0" y="711363"/>
                  </a:lnTo>
                  <a:close/>
                </a:path>
              </a:pathLst>
            </a:custGeom>
            <a:solidFill>
              <a:srgbClr val="84A5FF"/>
            </a:solidFill>
          </p:spPr>
        </p:sp>
        <p:sp>
          <p:nvSpPr>
            <p:cNvPr name="TextBox 26" id="26"/>
            <p:cNvSpPr txBox="true"/>
            <p:nvPr/>
          </p:nvSpPr>
          <p:spPr>
            <a:xfrm>
              <a:off x="114021" y="253121"/>
              <a:ext cx="310492" cy="458243"/>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5400000">
            <a:off x="13755459" y="3680810"/>
            <a:ext cx="8215339" cy="849744"/>
            <a:chOff x="0" y="0"/>
            <a:chExt cx="2163711" cy="223800"/>
          </a:xfrm>
        </p:grpSpPr>
        <p:sp>
          <p:nvSpPr>
            <p:cNvPr name="Freeform 28" id="28"/>
            <p:cNvSpPr/>
            <p:nvPr/>
          </p:nvSpPr>
          <p:spPr>
            <a:xfrm flipH="false" flipV="false" rot="0">
              <a:off x="0" y="0"/>
              <a:ext cx="2163711" cy="223397"/>
            </a:xfrm>
            <a:custGeom>
              <a:avLst/>
              <a:gdLst/>
              <a:ahLst/>
              <a:cxnLst/>
              <a:rect r="r" b="b" t="t" l="l"/>
              <a:pathLst>
                <a:path h="223397" w="2163711">
                  <a:moveTo>
                    <a:pt x="1081855" y="0"/>
                  </a:moveTo>
                  <a:lnTo>
                    <a:pt x="2163711" y="223397"/>
                  </a:lnTo>
                  <a:lnTo>
                    <a:pt x="0" y="223397"/>
                  </a:lnTo>
                  <a:close/>
                </a:path>
              </a:pathLst>
            </a:custGeom>
            <a:solidFill>
              <a:srgbClr val="A4C7FF"/>
            </a:solidFill>
          </p:spPr>
        </p:sp>
        <p:sp>
          <p:nvSpPr>
            <p:cNvPr name="TextBox 29" id="29"/>
            <p:cNvSpPr txBox="true"/>
            <p:nvPr/>
          </p:nvSpPr>
          <p:spPr>
            <a:xfrm>
              <a:off x="458112" y="46821"/>
              <a:ext cx="1247486" cy="176575"/>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10800000">
            <a:off x="16593738" y="-1987"/>
            <a:ext cx="1689036" cy="4107669"/>
            <a:chOff x="0" y="0"/>
            <a:chExt cx="444849" cy="1081850"/>
          </a:xfrm>
        </p:grpSpPr>
        <p:sp>
          <p:nvSpPr>
            <p:cNvPr name="Freeform 31" id="31"/>
            <p:cNvSpPr/>
            <p:nvPr/>
          </p:nvSpPr>
          <p:spPr>
            <a:xfrm flipH="false" flipV="false" rot="0">
              <a:off x="0" y="0"/>
              <a:ext cx="444849" cy="1079901"/>
            </a:xfrm>
            <a:custGeom>
              <a:avLst/>
              <a:gdLst/>
              <a:ahLst/>
              <a:cxnLst/>
              <a:rect r="r" b="b" t="t" l="l"/>
              <a:pathLst>
                <a:path h="1079901" w="444849">
                  <a:moveTo>
                    <a:pt x="222424" y="0"/>
                  </a:moveTo>
                  <a:lnTo>
                    <a:pt x="444849" y="1079901"/>
                  </a:lnTo>
                  <a:lnTo>
                    <a:pt x="0" y="1079901"/>
                  </a:lnTo>
                  <a:close/>
                </a:path>
              </a:pathLst>
            </a:custGeom>
            <a:solidFill>
              <a:srgbClr val="A4C7FF"/>
            </a:solidFill>
          </p:spPr>
        </p:sp>
        <p:sp>
          <p:nvSpPr>
            <p:cNvPr name="TextBox 32" id="32"/>
            <p:cNvSpPr txBox="true"/>
            <p:nvPr/>
          </p:nvSpPr>
          <p:spPr>
            <a:xfrm>
              <a:off x="94186" y="408929"/>
              <a:ext cx="256477" cy="67097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29126" y="1225206"/>
            <a:ext cx="12707801" cy="8799272"/>
            <a:chOff x="0" y="0"/>
            <a:chExt cx="4735030" cy="3278681"/>
          </a:xfrm>
        </p:grpSpPr>
        <p:sp>
          <p:nvSpPr>
            <p:cNvPr name="Freeform 3" id="3"/>
            <p:cNvSpPr/>
            <p:nvPr/>
          </p:nvSpPr>
          <p:spPr>
            <a:xfrm flipH="false" flipV="false" rot="0">
              <a:off x="0" y="0"/>
              <a:ext cx="4735030" cy="3278680"/>
            </a:xfrm>
            <a:custGeom>
              <a:avLst/>
              <a:gdLst/>
              <a:ahLst/>
              <a:cxnLst/>
              <a:rect r="r" b="b" t="t" l="l"/>
              <a:pathLst>
                <a:path h="3278680" w="4735030">
                  <a:moveTo>
                    <a:pt x="31680" y="0"/>
                  </a:moveTo>
                  <a:lnTo>
                    <a:pt x="4703351" y="0"/>
                  </a:lnTo>
                  <a:cubicBezTo>
                    <a:pt x="4720847" y="0"/>
                    <a:pt x="4735030" y="14184"/>
                    <a:pt x="4735030" y="31680"/>
                  </a:cubicBezTo>
                  <a:lnTo>
                    <a:pt x="4735030" y="3247001"/>
                  </a:lnTo>
                  <a:cubicBezTo>
                    <a:pt x="4735030" y="3264497"/>
                    <a:pt x="4720847" y="3278680"/>
                    <a:pt x="4703351" y="3278680"/>
                  </a:cubicBezTo>
                  <a:lnTo>
                    <a:pt x="31680" y="3278680"/>
                  </a:lnTo>
                  <a:cubicBezTo>
                    <a:pt x="14184" y="3278680"/>
                    <a:pt x="0" y="3264497"/>
                    <a:pt x="0" y="3247001"/>
                  </a:cubicBezTo>
                  <a:lnTo>
                    <a:pt x="0" y="31680"/>
                  </a:lnTo>
                  <a:cubicBezTo>
                    <a:pt x="0" y="14184"/>
                    <a:pt x="14184" y="0"/>
                    <a:pt x="31680" y="0"/>
                  </a:cubicBezTo>
                  <a:close/>
                </a:path>
              </a:pathLst>
            </a:custGeom>
            <a:solidFill>
              <a:srgbClr val="FFFFFF">
                <a:alpha val="85882"/>
              </a:srgbClr>
            </a:solidFill>
            <a:ln w="19050" cap="rnd">
              <a:solidFill>
                <a:srgbClr val="000000">
                  <a:alpha val="85882"/>
                </a:srgbClr>
              </a:solidFill>
              <a:prstDash val="solid"/>
              <a:round/>
            </a:ln>
          </p:spPr>
        </p:sp>
        <p:sp>
          <p:nvSpPr>
            <p:cNvPr name="TextBox 4" id="4"/>
            <p:cNvSpPr txBox="true"/>
            <p:nvPr/>
          </p:nvSpPr>
          <p:spPr>
            <a:xfrm>
              <a:off x="0" y="-47625"/>
              <a:ext cx="4735030" cy="332630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222409" y="1489138"/>
            <a:ext cx="631665" cy="776948"/>
          </a:xfrm>
          <a:custGeom>
            <a:avLst/>
            <a:gdLst/>
            <a:ahLst/>
            <a:cxnLst/>
            <a:rect r="r" b="b" t="t" l="l"/>
            <a:pathLst>
              <a:path h="776948" w="631665">
                <a:moveTo>
                  <a:pt x="0" y="0"/>
                </a:moveTo>
                <a:lnTo>
                  <a:pt x="631664" y="0"/>
                </a:lnTo>
                <a:lnTo>
                  <a:pt x="631664" y="776948"/>
                </a:lnTo>
                <a:lnTo>
                  <a:pt x="0" y="7769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857851" y="1412938"/>
            <a:ext cx="11364557" cy="8376254"/>
          </a:xfrm>
          <a:prstGeom prst="rect">
            <a:avLst/>
          </a:prstGeom>
        </p:spPr>
        <p:txBody>
          <a:bodyPr anchor="t" rtlCol="false" tIns="0" lIns="0" bIns="0" rIns="0">
            <a:spAutoFit/>
          </a:bodyPr>
          <a:lstStyle/>
          <a:p>
            <a:pPr algn="l">
              <a:lnSpc>
                <a:spcPts val="5562"/>
              </a:lnSpc>
            </a:pPr>
            <a:r>
              <a:rPr lang="en-US" sz="3973">
                <a:solidFill>
                  <a:srgbClr val="000000"/>
                </a:solidFill>
                <a:latin typeface="Roboto Slab"/>
                <a:ea typeface="Roboto Slab"/>
                <a:cs typeface="Roboto Slab"/>
                <a:sym typeface="Roboto Slab"/>
              </a:rPr>
              <a:t>Mədəni və gündəlik leksikada neologizmlər həm yeni yaşam tərzini, həm də sosial ünsiyyətin dəyişməsini əks etdirir. Bu tip sözlər bəzən bədii üslubdan, bəzən də danışıq dilindən ədəbi dilə keçir.</a:t>
            </a:r>
          </a:p>
          <a:p>
            <a:pPr algn="l">
              <a:lnSpc>
                <a:spcPts val="5562"/>
              </a:lnSpc>
            </a:pPr>
          </a:p>
          <a:p>
            <a:pPr algn="l" marL="857833" indent="-428916" lvl="1">
              <a:lnSpc>
                <a:spcPts val="5562"/>
              </a:lnSpc>
              <a:buFont typeface="Arial"/>
              <a:buChar char="•"/>
            </a:pPr>
            <a:r>
              <a:rPr lang="en-US" sz="3973">
                <a:solidFill>
                  <a:srgbClr val="000000"/>
                </a:solidFill>
                <a:latin typeface="Roboto Slab"/>
                <a:ea typeface="Roboto Slab"/>
                <a:cs typeface="Roboto Slab"/>
                <a:sym typeface="Roboto Slab"/>
              </a:rPr>
              <a:t>Selfi: İnsanın özü-özünü (adətən smartfonla) çəkdiyi fotoşəkil; özçəkim.</a:t>
            </a:r>
          </a:p>
          <a:p>
            <a:pPr algn="l" marL="857833" indent="-428916" lvl="1">
              <a:lnSpc>
                <a:spcPts val="5562"/>
              </a:lnSpc>
              <a:buFont typeface="Arial"/>
              <a:buChar char="•"/>
            </a:pPr>
            <a:r>
              <a:rPr lang="en-US" sz="3973">
                <a:solidFill>
                  <a:srgbClr val="000000"/>
                </a:solidFill>
                <a:latin typeface="Roboto Slab"/>
                <a:ea typeface="Roboto Slab"/>
                <a:cs typeface="Roboto Slab"/>
                <a:sym typeface="Roboto Slab"/>
              </a:rPr>
              <a:t>Şopinq: Mağazaları gəzərək alış-veriş etmə prosesi.</a:t>
            </a:r>
          </a:p>
          <a:p>
            <a:pPr algn="l" marL="857833" indent="-428916" lvl="1">
              <a:lnSpc>
                <a:spcPts val="5562"/>
              </a:lnSpc>
              <a:buFont typeface="Arial"/>
              <a:buChar char="•"/>
            </a:pPr>
            <a:r>
              <a:rPr lang="en-US" sz="3973">
                <a:solidFill>
                  <a:srgbClr val="000000"/>
                </a:solidFill>
                <a:latin typeface="Roboto Slab"/>
                <a:ea typeface="Roboto Slab"/>
                <a:cs typeface="Roboto Slab"/>
                <a:sym typeface="Roboto Slab"/>
              </a:rPr>
              <a:t>Brend: Tanınmış ticarət nişanı, məşhur məhsul və ya xidmət markası.</a:t>
            </a:r>
          </a:p>
        </p:txBody>
      </p:sp>
      <p:grpSp>
        <p:nvGrpSpPr>
          <p:cNvPr name="Group 7" id="7"/>
          <p:cNvGrpSpPr/>
          <p:nvPr/>
        </p:nvGrpSpPr>
        <p:grpSpPr>
          <a:xfrm rot="-5400000">
            <a:off x="14210311" y="6209311"/>
            <a:ext cx="7035932" cy="1119445"/>
            <a:chOff x="0" y="0"/>
            <a:chExt cx="1425301" cy="226770"/>
          </a:xfrm>
        </p:grpSpPr>
        <p:sp>
          <p:nvSpPr>
            <p:cNvPr name="Freeform 8" id="8"/>
            <p:cNvSpPr/>
            <p:nvPr/>
          </p:nvSpPr>
          <p:spPr>
            <a:xfrm flipH="false" flipV="false" rot="0">
              <a:off x="0" y="0"/>
              <a:ext cx="1425301" cy="226361"/>
            </a:xfrm>
            <a:custGeom>
              <a:avLst/>
              <a:gdLst/>
              <a:ahLst/>
              <a:cxnLst/>
              <a:rect r="r" b="b" t="t" l="l"/>
              <a:pathLst>
                <a:path h="226361" w="1425301">
                  <a:moveTo>
                    <a:pt x="712650" y="0"/>
                  </a:moveTo>
                  <a:lnTo>
                    <a:pt x="1425301" y="226361"/>
                  </a:lnTo>
                  <a:lnTo>
                    <a:pt x="0" y="226361"/>
                  </a:lnTo>
                  <a:close/>
                </a:path>
              </a:pathLst>
            </a:custGeom>
            <a:solidFill>
              <a:srgbClr val="4382EB"/>
            </a:solidFill>
          </p:spPr>
        </p:sp>
        <p:sp>
          <p:nvSpPr>
            <p:cNvPr name="TextBox 9" id="9"/>
            <p:cNvSpPr txBox="true"/>
            <p:nvPr/>
          </p:nvSpPr>
          <p:spPr>
            <a:xfrm>
              <a:off x="301772" y="48075"/>
              <a:ext cx="821756" cy="178287"/>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6062879" y="6769034"/>
            <a:ext cx="2225121" cy="3517966"/>
            <a:chOff x="0" y="0"/>
            <a:chExt cx="450753" cy="712647"/>
          </a:xfrm>
        </p:grpSpPr>
        <p:sp>
          <p:nvSpPr>
            <p:cNvPr name="Freeform 11" id="11"/>
            <p:cNvSpPr/>
            <p:nvPr/>
          </p:nvSpPr>
          <p:spPr>
            <a:xfrm flipH="false" flipV="false" rot="0">
              <a:off x="0" y="0"/>
              <a:ext cx="450753" cy="711363"/>
            </a:xfrm>
            <a:custGeom>
              <a:avLst/>
              <a:gdLst/>
              <a:ahLst/>
              <a:cxnLst/>
              <a:rect r="r" b="b" t="t" l="l"/>
              <a:pathLst>
                <a:path h="711363" w="450753">
                  <a:moveTo>
                    <a:pt x="225376" y="0"/>
                  </a:moveTo>
                  <a:lnTo>
                    <a:pt x="450753" y="711363"/>
                  </a:lnTo>
                  <a:lnTo>
                    <a:pt x="0" y="711363"/>
                  </a:lnTo>
                  <a:close/>
                </a:path>
              </a:pathLst>
            </a:custGeom>
            <a:solidFill>
              <a:srgbClr val="4382EB"/>
            </a:solidFill>
          </p:spPr>
        </p:sp>
        <p:sp>
          <p:nvSpPr>
            <p:cNvPr name="TextBox 12" id="12"/>
            <p:cNvSpPr txBox="true"/>
            <p:nvPr/>
          </p:nvSpPr>
          <p:spPr>
            <a:xfrm>
              <a:off x="95436" y="253121"/>
              <a:ext cx="259881" cy="458243"/>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5400000">
            <a:off x="14179439" y="3079861"/>
            <a:ext cx="7188422" cy="1028700"/>
            <a:chOff x="0" y="0"/>
            <a:chExt cx="1893247" cy="270932"/>
          </a:xfrm>
        </p:grpSpPr>
        <p:sp>
          <p:nvSpPr>
            <p:cNvPr name="Freeform 14" id="14"/>
            <p:cNvSpPr/>
            <p:nvPr/>
          </p:nvSpPr>
          <p:spPr>
            <a:xfrm flipH="false" flipV="false" rot="0">
              <a:off x="0" y="0"/>
              <a:ext cx="1893247" cy="270444"/>
            </a:xfrm>
            <a:custGeom>
              <a:avLst/>
              <a:gdLst/>
              <a:ahLst/>
              <a:cxnLst/>
              <a:rect r="r" b="b" t="t" l="l"/>
              <a:pathLst>
                <a:path h="270444" w="1893247">
                  <a:moveTo>
                    <a:pt x="946623" y="0"/>
                  </a:moveTo>
                  <a:lnTo>
                    <a:pt x="1893247" y="270444"/>
                  </a:lnTo>
                  <a:lnTo>
                    <a:pt x="0" y="270444"/>
                  </a:lnTo>
                  <a:close/>
                </a:path>
              </a:pathLst>
            </a:custGeom>
            <a:solidFill>
              <a:srgbClr val="2C58A0"/>
            </a:solidFill>
          </p:spPr>
        </p:sp>
        <p:sp>
          <p:nvSpPr>
            <p:cNvPr name="TextBox 15" id="15"/>
            <p:cNvSpPr txBox="true"/>
            <p:nvPr/>
          </p:nvSpPr>
          <p:spPr>
            <a:xfrm>
              <a:off x="400848" y="66712"/>
              <a:ext cx="1091550" cy="20373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10800000">
            <a:off x="16236927" y="0"/>
            <a:ext cx="2044747" cy="3594211"/>
            <a:chOff x="0" y="0"/>
            <a:chExt cx="538534" cy="946619"/>
          </a:xfrm>
        </p:grpSpPr>
        <p:sp>
          <p:nvSpPr>
            <p:cNvPr name="Freeform 17" id="17"/>
            <p:cNvSpPr/>
            <p:nvPr/>
          </p:nvSpPr>
          <p:spPr>
            <a:xfrm flipH="false" flipV="false" rot="0">
              <a:off x="0" y="0"/>
              <a:ext cx="538534" cy="944914"/>
            </a:xfrm>
            <a:custGeom>
              <a:avLst/>
              <a:gdLst/>
              <a:ahLst/>
              <a:cxnLst/>
              <a:rect r="r" b="b" t="t" l="l"/>
              <a:pathLst>
                <a:path h="944914" w="538534">
                  <a:moveTo>
                    <a:pt x="269267" y="0"/>
                  </a:moveTo>
                  <a:lnTo>
                    <a:pt x="538534" y="944914"/>
                  </a:lnTo>
                  <a:lnTo>
                    <a:pt x="0" y="944914"/>
                  </a:lnTo>
                  <a:close/>
                </a:path>
              </a:pathLst>
            </a:custGeom>
            <a:solidFill>
              <a:srgbClr val="2C58A0"/>
            </a:solidFill>
          </p:spPr>
        </p:sp>
        <p:sp>
          <p:nvSpPr>
            <p:cNvPr name="TextBox 18" id="18"/>
            <p:cNvSpPr txBox="true"/>
            <p:nvPr/>
          </p:nvSpPr>
          <p:spPr>
            <a:xfrm>
              <a:off x="114021" y="351860"/>
              <a:ext cx="310492" cy="593054"/>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5400000">
            <a:off x="15813848" y="7819175"/>
            <a:ext cx="4147297" cy="788353"/>
            <a:chOff x="0" y="0"/>
            <a:chExt cx="1425301" cy="270932"/>
          </a:xfrm>
        </p:grpSpPr>
        <p:sp>
          <p:nvSpPr>
            <p:cNvPr name="Freeform 20" id="20"/>
            <p:cNvSpPr/>
            <p:nvPr/>
          </p:nvSpPr>
          <p:spPr>
            <a:xfrm flipH="false" flipV="false" rot="0">
              <a:off x="0" y="0"/>
              <a:ext cx="1425301" cy="270444"/>
            </a:xfrm>
            <a:custGeom>
              <a:avLst/>
              <a:gdLst/>
              <a:ahLst/>
              <a:cxnLst/>
              <a:rect r="r" b="b" t="t" l="l"/>
              <a:pathLst>
                <a:path h="270444" w="1425301">
                  <a:moveTo>
                    <a:pt x="712650" y="0"/>
                  </a:moveTo>
                  <a:lnTo>
                    <a:pt x="1425301" y="270444"/>
                  </a:lnTo>
                  <a:lnTo>
                    <a:pt x="0" y="270444"/>
                  </a:lnTo>
                  <a:close/>
                </a:path>
              </a:pathLst>
            </a:custGeom>
            <a:solidFill>
              <a:srgbClr val="84A5FF"/>
            </a:solidFill>
          </p:spPr>
        </p:sp>
        <p:sp>
          <p:nvSpPr>
            <p:cNvPr name="TextBox 21" id="21"/>
            <p:cNvSpPr txBox="true"/>
            <p:nvPr/>
          </p:nvSpPr>
          <p:spPr>
            <a:xfrm>
              <a:off x="301772" y="66712"/>
              <a:ext cx="821756" cy="203732"/>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6714663" y="8213352"/>
            <a:ext cx="1567010" cy="2073648"/>
            <a:chOff x="0" y="0"/>
            <a:chExt cx="538534" cy="712647"/>
          </a:xfrm>
        </p:grpSpPr>
        <p:sp>
          <p:nvSpPr>
            <p:cNvPr name="Freeform 23" id="23"/>
            <p:cNvSpPr/>
            <p:nvPr/>
          </p:nvSpPr>
          <p:spPr>
            <a:xfrm flipH="false" flipV="false" rot="0">
              <a:off x="0" y="0"/>
              <a:ext cx="538534" cy="711363"/>
            </a:xfrm>
            <a:custGeom>
              <a:avLst/>
              <a:gdLst/>
              <a:ahLst/>
              <a:cxnLst/>
              <a:rect r="r" b="b" t="t" l="l"/>
              <a:pathLst>
                <a:path h="711363" w="538534">
                  <a:moveTo>
                    <a:pt x="269267" y="0"/>
                  </a:moveTo>
                  <a:lnTo>
                    <a:pt x="538534" y="711363"/>
                  </a:lnTo>
                  <a:lnTo>
                    <a:pt x="0" y="711363"/>
                  </a:lnTo>
                  <a:close/>
                </a:path>
              </a:pathLst>
            </a:custGeom>
            <a:solidFill>
              <a:srgbClr val="84A5FF"/>
            </a:solidFill>
          </p:spPr>
        </p:sp>
        <p:sp>
          <p:nvSpPr>
            <p:cNvPr name="TextBox 24" id="24"/>
            <p:cNvSpPr txBox="true"/>
            <p:nvPr/>
          </p:nvSpPr>
          <p:spPr>
            <a:xfrm>
              <a:off x="114021" y="253121"/>
              <a:ext cx="310492" cy="45824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5400000">
            <a:off x="13755459" y="3680810"/>
            <a:ext cx="8215339" cy="849744"/>
            <a:chOff x="0" y="0"/>
            <a:chExt cx="2163711" cy="223800"/>
          </a:xfrm>
        </p:grpSpPr>
        <p:sp>
          <p:nvSpPr>
            <p:cNvPr name="Freeform 26" id="26"/>
            <p:cNvSpPr/>
            <p:nvPr/>
          </p:nvSpPr>
          <p:spPr>
            <a:xfrm flipH="false" flipV="false" rot="0">
              <a:off x="0" y="0"/>
              <a:ext cx="2163711" cy="223397"/>
            </a:xfrm>
            <a:custGeom>
              <a:avLst/>
              <a:gdLst/>
              <a:ahLst/>
              <a:cxnLst/>
              <a:rect r="r" b="b" t="t" l="l"/>
              <a:pathLst>
                <a:path h="223397" w="2163711">
                  <a:moveTo>
                    <a:pt x="1081855" y="0"/>
                  </a:moveTo>
                  <a:lnTo>
                    <a:pt x="2163711" y="223397"/>
                  </a:lnTo>
                  <a:lnTo>
                    <a:pt x="0" y="223397"/>
                  </a:lnTo>
                  <a:close/>
                </a:path>
              </a:pathLst>
            </a:custGeom>
            <a:solidFill>
              <a:srgbClr val="A4C7FF"/>
            </a:solidFill>
          </p:spPr>
        </p:sp>
        <p:sp>
          <p:nvSpPr>
            <p:cNvPr name="TextBox 27" id="27"/>
            <p:cNvSpPr txBox="true"/>
            <p:nvPr/>
          </p:nvSpPr>
          <p:spPr>
            <a:xfrm>
              <a:off x="458112" y="46821"/>
              <a:ext cx="1247486" cy="176575"/>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10800000">
            <a:off x="16593738" y="-1987"/>
            <a:ext cx="1689036" cy="4107669"/>
            <a:chOff x="0" y="0"/>
            <a:chExt cx="444849" cy="1081850"/>
          </a:xfrm>
        </p:grpSpPr>
        <p:sp>
          <p:nvSpPr>
            <p:cNvPr name="Freeform 29" id="29"/>
            <p:cNvSpPr/>
            <p:nvPr/>
          </p:nvSpPr>
          <p:spPr>
            <a:xfrm flipH="false" flipV="false" rot="0">
              <a:off x="0" y="0"/>
              <a:ext cx="444849" cy="1079901"/>
            </a:xfrm>
            <a:custGeom>
              <a:avLst/>
              <a:gdLst/>
              <a:ahLst/>
              <a:cxnLst/>
              <a:rect r="r" b="b" t="t" l="l"/>
              <a:pathLst>
                <a:path h="1079901" w="444849">
                  <a:moveTo>
                    <a:pt x="222424" y="0"/>
                  </a:moveTo>
                  <a:lnTo>
                    <a:pt x="444849" y="1079901"/>
                  </a:lnTo>
                  <a:lnTo>
                    <a:pt x="0" y="1079901"/>
                  </a:lnTo>
                  <a:close/>
                </a:path>
              </a:pathLst>
            </a:custGeom>
            <a:solidFill>
              <a:srgbClr val="A4C7FF"/>
            </a:solidFill>
          </p:spPr>
        </p:sp>
        <p:sp>
          <p:nvSpPr>
            <p:cNvPr name="TextBox 30" id="30"/>
            <p:cNvSpPr txBox="true"/>
            <p:nvPr/>
          </p:nvSpPr>
          <p:spPr>
            <a:xfrm>
              <a:off x="94186" y="408929"/>
              <a:ext cx="256477" cy="670972"/>
            </a:xfrm>
            <a:prstGeom prst="rect">
              <a:avLst/>
            </a:prstGeom>
          </p:spPr>
          <p:txBody>
            <a:bodyPr anchor="ctr" rtlCol="false" tIns="50800" lIns="50800" bIns="50800" rIns="50800"/>
            <a:lstStyle/>
            <a:p>
              <a:pPr algn="ctr">
                <a:lnSpc>
                  <a:spcPts val="2659"/>
                </a:lnSpc>
              </a:pPr>
            </a:p>
          </p:txBody>
        </p:sp>
      </p:grpSp>
      <p:sp>
        <p:nvSpPr>
          <p:cNvPr name="Freeform 31" id="31"/>
          <p:cNvSpPr/>
          <p:nvPr/>
        </p:nvSpPr>
        <p:spPr>
          <a:xfrm flipH="false" flipV="false" rot="0">
            <a:off x="638175" y="1304886"/>
            <a:ext cx="2389486" cy="8719592"/>
          </a:xfrm>
          <a:custGeom>
            <a:avLst/>
            <a:gdLst/>
            <a:ahLst/>
            <a:cxnLst/>
            <a:rect r="r" b="b" t="t" l="l"/>
            <a:pathLst>
              <a:path h="8719592" w="2389486">
                <a:moveTo>
                  <a:pt x="0" y="0"/>
                </a:moveTo>
                <a:lnTo>
                  <a:pt x="2389486" y="0"/>
                </a:lnTo>
                <a:lnTo>
                  <a:pt x="2389486" y="8719592"/>
                </a:lnTo>
                <a:lnTo>
                  <a:pt x="0" y="8719592"/>
                </a:lnTo>
                <a:lnTo>
                  <a:pt x="0" y="0"/>
                </a:lnTo>
                <a:close/>
              </a:path>
            </a:pathLst>
          </a:custGeom>
          <a:blipFill>
            <a:blip r:embed="rId4"/>
            <a:stretch>
              <a:fillRect l="0" t="0" r="-273362" b="0"/>
            </a:stretch>
          </a:blipFill>
        </p:spPr>
      </p:sp>
      <p:sp>
        <p:nvSpPr>
          <p:cNvPr name="TextBox 32" id="32"/>
          <p:cNvSpPr txBox="true"/>
          <p:nvPr/>
        </p:nvSpPr>
        <p:spPr>
          <a:xfrm rot="0">
            <a:off x="544456" y="232273"/>
            <a:ext cx="8024163" cy="796427"/>
          </a:xfrm>
          <a:prstGeom prst="rect">
            <a:avLst/>
          </a:prstGeom>
        </p:spPr>
        <p:txBody>
          <a:bodyPr anchor="t" rtlCol="false" tIns="0" lIns="0" bIns="0" rIns="0">
            <a:spAutoFit/>
          </a:bodyPr>
          <a:lstStyle/>
          <a:p>
            <a:pPr algn="l">
              <a:lnSpc>
                <a:spcPts val="6502"/>
              </a:lnSpc>
              <a:spcBef>
                <a:spcPct val="0"/>
              </a:spcBef>
            </a:pPr>
            <a:r>
              <a:rPr lang="en-US" b="true" sz="4644">
                <a:solidFill>
                  <a:srgbClr val="000000"/>
                </a:solidFill>
                <a:latin typeface="Roboto Slab Bold"/>
                <a:ea typeface="Roboto Slab Bold"/>
                <a:cs typeface="Roboto Slab Bold"/>
                <a:sym typeface="Roboto Slab Bold"/>
              </a:rPr>
              <a:t>Mədəni və gündəlik leksika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5228" y="1234439"/>
            <a:ext cx="9803091" cy="8802715"/>
            <a:chOff x="0" y="0"/>
            <a:chExt cx="4203384" cy="3774441"/>
          </a:xfrm>
        </p:grpSpPr>
        <p:sp>
          <p:nvSpPr>
            <p:cNvPr name="Freeform 3" id="3"/>
            <p:cNvSpPr/>
            <p:nvPr/>
          </p:nvSpPr>
          <p:spPr>
            <a:xfrm flipH="false" flipV="false" rot="0">
              <a:off x="0" y="0"/>
              <a:ext cx="4203384" cy="3774441"/>
            </a:xfrm>
            <a:custGeom>
              <a:avLst/>
              <a:gdLst/>
              <a:ahLst/>
              <a:cxnLst/>
              <a:rect r="r" b="b" t="t" l="l"/>
              <a:pathLst>
                <a:path h="3774441" w="4203384">
                  <a:moveTo>
                    <a:pt x="41067" y="0"/>
                  </a:moveTo>
                  <a:lnTo>
                    <a:pt x="4162318" y="0"/>
                  </a:lnTo>
                  <a:cubicBezTo>
                    <a:pt x="4184998" y="0"/>
                    <a:pt x="4203384" y="18386"/>
                    <a:pt x="4203384" y="41067"/>
                  </a:cubicBezTo>
                  <a:lnTo>
                    <a:pt x="4203384" y="3733375"/>
                  </a:lnTo>
                  <a:cubicBezTo>
                    <a:pt x="4203384" y="3744266"/>
                    <a:pt x="4199058" y="3754712"/>
                    <a:pt x="4191356" y="3762413"/>
                  </a:cubicBezTo>
                  <a:cubicBezTo>
                    <a:pt x="4183654" y="3770115"/>
                    <a:pt x="4173209" y="3774441"/>
                    <a:pt x="4162318" y="3774441"/>
                  </a:cubicBezTo>
                  <a:lnTo>
                    <a:pt x="41067" y="3774441"/>
                  </a:lnTo>
                  <a:cubicBezTo>
                    <a:pt x="30175" y="3774441"/>
                    <a:pt x="19730" y="3770115"/>
                    <a:pt x="12028" y="3762413"/>
                  </a:cubicBezTo>
                  <a:cubicBezTo>
                    <a:pt x="4327" y="3754712"/>
                    <a:pt x="0" y="3744266"/>
                    <a:pt x="0" y="3733375"/>
                  </a:cubicBezTo>
                  <a:lnTo>
                    <a:pt x="0" y="41067"/>
                  </a:lnTo>
                  <a:cubicBezTo>
                    <a:pt x="0" y="30175"/>
                    <a:pt x="4327" y="19730"/>
                    <a:pt x="12028" y="12028"/>
                  </a:cubicBezTo>
                  <a:cubicBezTo>
                    <a:pt x="19730" y="4327"/>
                    <a:pt x="30175" y="0"/>
                    <a:pt x="41067" y="0"/>
                  </a:cubicBezTo>
                  <a:close/>
                </a:path>
              </a:pathLst>
            </a:custGeom>
            <a:solidFill>
              <a:srgbClr val="A4C7FF">
                <a:alpha val="9804"/>
              </a:srgbClr>
            </a:solidFill>
            <a:ln cap="rnd">
              <a:noFill/>
              <a:prstDash val="solid"/>
              <a:round/>
            </a:ln>
          </p:spPr>
        </p:sp>
        <p:sp>
          <p:nvSpPr>
            <p:cNvPr name="TextBox 4" id="4"/>
            <p:cNvSpPr txBox="true"/>
            <p:nvPr/>
          </p:nvSpPr>
          <p:spPr>
            <a:xfrm>
              <a:off x="0" y="-47625"/>
              <a:ext cx="4203384" cy="382206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896244" y="3205785"/>
            <a:ext cx="7071986" cy="4860024"/>
          </a:xfrm>
          <a:custGeom>
            <a:avLst/>
            <a:gdLst/>
            <a:ahLst/>
            <a:cxnLst/>
            <a:rect r="r" b="b" t="t" l="l"/>
            <a:pathLst>
              <a:path h="4860024" w="7071986">
                <a:moveTo>
                  <a:pt x="0" y="0"/>
                </a:moveTo>
                <a:lnTo>
                  <a:pt x="7071986" y="0"/>
                </a:lnTo>
                <a:lnTo>
                  <a:pt x="7071986" y="4860024"/>
                </a:lnTo>
                <a:lnTo>
                  <a:pt x="0" y="4860024"/>
                </a:lnTo>
                <a:lnTo>
                  <a:pt x="0" y="0"/>
                </a:lnTo>
                <a:close/>
              </a:path>
            </a:pathLst>
          </a:custGeom>
          <a:blipFill>
            <a:blip r:embed="rId2"/>
            <a:stretch>
              <a:fillRect l="0" t="-7134" r="0" b="0"/>
            </a:stretch>
          </a:blipFill>
        </p:spPr>
      </p:sp>
      <p:sp>
        <p:nvSpPr>
          <p:cNvPr name="TextBox 6" id="6"/>
          <p:cNvSpPr txBox="true"/>
          <p:nvPr/>
        </p:nvSpPr>
        <p:spPr>
          <a:xfrm rot="0">
            <a:off x="1085034" y="1477655"/>
            <a:ext cx="9102279" cy="8809345"/>
          </a:xfrm>
          <a:prstGeom prst="rect">
            <a:avLst/>
          </a:prstGeom>
        </p:spPr>
        <p:txBody>
          <a:bodyPr anchor="t" rtlCol="false" tIns="0" lIns="0" bIns="0" rIns="0">
            <a:spAutoFit/>
          </a:bodyPr>
          <a:lstStyle/>
          <a:p>
            <a:pPr algn="l">
              <a:lnSpc>
                <a:spcPts val="5008"/>
              </a:lnSpc>
            </a:pPr>
            <a:r>
              <a:rPr lang="en-US" sz="3577">
                <a:solidFill>
                  <a:srgbClr val="000000"/>
                </a:solidFill>
                <a:latin typeface="Roboto Slab"/>
                <a:ea typeface="Roboto Slab"/>
                <a:cs typeface="Roboto Slab"/>
                <a:sym typeface="Roboto Slab"/>
              </a:rPr>
              <a:t>Yeni sözlərin ədəbi dilə daxil olması üçün müəyyən normalara uyğunlaşması</a:t>
            </a:r>
            <a:r>
              <a:rPr lang="en-US" sz="3577">
                <a:solidFill>
                  <a:srgbClr val="000000"/>
                </a:solidFill>
                <a:latin typeface="Roboto Slab"/>
                <a:ea typeface="Roboto Slab"/>
                <a:cs typeface="Roboto Slab"/>
                <a:sym typeface="Roboto Slab"/>
              </a:rPr>
              <a:t> va</a:t>
            </a:r>
            <a:r>
              <a:rPr lang="en-US" sz="3577">
                <a:solidFill>
                  <a:srgbClr val="000000"/>
                </a:solidFill>
                <a:latin typeface="Roboto Slab"/>
                <a:ea typeface="Roboto Slab"/>
                <a:cs typeface="Roboto Slab"/>
                <a:sym typeface="Roboto Slab"/>
              </a:rPr>
              <a:t>c</a:t>
            </a:r>
            <a:r>
              <a:rPr lang="en-US" sz="3577">
                <a:solidFill>
                  <a:srgbClr val="000000"/>
                </a:solidFill>
                <a:latin typeface="Roboto Slab"/>
                <a:ea typeface="Roboto Slab"/>
                <a:cs typeface="Roboto Slab"/>
                <a:sym typeface="Roboto Slab"/>
              </a:rPr>
              <a:t>i</a:t>
            </a:r>
            <a:r>
              <a:rPr lang="en-US" sz="3577">
                <a:solidFill>
                  <a:srgbClr val="000000"/>
                </a:solidFill>
                <a:latin typeface="Roboto Slab"/>
                <a:ea typeface="Roboto Slab"/>
                <a:cs typeface="Roboto Slab"/>
                <a:sym typeface="Roboto Slab"/>
              </a:rPr>
              <a:t>b</a:t>
            </a:r>
            <a:r>
              <a:rPr lang="en-US" sz="3577">
                <a:solidFill>
                  <a:srgbClr val="000000"/>
                </a:solidFill>
                <a:latin typeface="Roboto Slab"/>
                <a:ea typeface="Roboto Slab"/>
                <a:cs typeface="Roboto Slab"/>
                <a:sym typeface="Roboto Slab"/>
              </a:rPr>
              <a:t>d</a:t>
            </a:r>
            <a:r>
              <a:rPr lang="en-US" sz="3577">
                <a:solidFill>
                  <a:srgbClr val="000000"/>
                </a:solidFill>
                <a:latin typeface="Roboto Slab"/>
                <a:ea typeface="Roboto Slab"/>
                <a:cs typeface="Roboto Slab"/>
                <a:sym typeface="Roboto Slab"/>
              </a:rPr>
              <a:t>ir:</a:t>
            </a:r>
          </a:p>
          <a:p>
            <a:pPr algn="l" marL="772311" indent="-386155" lvl="1">
              <a:lnSpc>
                <a:spcPts val="5008"/>
              </a:lnSpc>
              <a:buFont typeface="Arial"/>
              <a:buChar char="•"/>
            </a:pPr>
            <a:r>
              <a:rPr lang="en-US" sz="3577">
                <a:solidFill>
                  <a:srgbClr val="000000"/>
                </a:solidFill>
                <a:latin typeface="Roboto Slab"/>
                <a:ea typeface="Roboto Slab"/>
                <a:cs typeface="Roboto Slab"/>
                <a:sym typeface="Roboto Slab"/>
              </a:rPr>
              <a:t>M</a:t>
            </a:r>
            <a:r>
              <a:rPr lang="en-US" sz="3577">
                <a:solidFill>
                  <a:srgbClr val="000000"/>
                </a:solidFill>
                <a:latin typeface="Roboto Slab"/>
                <a:ea typeface="Roboto Slab"/>
                <a:cs typeface="Roboto Slab"/>
                <a:sym typeface="Roboto Slab"/>
              </a:rPr>
              <a:t>ən</a:t>
            </a:r>
            <a:r>
              <a:rPr lang="en-US" sz="3577">
                <a:solidFill>
                  <a:srgbClr val="000000"/>
                </a:solidFill>
                <a:latin typeface="Roboto Slab"/>
                <a:ea typeface="Roboto Slab"/>
                <a:cs typeface="Roboto Slab"/>
                <a:sym typeface="Roboto Slab"/>
              </a:rPr>
              <a:t>a</a:t>
            </a:r>
            <a:r>
              <a:rPr lang="en-US" sz="3577">
                <a:solidFill>
                  <a:srgbClr val="000000"/>
                </a:solidFill>
                <a:latin typeface="Roboto Slab"/>
                <a:ea typeface="Roboto Slab"/>
                <a:cs typeface="Roboto Slab"/>
                <a:sym typeface="Roboto Slab"/>
              </a:rPr>
              <a:t> </a:t>
            </a:r>
            <a:r>
              <a:rPr lang="en-US" sz="3577">
                <a:solidFill>
                  <a:srgbClr val="000000"/>
                </a:solidFill>
                <a:latin typeface="Roboto Slab"/>
                <a:ea typeface="Roboto Slab"/>
                <a:cs typeface="Roboto Slab"/>
                <a:sym typeface="Roboto Slab"/>
              </a:rPr>
              <a:t>uyğu</a:t>
            </a:r>
            <a:r>
              <a:rPr lang="en-US" sz="3577">
                <a:solidFill>
                  <a:srgbClr val="000000"/>
                </a:solidFill>
                <a:latin typeface="Roboto Slab"/>
                <a:ea typeface="Roboto Slab"/>
                <a:cs typeface="Roboto Slab"/>
                <a:sym typeface="Roboto Slab"/>
              </a:rPr>
              <a:t>nl</a:t>
            </a:r>
            <a:r>
              <a:rPr lang="en-US" sz="3577">
                <a:solidFill>
                  <a:srgbClr val="000000"/>
                </a:solidFill>
                <a:latin typeface="Roboto Slab"/>
                <a:ea typeface="Roboto Slab"/>
                <a:cs typeface="Roboto Slab"/>
                <a:sym typeface="Roboto Slab"/>
              </a:rPr>
              <a:t>uğu: Sözün ifadə etdiyi məna dilin məntiqinə və xalqın düşüncə tərzinə uyğun olmalıdır.</a:t>
            </a:r>
          </a:p>
          <a:p>
            <a:pPr algn="l" marL="772311" indent="-386155" lvl="1">
              <a:lnSpc>
                <a:spcPts val="5008"/>
              </a:lnSpc>
              <a:buFont typeface="Arial"/>
              <a:buChar char="•"/>
            </a:pPr>
            <a:r>
              <a:rPr lang="en-US" sz="3577">
                <a:solidFill>
                  <a:srgbClr val="000000"/>
                </a:solidFill>
                <a:latin typeface="Roboto Slab"/>
                <a:ea typeface="Roboto Slab"/>
                <a:cs typeface="Roboto Slab"/>
                <a:sym typeface="Roboto Slab"/>
              </a:rPr>
              <a:t>Yazılış </a:t>
            </a:r>
            <a:r>
              <a:rPr lang="en-US" sz="3577">
                <a:solidFill>
                  <a:srgbClr val="000000"/>
                </a:solidFill>
                <a:latin typeface="Roboto Slab"/>
                <a:ea typeface="Roboto Slab"/>
                <a:cs typeface="Roboto Slab"/>
                <a:sym typeface="Roboto Slab"/>
              </a:rPr>
              <a:t>q</a:t>
            </a:r>
            <a:r>
              <a:rPr lang="en-US" sz="3577">
                <a:solidFill>
                  <a:srgbClr val="000000"/>
                </a:solidFill>
                <a:latin typeface="Roboto Slab"/>
                <a:ea typeface="Roboto Slab"/>
                <a:cs typeface="Roboto Slab"/>
                <a:sym typeface="Roboto Slab"/>
              </a:rPr>
              <a:t>a</a:t>
            </a:r>
            <a:r>
              <a:rPr lang="en-US" sz="3577">
                <a:solidFill>
                  <a:srgbClr val="000000"/>
                </a:solidFill>
                <a:latin typeface="Roboto Slab"/>
                <a:ea typeface="Roboto Slab"/>
                <a:cs typeface="Roboto Slab"/>
                <a:sym typeface="Roboto Slab"/>
              </a:rPr>
              <a:t>yda</a:t>
            </a:r>
            <a:r>
              <a:rPr lang="en-US" sz="3577">
                <a:solidFill>
                  <a:srgbClr val="000000"/>
                </a:solidFill>
                <a:latin typeface="Roboto Slab"/>
                <a:ea typeface="Roboto Slab"/>
                <a:cs typeface="Roboto Slab"/>
                <a:sym typeface="Roboto Slab"/>
              </a:rPr>
              <a:t>s</a:t>
            </a:r>
            <a:r>
              <a:rPr lang="en-US" sz="3577">
                <a:solidFill>
                  <a:srgbClr val="000000"/>
                </a:solidFill>
                <a:latin typeface="Roboto Slab"/>
                <a:ea typeface="Roboto Slab"/>
                <a:cs typeface="Roboto Slab"/>
                <a:sym typeface="Roboto Slab"/>
              </a:rPr>
              <a:t>ı: Sözün orfoqrafiya lüğətinə daxil edilərək vahid yazılış formasının  müəyyənləşməsi şərtdir.</a:t>
            </a:r>
          </a:p>
          <a:p>
            <a:pPr algn="l" marL="772311" indent="-386155" lvl="1">
              <a:lnSpc>
                <a:spcPts val="5008"/>
              </a:lnSpc>
              <a:buFont typeface="Arial"/>
              <a:buChar char="•"/>
            </a:pPr>
            <a:r>
              <a:rPr lang="en-US" sz="3577">
                <a:solidFill>
                  <a:srgbClr val="000000"/>
                </a:solidFill>
                <a:latin typeface="Roboto Slab"/>
                <a:ea typeface="Roboto Slab"/>
                <a:cs typeface="Roboto Slab"/>
                <a:sym typeface="Roboto Slab"/>
              </a:rPr>
              <a:t>Qrammatik </a:t>
            </a:r>
            <a:r>
              <a:rPr lang="en-US" sz="3577">
                <a:solidFill>
                  <a:srgbClr val="000000"/>
                </a:solidFill>
                <a:latin typeface="Roboto Slab"/>
                <a:ea typeface="Roboto Slab"/>
                <a:cs typeface="Roboto Slab"/>
                <a:sym typeface="Roboto Slab"/>
              </a:rPr>
              <a:t>for</a:t>
            </a:r>
            <a:r>
              <a:rPr lang="en-US" sz="3577">
                <a:solidFill>
                  <a:srgbClr val="000000"/>
                </a:solidFill>
                <a:latin typeface="Roboto Slab"/>
                <a:ea typeface="Roboto Slab"/>
                <a:cs typeface="Roboto Slab"/>
                <a:sym typeface="Roboto Slab"/>
              </a:rPr>
              <a:t>ma</a:t>
            </a:r>
            <a:r>
              <a:rPr lang="en-US" sz="3577">
                <a:solidFill>
                  <a:srgbClr val="000000"/>
                </a:solidFill>
                <a:latin typeface="Roboto Slab"/>
                <a:ea typeface="Roboto Slab"/>
                <a:cs typeface="Roboto Slab"/>
                <a:sym typeface="Roboto Slab"/>
              </a:rPr>
              <a:t>: Yeni söz dilimizin şəkilçilərini qəbul etməli və cümlədə digər sözlərlə düzgün bağlanmalıdır (məsələn, onlayn dərslər).</a:t>
            </a:r>
          </a:p>
          <a:p>
            <a:pPr algn="l">
              <a:lnSpc>
                <a:spcPts val="5008"/>
              </a:lnSpc>
            </a:pPr>
          </a:p>
        </p:txBody>
      </p:sp>
      <p:sp>
        <p:nvSpPr>
          <p:cNvPr name="TextBox 7" id="7"/>
          <p:cNvSpPr txBox="true"/>
          <p:nvPr/>
        </p:nvSpPr>
        <p:spPr>
          <a:xfrm rot="0">
            <a:off x="392207" y="270859"/>
            <a:ext cx="16322456" cy="757841"/>
          </a:xfrm>
          <a:prstGeom prst="rect">
            <a:avLst/>
          </a:prstGeom>
        </p:spPr>
        <p:txBody>
          <a:bodyPr anchor="t" rtlCol="false" tIns="0" lIns="0" bIns="0" rIns="0">
            <a:spAutoFit/>
          </a:bodyPr>
          <a:lstStyle/>
          <a:p>
            <a:pPr algn="just">
              <a:lnSpc>
                <a:spcPts val="6144"/>
              </a:lnSpc>
              <a:spcBef>
                <a:spcPct val="0"/>
              </a:spcBef>
            </a:pPr>
            <a:r>
              <a:rPr lang="en-US" b="true" sz="4388">
                <a:solidFill>
                  <a:srgbClr val="000000"/>
                </a:solidFill>
                <a:latin typeface="Roboto Slab Bold"/>
                <a:ea typeface="Roboto Slab Bold"/>
                <a:cs typeface="Roboto Slab Bold"/>
                <a:sym typeface="Roboto Slab Bold"/>
              </a:rPr>
              <a:t> Yeni sözlərin ədəbi norma ilə uyğunlaşdırılması zərurəti</a:t>
            </a:r>
          </a:p>
        </p:txBody>
      </p:sp>
      <p:grpSp>
        <p:nvGrpSpPr>
          <p:cNvPr name="Group 8" id="8"/>
          <p:cNvGrpSpPr/>
          <p:nvPr/>
        </p:nvGrpSpPr>
        <p:grpSpPr>
          <a:xfrm rot="-5400000">
            <a:off x="14210311" y="6209311"/>
            <a:ext cx="7035932" cy="1119445"/>
            <a:chOff x="0" y="0"/>
            <a:chExt cx="1425301" cy="226770"/>
          </a:xfrm>
        </p:grpSpPr>
        <p:sp>
          <p:nvSpPr>
            <p:cNvPr name="Freeform 9" id="9"/>
            <p:cNvSpPr/>
            <p:nvPr/>
          </p:nvSpPr>
          <p:spPr>
            <a:xfrm flipH="false" flipV="false" rot="0">
              <a:off x="0" y="0"/>
              <a:ext cx="1425301" cy="226361"/>
            </a:xfrm>
            <a:custGeom>
              <a:avLst/>
              <a:gdLst/>
              <a:ahLst/>
              <a:cxnLst/>
              <a:rect r="r" b="b" t="t" l="l"/>
              <a:pathLst>
                <a:path h="226361" w="1425301">
                  <a:moveTo>
                    <a:pt x="712650" y="0"/>
                  </a:moveTo>
                  <a:lnTo>
                    <a:pt x="1425301" y="226361"/>
                  </a:lnTo>
                  <a:lnTo>
                    <a:pt x="0" y="226361"/>
                  </a:lnTo>
                  <a:close/>
                </a:path>
              </a:pathLst>
            </a:custGeom>
            <a:solidFill>
              <a:srgbClr val="4382EB"/>
            </a:solidFill>
          </p:spPr>
        </p:sp>
        <p:sp>
          <p:nvSpPr>
            <p:cNvPr name="TextBox 10" id="10"/>
            <p:cNvSpPr txBox="true"/>
            <p:nvPr/>
          </p:nvSpPr>
          <p:spPr>
            <a:xfrm>
              <a:off x="301772" y="48075"/>
              <a:ext cx="821756" cy="17828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062879" y="6769034"/>
            <a:ext cx="2225121" cy="3517966"/>
            <a:chOff x="0" y="0"/>
            <a:chExt cx="450753" cy="712647"/>
          </a:xfrm>
        </p:grpSpPr>
        <p:sp>
          <p:nvSpPr>
            <p:cNvPr name="Freeform 12" id="12"/>
            <p:cNvSpPr/>
            <p:nvPr/>
          </p:nvSpPr>
          <p:spPr>
            <a:xfrm flipH="false" flipV="false" rot="0">
              <a:off x="0" y="0"/>
              <a:ext cx="450753" cy="711363"/>
            </a:xfrm>
            <a:custGeom>
              <a:avLst/>
              <a:gdLst/>
              <a:ahLst/>
              <a:cxnLst/>
              <a:rect r="r" b="b" t="t" l="l"/>
              <a:pathLst>
                <a:path h="711363" w="450753">
                  <a:moveTo>
                    <a:pt x="225376" y="0"/>
                  </a:moveTo>
                  <a:lnTo>
                    <a:pt x="450753" y="711363"/>
                  </a:lnTo>
                  <a:lnTo>
                    <a:pt x="0" y="711363"/>
                  </a:lnTo>
                  <a:close/>
                </a:path>
              </a:pathLst>
            </a:custGeom>
            <a:solidFill>
              <a:srgbClr val="4382EB"/>
            </a:solidFill>
          </p:spPr>
        </p:sp>
        <p:sp>
          <p:nvSpPr>
            <p:cNvPr name="TextBox 13" id="13"/>
            <p:cNvSpPr txBox="true"/>
            <p:nvPr/>
          </p:nvSpPr>
          <p:spPr>
            <a:xfrm>
              <a:off x="95436" y="253121"/>
              <a:ext cx="259881" cy="45824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14179439" y="3079861"/>
            <a:ext cx="7188422" cy="1028700"/>
            <a:chOff x="0" y="0"/>
            <a:chExt cx="1893247" cy="270932"/>
          </a:xfrm>
        </p:grpSpPr>
        <p:sp>
          <p:nvSpPr>
            <p:cNvPr name="Freeform 15" id="15"/>
            <p:cNvSpPr/>
            <p:nvPr/>
          </p:nvSpPr>
          <p:spPr>
            <a:xfrm flipH="false" flipV="false" rot="0">
              <a:off x="0" y="0"/>
              <a:ext cx="1893247" cy="270444"/>
            </a:xfrm>
            <a:custGeom>
              <a:avLst/>
              <a:gdLst/>
              <a:ahLst/>
              <a:cxnLst/>
              <a:rect r="r" b="b" t="t" l="l"/>
              <a:pathLst>
                <a:path h="270444" w="1893247">
                  <a:moveTo>
                    <a:pt x="946623" y="0"/>
                  </a:moveTo>
                  <a:lnTo>
                    <a:pt x="1893247" y="270444"/>
                  </a:lnTo>
                  <a:lnTo>
                    <a:pt x="0" y="270444"/>
                  </a:lnTo>
                  <a:close/>
                </a:path>
              </a:pathLst>
            </a:custGeom>
            <a:solidFill>
              <a:srgbClr val="2C58A0"/>
            </a:solidFill>
          </p:spPr>
        </p:sp>
        <p:sp>
          <p:nvSpPr>
            <p:cNvPr name="TextBox 16" id="16"/>
            <p:cNvSpPr txBox="true"/>
            <p:nvPr/>
          </p:nvSpPr>
          <p:spPr>
            <a:xfrm>
              <a:off x="400848" y="66712"/>
              <a:ext cx="1091550" cy="203732"/>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10800000">
            <a:off x="16236927" y="0"/>
            <a:ext cx="2044747" cy="3594211"/>
            <a:chOff x="0" y="0"/>
            <a:chExt cx="538534" cy="946619"/>
          </a:xfrm>
        </p:grpSpPr>
        <p:sp>
          <p:nvSpPr>
            <p:cNvPr name="Freeform 18" id="18"/>
            <p:cNvSpPr/>
            <p:nvPr/>
          </p:nvSpPr>
          <p:spPr>
            <a:xfrm flipH="false" flipV="false" rot="0">
              <a:off x="0" y="0"/>
              <a:ext cx="538534" cy="944914"/>
            </a:xfrm>
            <a:custGeom>
              <a:avLst/>
              <a:gdLst/>
              <a:ahLst/>
              <a:cxnLst/>
              <a:rect r="r" b="b" t="t" l="l"/>
              <a:pathLst>
                <a:path h="944914" w="538534">
                  <a:moveTo>
                    <a:pt x="269267" y="0"/>
                  </a:moveTo>
                  <a:lnTo>
                    <a:pt x="538534" y="944914"/>
                  </a:lnTo>
                  <a:lnTo>
                    <a:pt x="0" y="944914"/>
                  </a:lnTo>
                  <a:close/>
                </a:path>
              </a:pathLst>
            </a:custGeom>
            <a:solidFill>
              <a:srgbClr val="2C58A0"/>
            </a:solidFill>
          </p:spPr>
        </p:sp>
        <p:sp>
          <p:nvSpPr>
            <p:cNvPr name="TextBox 19" id="19"/>
            <p:cNvSpPr txBox="true"/>
            <p:nvPr/>
          </p:nvSpPr>
          <p:spPr>
            <a:xfrm>
              <a:off x="114021" y="351860"/>
              <a:ext cx="310492" cy="593054"/>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5400000">
            <a:off x="15813848" y="7819175"/>
            <a:ext cx="4147297" cy="788353"/>
            <a:chOff x="0" y="0"/>
            <a:chExt cx="1425301" cy="270932"/>
          </a:xfrm>
        </p:grpSpPr>
        <p:sp>
          <p:nvSpPr>
            <p:cNvPr name="Freeform 21" id="21"/>
            <p:cNvSpPr/>
            <p:nvPr/>
          </p:nvSpPr>
          <p:spPr>
            <a:xfrm flipH="false" flipV="false" rot="0">
              <a:off x="0" y="0"/>
              <a:ext cx="1425301" cy="270444"/>
            </a:xfrm>
            <a:custGeom>
              <a:avLst/>
              <a:gdLst/>
              <a:ahLst/>
              <a:cxnLst/>
              <a:rect r="r" b="b" t="t" l="l"/>
              <a:pathLst>
                <a:path h="270444" w="1425301">
                  <a:moveTo>
                    <a:pt x="712650" y="0"/>
                  </a:moveTo>
                  <a:lnTo>
                    <a:pt x="1425301" y="270444"/>
                  </a:lnTo>
                  <a:lnTo>
                    <a:pt x="0" y="270444"/>
                  </a:lnTo>
                  <a:close/>
                </a:path>
              </a:pathLst>
            </a:custGeom>
            <a:solidFill>
              <a:srgbClr val="84A5FF"/>
            </a:solidFill>
          </p:spPr>
        </p:sp>
        <p:sp>
          <p:nvSpPr>
            <p:cNvPr name="TextBox 22" id="22"/>
            <p:cNvSpPr txBox="true"/>
            <p:nvPr/>
          </p:nvSpPr>
          <p:spPr>
            <a:xfrm>
              <a:off x="301772" y="66712"/>
              <a:ext cx="821756" cy="203732"/>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6714663" y="8213352"/>
            <a:ext cx="1567010" cy="2073648"/>
            <a:chOff x="0" y="0"/>
            <a:chExt cx="538534" cy="712647"/>
          </a:xfrm>
        </p:grpSpPr>
        <p:sp>
          <p:nvSpPr>
            <p:cNvPr name="Freeform 24" id="24"/>
            <p:cNvSpPr/>
            <p:nvPr/>
          </p:nvSpPr>
          <p:spPr>
            <a:xfrm flipH="false" flipV="false" rot="0">
              <a:off x="0" y="0"/>
              <a:ext cx="538534" cy="711363"/>
            </a:xfrm>
            <a:custGeom>
              <a:avLst/>
              <a:gdLst/>
              <a:ahLst/>
              <a:cxnLst/>
              <a:rect r="r" b="b" t="t" l="l"/>
              <a:pathLst>
                <a:path h="711363" w="538534">
                  <a:moveTo>
                    <a:pt x="269267" y="0"/>
                  </a:moveTo>
                  <a:lnTo>
                    <a:pt x="538534" y="711363"/>
                  </a:lnTo>
                  <a:lnTo>
                    <a:pt x="0" y="711363"/>
                  </a:lnTo>
                  <a:close/>
                </a:path>
              </a:pathLst>
            </a:custGeom>
            <a:solidFill>
              <a:srgbClr val="84A5FF"/>
            </a:solidFill>
          </p:spPr>
        </p:sp>
        <p:sp>
          <p:nvSpPr>
            <p:cNvPr name="TextBox 25" id="25"/>
            <p:cNvSpPr txBox="true"/>
            <p:nvPr/>
          </p:nvSpPr>
          <p:spPr>
            <a:xfrm>
              <a:off x="114021" y="253121"/>
              <a:ext cx="310492" cy="458243"/>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5400000">
            <a:off x="13755459" y="3680810"/>
            <a:ext cx="8215339" cy="849744"/>
            <a:chOff x="0" y="0"/>
            <a:chExt cx="2163711" cy="223800"/>
          </a:xfrm>
        </p:grpSpPr>
        <p:sp>
          <p:nvSpPr>
            <p:cNvPr name="Freeform 27" id="27"/>
            <p:cNvSpPr/>
            <p:nvPr/>
          </p:nvSpPr>
          <p:spPr>
            <a:xfrm flipH="false" flipV="false" rot="0">
              <a:off x="0" y="0"/>
              <a:ext cx="2163711" cy="223397"/>
            </a:xfrm>
            <a:custGeom>
              <a:avLst/>
              <a:gdLst/>
              <a:ahLst/>
              <a:cxnLst/>
              <a:rect r="r" b="b" t="t" l="l"/>
              <a:pathLst>
                <a:path h="223397" w="2163711">
                  <a:moveTo>
                    <a:pt x="1081855" y="0"/>
                  </a:moveTo>
                  <a:lnTo>
                    <a:pt x="2163711" y="223397"/>
                  </a:lnTo>
                  <a:lnTo>
                    <a:pt x="0" y="223397"/>
                  </a:lnTo>
                  <a:close/>
                </a:path>
              </a:pathLst>
            </a:custGeom>
            <a:solidFill>
              <a:srgbClr val="A4C7FF"/>
            </a:solidFill>
          </p:spPr>
        </p:sp>
        <p:sp>
          <p:nvSpPr>
            <p:cNvPr name="TextBox 28" id="28"/>
            <p:cNvSpPr txBox="true"/>
            <p:nvPr/>
          </p:nvSpPr>
          <p:spPr>
            <a:xfrm>
              <a:off x="458112" y="46821"/>
              <a:ext cx="1247486" cy="176575"/>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10800000">
            <a:off x="16593738" y="-1987"/>
            <a:ext cx="1689036" cy="4107669"/>
            <a:chOff x="0" y="0"/>
            <a:chExt cx="444849" cy="1081850"/>
          </a:xfrm>
        </p:grpSpPr>
        <p:sp>
          <p:nvSpPr>
            <p:cNvPr name="Freeform 30" id="30"/>
            <p:cNvSpPr/>
            <p:nvPr/>
          </p:nvSpPr>
          <p:spPr>
            <a:xfrm flipH="false" flipV="false" rot="0">
              <a:off x="0" y="0"/>
              <a:ext cx="444849" cy="1079901"/>
            </a:xfrm>
            <a:custGeom>
              <a:avLst/>
              <a:gdLst/>
              <a:ahLst/>
              <a:cxnLst/>
              <a:rect r="r" b="b" t="t" l="l"/>
              <a:pathLst>
                <a:path h="1079901" w="444849">
                  <a:moveTo>
                    <a:pt x="222424" y="0"/>
                  </a:moveTo>
                  <a:lnTo>
                    <a:pt x="444849" y="1079901"/>
                  </a:lnTo>
                  <a:lnTo>
                    <a:pt x="0" y="1079901"/>
                  </a:lnTo>
                  <a:close/>
                </a:path>
              </a:pathLst>
            </a:custGeom>
            <a:solidFill>
              <a:srgbClr val="A4C7FF"/>
            </a:solidFill>
          </p:spPr>
        </p:sp>
        <p:sp>
          <p:nvSpPr>
            <p:cNvPr name="TextBox 31" id="31"/>
            <p:cNvSpPr txBox="true"/>
            <p:nvPr/>
          </p:nvSpPr>
          <p:spPr>
            <a:xfrm>
              <a:off x="94186" y="408929"/>
              <a:ext cx="256477" cy="67097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5228" y="1325022"/>
            <a:ext cx="10784391" cy="8229600"/>
            <a:chOff x="0" y="0"/>
            <a:chExt cx="4624148" cy="3528700"/>
          </a:xfrm>
        </p:grpSpPr>
        <p:sp>
          <p:nvSpPr>
            <p:cNvPr name="Freeform 3" id="3"/>
            <p:cNvSpPr/>
            <p:nvPr/>
          </p:nvSpPr>
          <p:spPr>
            <a:xfrm flipH="false" flipV="false" rot="0">
              <a:off x="0" y="0"/>
              <a:ext cx="4624148" cy="3528701"/>
            </a:xfrm>
            <a:custGeom>
              <a:avLst/>
              <a:gdLst/>
              <a:ahLst/>
              <a:cxnLst/>
              <a:rect r="r" b="b" t="t" l="l"/>
              <a:pathLst>
                <a:path h="3528701" w="4624148">
                  <a:moveTo>
                    <a:pt x="12204" y="0"/>
                  </a:moveTo>
                  <a:lnTo>
                    <a:pt x="4611944" y="0"/>
                  </a:lnTo>
                  <a:cubicBezTo>
                    <a:pt x="4615180" y="0"/>
                    <a:pt x="4618284" y="1286"/>
                    <a:pt x="4620573" y="3574"/>
                  </a:cubicBezTo>
                  <a:cubicBezTo>
                    <a:pt x="4622862" y="5863"/>
                    <a:pt x="4624148" y="8967"/>
                    <a:pt x="4624148" y="12204"/>
                  </a:cubicBezTo>
                  <a:lnTo>
                    <a:pt x="4624148" y="3516497"/>
                  </a:lnTo>
                  <a:cubicBezTo>
                    <a:pt x="4624148" y="3523236"/>
                    <a:pt x="4618684" y="3528701"/>
                    <a:pt x="4611944" y="3528701"/>
                  </a:cubicBezTo>
                  <a:lnTo>
                    <a:pt x="12204" y="3528701"/>
                  </a:lnTo>
                  <a:cubicBezTo>
                    <a:pt x="5464" y="3528701"/>
                    <a:pt x="0" y="3523236"/>
                    <a:pt x="0" y="3516497"/>
                  </a:cubicBezTo>
                  <a:lnTo>
                    <a:pt x="0" y="12204"/>
                  </a:lnTo>
                  <a:cubicBezTo>
                    <a:pt x="0" y="5464"/>
                    <a:pt x="5464" y="0"/>
                    <a:pt x="12204" y="0"/>
                  </a:cubicBezTo>
                  <a:close/>
                </a:path>
              </a:pathLst>
            </a:custGeom>
            <a:solidFill>
              <a:srgbClr val="FFFFFF"/>
            </a:solidFill>
            <a:ln w="19050" cap="sq">
              <a:solidFill>
                <a:srgbClr val="000000"/>
              </a:solidFill>
              <a:prstDash val="solid"/>
              <a:miter/>
            </a:ln>
          </p:spPr>
        </p:sp>
        <p:sp>
          <p:nvSpPr>
            <p:cNvPr name="TextBox 4" id="4"/>
            <p:cNvSpPr txBox="true"/>
            <p:nvPr/>
          </p:nvSpPr>
          <p:spPr>
            <a:xfrm>
              <a:off x="0" y="-47625"/>
              <a:ext cx="4624148" cy="3576325"/>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1695021"/>
            <a:ext cx="10289941" cy="7215438"/>
          </a:xfrm>
          <a:prstGeom prst="rect">
            <a:avLst/>
          </a:prstGeom>
        </p:spPr>
        <p:txBody>
          <a:bodyPr anchor="t" rtlCol="false" tIns="0" lIns="0" bIns="0" rIns="0">
            <a:spAutoFit/>
          </a:bodyPr>
          <a:lstStyle/>
          <a:p>
            <a:pPr algn="l">
              <a:lnSpc>
                <a:spcPts val="6342"/>
              </a:lnSpc>
            </a:pPr>
            <a:r>
              <a:rPr lang="en-US" sz="4530">
                <a:solidFill>
                  <a:srgbClr val="000000"/>
                </a:solidFill>
                <a:latin typeface="Roboto Slab"/>
                <a:ea typeface="Roboto Slab"/>
                <a:cs typeface="Roboto Slab"/>
                <a:sym typeface="Roboto Slab"/>
              </a:rPr>
              <a:t>X</a:t>
            </a:r>
            <a:r>
              <a:rPr lang="en-US" sz="4530">
                <a:solidFill>
                  <a:srgbClr val="000000"/>
                </a:solidFill>
                <a:latin typeface="Roboto Slab"/>
                <a:ea typeface="Roboto Slab"/>
                <a:cs typeface="Roboto Slab"/>
                <a:sym typeface="Roboto Slab"/>
              </a:rPr>
              <a:t>arici sözlər dilimizə keçərkən Azərbaycan dilinin tələffüz (fonetik), quruluş (qrammatik) və məna (semantik) qaydalarına uyğunlaşır. Bu proses nəticəsində onlar yad söz</a:t>
            </a:r>
            <a:r>
              <a:rPr lang="en-US" sz="4530">
                <a:solidFill>
                  <a:srgbClr val="000000"/>
                </a:solidFill>
                <a:latin typeface="Roboto Slab"/>
                <a:ea typeface="Roboto Slab"/>
                <a:cs typeface="Roboto Slab"/>
                <a:sym typeface="Roboto Slab"/>
              </a:rPr>
              <a:t> olm</a:t>
            </a:r>
            <a:r>
              <a:rPr lang="en-US" sz="4530">
                <a:solidFill>
                  <a:srgbClr val="000000"/>
                </a:solidFill>
                <a:latin typeface="Roboto Slab"/>
                <a:ea typeface="Roboto Slab"/>
                <a:cs typeface="Roboto Slab"/>
                <a:sym typeface="Roboto Slab"/>
              </a:rPr>
              <a:t>aqdan çıxıb rəsmi terminlərə çevrilirlər.</a:t>
            </a:r>
            <a:r>
              <a:rPr lang="en-US" sz="4530">
                <a:solidFill>
                  <a:srgbClr val="000000"/>
                </a:solidFill>
                <a:latin typeface="Roboto Slab"/>
                <a:ea typeface="Roboto Slab"/>
                <a:cs typeface="Roboto Slab"/>
                <a:sym typeface="Roboto Slab"/>
              </a:rPr>
              <a:t> Bu</a:t>
            </a:r>
            <a:r>
              <a:rPr lang="en-US" sz="4530">
                <a:solidFill>
                  <a:srgbClr val="000000"/>
                </a:solidFill>
                <a:latin typeface="Roboto Slab"/>
                <a:ea typeface="Roboto Slab"/>
                <a:cs typeface="Roboto Slab"/>
                <a:sym typeface="Roboto Slab"/>
              </a:rPr>
              <a:t> dəyişikliyə tarixi əlaqələr kim</a:t>
            </a:r>
            <a:r>
              <a:rPr lang="en-US" sz="4530">
                <a:solidFill>
                  <a:srgbClr val="000000"/>
                </a:solidFill>
                <a:latin typeface="Roboto Slab"/>
                <a:ea typeface="Roboto Slab"/>
                <a:cs typeface="Roboto Slab"/>
                <a:sym typeface="Roboto Slab"/>
              </a:rPr>
              <a:t>i</a:t>
            </a:r>
            <a:r>
              <a:rPr lang="en-US" sz="4530">
                <a:solidFill>
                  <a:srgbClr val="000000"/>
                </a:solidFill>
                <a:latin typeface="Roboto Slab"/>
                <a:ea typeface="Roboto Slab"/>
                <a:cs typeface="Roboto Slab"/>
                <a:sym typeface="Roboto Slab"/>
              </a:rPr>
              <a:t> xarici amillər də böyük təsir göstərir.</a:t>
            </a:r>
          </a:p>
        </p:txBody>
      </p:sp>
      <p:sp>
        <p:nvSpPr>
          <p:cNvPr name="Freeform 6" id="6"/>
          <p:cNvSpPr/>
          <p:nvPr/>
        </p:nvSpPr>
        <p:spPr>
          <a:xfrm flipH="false" flipV="false" rot="0">
            <a:off x="12032741" y="1446653"/>
            <a:ext cx="5650400" cy="8107969"/>
          </a:xfrm>
          <a:custGeom>
            <a:avLst/>
            <a:gdLst/>
            <a:ahLst/>
            <a:cxnLst/>
            <a:rect r="r" b="b" t="t" l="l"/>
            <a:pathLst>
              <a:path h="8107969" w="5650400">
                <a:moveTo>
                  <a:pt x="0" y="0"/>
                </a:moveTo>
                <a:lnTo>
                  <a:pt x="5650399" y="0"/>
                </a:lnTo>
                <a:lnTo>
                  <a:pt x="5650399" y="8107969"/>
                </a:lnTo>
                <a:lnTo>
                  <a:pt x="0" y="8107969"/>
                </a:lnTo>
                <a:lnTo>
                  <a:pt x="0" y="0"/>
                </a:lnTo>
                <a:close/>
              </a:path>
            </a:pathLst>
          </a:custGeom>
          <a:blipFill>
            <a:blip r:embed="rId2"/>
            <a:stretch>
              <a:fillRect l="-8968" t="0" r="-34524" b="0"/>
            </a:stretch>
          </a:blipFill>
        </p:spPr>
      </p:sp>
      <p:sp>
        <p:nvSpPr>
          <p:cNvPr name="TextBox 7" id="7"/>
          <p:cNvSpPr txBox="true"/>
          <p:nvPr/>
        </p:nvSpPr>
        <p:spPr>
          <a:xfrm rot="0">
            <a:off x="695228" y="231686"/>
            <a:ext cx="15489157" cy="796427"/>
          </a:xfrm>
          <a:prstGeom prst="rect">
            <a:avLst/>
          </a:prstGeom>
        </p:spPr>
        <p:txBody>
          <a:bodyPr anchor="t" rtlCol="false" tIns="0" lIns="0" bIns="0" rIns="0">
            <a:spAutoFit/>
          </a:bodyPr>
          <a:lstStyle/>
          <a:p>
            <a:pPr algn="just">
              <a:lnSpc>
                <a:spcPts val="6502"/>
              </a:lnSpc>
              <a:spcBef>
                <a:spcPct val="0"/>
              </a:spcBef>
            </a:pPr>
            <a:r>
              <a:rPr lang="en-US" b="true" sz="4644">
                <a:solidFill>
                  <a:srgbClr val="000000"/>
                </a:solidFill>
                <a:latin typeface="Roboto Slab Bold"/>
                <a:ea typeface="Roboto Slab Bold"/>
                <a:cs typeface="Roboto Slab Bold"/>
                <a:sym typeface="Roboto Slab Bold"/>
              </a:rPr>
              <a:t>Azərbaycan dilində alınmaların mənimsənilmə prosesi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1052" y="1232564"/>
            <a:ext cx="12846056" cy="8352431"/>
            <a:chOff x="0" y="0"/>
            <a:chExt cx="5508151" cy="3581368"/>
          </a:xfrm>
        </p:grpSpPr>
        <p:sp>
          <p:nvSpPr>
            <p:cNvPr name="Freeform 3" id="3"/>
            <p:cNvSpPr/>
            <p:nvPr/>
          </p:nvSpPr>
          <p:spPr>
            <a:xfrm flipH="false" flipV="false" rot="0">
              <a:off x="0" y="0"/>
              <a:ext cx="5508151" cy="3581368"/>
            </a:xfrm>
            <a:custGeom>
              <a:avLst/>
              <a:gdLst/>
              <a:ahLst/>
              <a:cxnLst/>
              <a:rect r="r" b="b" t="t" l="l"/>
              <a:pathLst>
                <a:path h="3581368" w="5508151">
                  <a:moveTo>
                    <a:pt x="33749" y="0"/>
                  </a:moveTo>
                  <a:lnTo>
                    <a:pt x="5474402" y="0"/>
                  </a:lnTo>
                  <a:cubicBezTo>
                    <a:pt x="5493041" y="0"/>
                    <a:pt x="5508151" y="15110"/>
                    <a:pt x="5508151" y="33749"/>
                  </a:cubicBezTo>
                  <a:lnTo>
                    <a:pt x="5508151" y="3547618"/>
                  </a:lnTo>
                  <a:cubicBezTo>
                    <a:pt x="5508151" y="3566258"/>
                    <a:pt x="5493041" y="3581368"/>
                    <a:pt x="5474402" y="3581368"/>
                  </a:cubicBezTo>
                  <a:lnTo>
                    <a:pt x="33749" y="3581368"/>
                  </a:lnTo>
                  <a:cubicBezTo>
                    <a:pt x="15110" y="3581368"/>
                    <a:pt x="0" y="3566258"/>
                    <a:pt x="0" y="3547618"/>
                  </a:cubicBezTo>
                  <a:lnTo>
                    <a:pt x="0" y="33749"/>
                  </a:lnTo>
                  <a:cubicBezTo>
                    <a:pt x="0" y="15110"/>
                    <a:pt x="15110" y="0"/>
                    <a:pt x="33749" y="0"/>
                  </a:cubicBezTo>
                  <a:close/>
                </a:path>
              </a:pathLst>
            </a:custGeom>
            <a:solidFill>
              <a:srgbClr val="A4C7FF">
                <a:alpha val="12941"/>
              </a:srgbClr>
            </a:solidFill>
            <a:ln cap="rnd">
              <a:noFill/>
              <a:prstDash val="solid"/>
              <a:round/>
            </a:ln>
          </p:spPr>
        </p:sp>
        <p:sp>
          <p:nvSpPr>
            <p:cNvPr name="TextBox 4" id="4"/>
            <p:cNvSpPr txBox="true"/>
            <p:nvPr/>
          </p:nvSpPr>
          <p:spPr>
            <a:xfrm>
              <a:off x="0" y="-47625"/>
              <a:ext cx="5508151" cy="362899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665110" y="1498058"/>
            <a:ext cx="12425260" cy="7426327"/>
          </a:xfrm>
          <a:prstGeom prst="rect">
            <a:avLst/>
          </a:prstGeom>
        </p:spPr>
        <p:txBody>
          <a:bodyPr anchor="t" rtlCol="false" tIns="0" lIns="0" bIns="0" rIns="0">
            <a:spAutoFit/>
          </a:bodyPr>
          <a:lstStyle/>
          <a:p>
            <a:pPr algn="l">
              <a:lnSpc>
                <a:spcPts val="5390"/>
              </a:lnSpc>
            </a:pPr>
            <a:r>
              <a:rPr lang="en-US" sz="3850">
                <a:solidFill>
                  <a:srgbClr val="000000"/>
                </a:solidFill>
                <a:latin typeface="Roboto Slab"/>
                <a:ea typeface="Roboto Slab"/>
                <a:cs typeface="Roboto Slab"/>
                <a:sym typeface="Roboto Slab"/>
              </a:rPr>
              <a:t>Dilə yeni sözlər (neologizmlər) daxil olduqda, eyni mənanı ifadə edən iki fərqli söz</a:t>
            </a:r>
            <a:r>
              <a:rPr lang="en-US" sz="3850">
                <a:solidFill>
                  <a:srgbClr val="000000"/>
                </a:solidFill>
                <a:latin typeface="Roboto Slab"/>
                <a:ea typeface="Roboto Slab"/>
                <a:cs typeface="Roboto Slab"/>
                <a:sym typeface="Roboto Slab"/>
              </a:rPr>
              <a:t> dildə yanaşı işlənə bilir. Buna paralel leksika deyilir:</a:t>
            </a:r>
          </a:p>
          <a:p>
            <a:pPr algn="l">
              <a:lnSpc>
                <a:spcPts val="5390"/>
              </a:lnSpc>
            </a:pPr>
          </a:p>
          <a:p>
            <a:pPr algn="l" marL="831279" indent="-415639" lvl="1">
              <a:lnSpc>
                <a:spcPts val="5390"/>
              </a:lnSpc>
              <a:buFont typeface="Arial"/>
              <a:buChar char="•"/>
            </a:pPr>
            <a:r>
              <a:rPr lang="en-US" sz="3850">
                <a:solidFill>
                  <a:srgbClr val="000000"/>
                </a:solidFill>
                <a:latin typeface="Roboto Slab"/>
                <a:ea typeface="Roboto Slab"/>
                <a:cs typeface="Roboto Slab"/>
                <a:sym typeface="Roboto Slab"/>
              </a:rPr>
              <a:t>Yeni bir texnologiya gəldikdə həm xarici adı, həm də milli qarşılığı eyni vaxtda istifadə olunur.</a:t>
            </a:r>
          </a:p>
          <a:p>
            <a:pPr algn="l" marL="1662558" indent="-554186" lvl="2">
              <a:lnSpc>
                <a:spcPts val="5390"/>
              </a:lnSpc>
              <a:buFont typeface="Arial"/>
              <a:buChar char="⚬"/>
            </a:pPr>
            <a:r>
              <a:rPr lang="en-US" sz="3850">
                <a:solidFill>
                  <a:srgbClr val="000000"/>
                </a:solidFill>
                <a:latin typeface="Roboto Slab"/>
                <a:ea typeface="Roboto Slab"/>
                <a:cs typeface="Roboto Slab"/>
                <a:sym typeface="Roboto Slab"/>
              </a:rPr>
              <a:t>Nümunə: Dron (alınma) – PUA (milli qarşılıq).</a:t>
            </a:r>
          </a:p>
          <a:p>
            <a:pPr algn="l" marL="831279" indent="-415639" lvl="1">
              <a:lnSpc>
                <a:spcPts val="5390"/>
              </a:lnSpc>
              <a:buFont typeface="Arial"/>
              <a:buChar char="•"/>
            </a:pPr>
            <a:r>
              <a:rPr lang="en-US" sz="3850">
                <a:solidFill>
                  <a:srgbClr val="000000"/>
                </a:solidFill>
                <a:latin typeface="Roboto Slab"/>
                <a:ea typeface="Roboto Slab"/>
                <a:cs typeface="Roboto Slab"/>
                <a:sym typeface="Roboto Slab"/>
              </a:rPr>
              <a:t>Mövcud olan sadə sözün yanına daha rəsmi və ya spesifik məna daşıyan yeni bir söz əlavə edilir.</a:t>
            </a:r>
          </a:p>
          <a:p>
            <a:pPr algn="l" marL="1662558" indent="-554186" lvl="2">
              <a:lnSpc>
                <a:spcPts val="5390"/>
              </a:lnSpc>
              <a:buFont typeface="Arial"/>
              <a:buChar char="⚬"/>
            </a:pPr>
            <a:r>
              <a:rPr lang="en-US" sz="3850">
                <a:solidFill>
                  <a:srgbClr val="000000"/>
                </a:solidFill>
                <a:latin typeface="Roboto Slab"/>
                <a:ea typeface="Roboto Slab"/>
                <a:cs typeface="Roboto Slab"/>
                <a:sym typeface="Roboto Slab"/>
              </a:rPr>
              <a:t>Nümunə: Görüş (ənənəvi) – Sammit (yüksək səviyyəli rəsmi görüş).</a:t>
            </a:r>
          </a:p>
        </p:txBody>
      </p:sp>
      <p:sp>
        <p:nvSpPr>
          <p:cNvPr name="Freeform 6" id="6"/>
          <p:cNvSpPr/>
          <p:nvPr/>
        </p:nvSpPr>
        <p:spPr>
          <a:xfrm flipH="false" flipV="false" rot="0">
            <a:off x="13484981" y="2831907"/>
            <a:ext cx="4584405" cy="4685382"/>
          </a:xfrm>
          <a:custGeom>
            <a:avLst/>
            <a:gdLst/>
            <a:ahLst/>
            <a:cxnLst/>
            <a:rect r="r" b="b" t="t" l="l"/>
            <a:pathLst>
              <a:path h="4685382" w="4584405">
                <a:moveTo>
                  <a:pt x="0" y="0"/>
                </a:moveTo>
                <a:lnTo>
                  <a:pt x="4584405" y="0"/>
                </a:lnTo>
                <a:lnTo>
                  <a:pt x="4584405" y="4685382"/>
                </a:lnTo>
                <a:lnTo>
                  <a:pt x="0" y="4685382"/>
                </a:lnTo>
                <a:lnTo>
                  <a:pt x="0" y="0"/>
                </a:lnTo>
                <a:close/>
              </a:path>
            </a:pathLst>
          </a:custGeom>
          <a:blipFill>
            <a:blip r:embed="rId2"/>
            <a:stretch>
              <a:fillRect l="-4534" t="0" r="-21402" b="0"/>
            </a:stretch>
          </a:blipFill>
        </p:spPr>
      </p:sp>
      <p:grpSp>
        <p:nvGrpSpPr>
          <p:cNvPr name="Group 7" id="7"/>
          <p:cNvGrpSpPr/>
          <p:nvPr/>
        </p:nvGrpSpPr>
        <p:grpSpPr>
          <a:xfrm rot="-5400000">
            <a:off x="14210311" y="6209311"/>
            <a:ext cx="7035932" cy="1119445"/>
            <a:chOff x="0" y="0"/>
            <a:chExt cx="1425301" cy="226770"/>
          </a:xfrm>
        </p:grpSpPr>
        <p:sp>
          <p:nvSpPr>
            <p:cNvPr name="Freeform 8" id="8"/>
            <p:cNvSpPr/>
            <p:nvPr/>
          </p:nvSpPr>
          <p:spPr>
            <a:xfrm flipH="false" flipV="false" rot="0">
              <a:off x="0" y="0"/>
              <a:ext cx="1425301" cy="226361"/>
            </a:xfrm>
            <a:custGeom>
              <a:avLst/>
              <a:gdLst/>
              <a:ahLst/>
              <a:cxnLst/>
              <a:rect r="r" b="b" t="t" l="l"/>
              <a:pathLst>
                <a:path h="226361" w="1425301">
                  <a:moveTo>
                    <a:pt x="712650" y="0"/>
                  </a:moveTo>
                  <a:lnTo>
                    <a:pt x="1425301" y="226361"/>
                  </a:lnTo>
                  <a:lnTo>
                    <a:pt x="0" y="226361"/>
                  </a:lnTo>
                  <a:close/>
                </a:path>
              </a:pathLst>
            </a:custGeom>
            <a:solidFill>
              <a:srgbClr val="4382EB"/>
            </a:solidFill>
          </p:spPr>
        </p:sp>
        <p:sp>
          <p:nvSpPr>
            <p:cNvPr name="TextBox 9" id="9"/>
            <p:cNvSpPr txBox="true"/>
            <p:nvPr/>
          </p:nvSpPr>
          <p:spPr>
            <a:xfrm>
              <a:off x="301772" y="48075"/>
              <a:ext cx="821756" cy="178287"/>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6062879" y="6769034"/>
            <a:ext cx="2225121" cy="3517966"/>
            <a:chOff x="0" y="0"/>
            <a:chExt cx="450753" cy="712647"/>
          </a:xfrm>
        </p:grpSpPr>
        <p:sp>
          <p:nvSpPr>
            <p:cNvPr name="Freeform 11" id="11"/>
            <p:cNvSpPr/>
            <p:nvPr/>
          </p:nvSpPr>
          <p:spPr>
            <a:xfrm flipH="false" flipV="false" rot="0">
              <a:off x="0" y="0"/>
              <a:ext cx="450753" cy="711363"/>
            </a:xfrm>
            <a:custGeom>
              <a:avLst/>
              <a:gdLst/>
              <a:ahLst/>
              <a:cxnLst/>
              <a:rect r="r" b="b" t="t" l="l"/>
              <a:pathLst>
                <a:path h="711363" w="450753">
                  <a:moveTo>
                    <a:pt x="225376" y="0"/>
                  </a:moveTo>
                  <a:lnTo>
                    <a:pt x="450753" y="711363"/>
                  </a:lnTo>
                  <a:lnTo>
                    <a:pt x="0" y="711363"/>
                  </a:lnTo>
                  <a:close/>
                </a:path>
              </a:pathLst>
            </a:custGeom>
            <a:solidFill>
              <a:srgbClr val="4382EB"/>
            </a:solidFill>
          </p:spPr>
        </p:sp>
        <p:sp>
          <p:nvSpPr>
            <p:cNvPr name="TextBox 12" id="12"/>
            <p:cNvSpPr txBox="true"/>
            <p:nvPr/>
          </p:nvSpPr>
          <p:spPr>
            <a:xfrm>
              <a:off x="95436" y="253121"/>
              <a:ext cx="259881" cy="458243"/>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5400000">
            <a:off x="14179439" y="3079861"/>
            <a:ext cx="7188422" cy="1028700"/>
            <a:chOff x="0" y="0"/>
            <a:chExt cx="1893247" cy="270932"/>
          </a:xfrm>
        </p:grpSpPr>
        <p:sp>
          <p:nvSpPr>
            <p:cNvPr name="Freeform 14" id="14"/>
            <p:cNvSpPr/>
            <p:nvPr/>
          </p:nvSpPr>
          <p:spPr>
            <a:xfrm flipH="false" flipV="false" rot="0">
              <a:off x="0" y="0"/>
              <a:ext cx="1893247" cy="270444"/>
            </a:xfrm>
            <a:custGeom>
              <a:avLst/>
              <a:gdLst/>
              <a:ahLst/>
              <a:cxnLst/>
              <a:rect r="r" b="b" t="t" l="l"/>
              <a:pathLst>
                <a:path h="270444" w="1893247">
                  <a:moveTo>
                    <a:pt x="946623" y="0"/>
                  </a:moveTo>
                  <a:lnTo>
                    <a:pt x="1893247" y="270444"/>
                  </a:lnTo>
                  <a:lnTo>
                    <a:pt x="0" y="270444"/>
                  </a:lnTo>
                  <a:close/>
                </a:path>
              </a:pathLst>
            </a:custGeom>
            <a:solidFill>
              <a:srgbClr val="2C58A0"/>
            </a:solidFill>
          </p:spPr>
        </p:sp>
        <p:sp>
          <p:nvSpPr>
            <p:cNvPr name="TextBox 15" id="15"/>
            <p:cNvSpPr txBox="true"/>
            <p:nvPr/>
          </p:nvSpPr>
          <p:spPr>
            <a:xfrm>
              <a:off x="400848" y="66712"/>
              <a:ext cx="1091550" cy="20373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10800000">
            <a:off x="16236927" y="0"/>
            <a:ext cx="2044747" cy="3594211"/>
            <a:chOff x="0" y="0"/>
            <a:chExt cx="538534" cy="946619"/>
          </a:xfrm>
        </p:grpSpPr>
        <p:sp>
          <p:nvSpPr>
            <p:cNvPr name="Freeform 17" id="17"/>
            <p:cNvSpPr/>
            <p:nvPr/>
          </p:nvSpPr>
          <p:spPr>
            <a:xfrm flipH="false" flipV="false" rot="0">
              <a:off x="0" y="0"/>
              <a:ext cx="538534" cy="944914"/>
            </a:xfrm>
            <a:custGeom>
              <a:avLst/>
              <a:gdLst/>
              <a:ahLst/>
              <a:cxnLst/>
              <a:rect r="r" b="b" t="t" l="l"/>
              <a:pathLst>
                <a:path h="944914" w="538534">
                  <a:moveTo>
                    <a:pt x="269267" y="0"/>
                  </a:moveTo>
                  <a:lnTo>
                    <a:pt x="538534" y="944914"/>
                  </a:lnTo>
                  <a:lnTo>
                    <a:pt x="0" y="944914"/>
                  </a:lnTo>
                  <a:close/>
                </a:path>
              </a:pathLst>
            </a:custGeom>
            <a:solidFill>
              <a:srgbClr val="2C58A0"/>
            </a:solidFill>
          </p:spPr>
        </p:sp>
        <p:sp>
          <p:nvSpPr>
            <p:cNvPr name="TextBox 18" id="18"/>
            <p:cNvSpPr txBox="true"/>
            <p:nvPr/>
          </p:nvSpPr>
          <p:spPr>
            <a:xfrm>
              <a:off x="114021" y="351860"/>
              <a:ext cx="310492" cy="593054"/>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5400000">
            <a:off x="15813848" y="7819175"/>
            <a:ext cx="4147297" cy="788353"/>
            <a:chOff x="0" y="0"/>
            <a:chExt cx="1425301" cy="270932"/>
          </a:xfrm>
        </p:grpSpPr>
        <p:sp>
          <p:nvSpPr>
            <p:cNvPr name="Freeform 20" id="20"/>
            <p:cNvSpPr/>
            <p:nvPr/>
          </p:nvSpPr>
          <p:spPr>
            <a:xfrm flipH="false" flipV="false" rot="0">
              <a:off x="0" y="0"/>
              <a:ext cx="1425301" cy="270444"/>
            </a:xfrm>
            <a:custGeom>
              <a:avLst/>
              <a:gdLst/>
              <a:ahLst/>
              <a:cxnLst/>
              <a:rect r="r" b="b" t="t" l="l"/>
              <a:pathLst>
                <a:path h="270444" w="1425301">
                  <a:moveTo>
                    <a:pt x="712650" y="0"/>
                  </a:moveTo>
                  <a:lnTo>
                    <a:pt x="1425301" y="270444"/>
                  </a:lnTo>
                  <a:lnTo>
                    <a:pt x="0" y="270444"/>
                  </a:lnTo>
                  <a:close/>
                </a:path>
              </a:pathLst>
            </a:custGeom>
            <a:solidFill>
              <a:srgbClr val="84A5FF"/>
            </a:solidFill>
          </p:spPr>
        </p:sp>
        <p:sp>
          <p:nvSpPr>
            <p:cNvPr name="TextBox 21" id="21"/>
            <p:cNvSpPr txBox="true"/>
            <p:nvPr/>
          </p:nvSpPr>
          <p:spPr>
            <a:xfrm>
              <a:off x="301772" y="66712"/>
              <a:ext cx="821756" cy="203732"/>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6714663" y="8213352"/>
            <a:ext cx="1567010" cy="2073648"/>
            <a:chOff x="0" y="0"/>
            <a:chExt cx="538534" cy="712647"/>
          </a:xfrm>
        </p:grpSpPr>
        <p:sp>
          <p:nvSpPr>
            <p:cNvPr name="Freeform 23" id="23"/>
            <p:cNvSpPr/>
            <p:nvPr/>
          </p:nvSpPr>
          <p:spPr>
            <a:xfrm flipH="false" flipV="false" rot="0">
              <a:off x="0" y="0"/>
              <a:ext cx="538534" cy="711363"/>
            </a:xfrm>
            <a:custGeom>
              <a:avLst/>
              <a:gdLst/>
              <a:ahLst/>
              <a:cxnLst/>
              <a:rect r="r" b="b" t="t" l="l"/>
              <a:pathLst>
                <a:path h="711363" w="538534">
                  <a:moveTo>
                    <a:pt x="269267" y="0"/>
                  </a:moveTo>
                  <a:lnTo>
                    <a:pt x="538534" y="711363"/>
                  </a:lnTo>
                  <a:lnTo>
                    <a:pt x="0" y="711363"/>
                  </a:lnTo>
                  <a:close/>
                </a:path>
              </a:pathLst>
            </a:custGeom>
            <a:solidFill>
              <a:srgbClr val="84A5FF"/>
            </a:solidFill>
          </p:spPr>
        </p:sp>
        <p:sp>
          <p:nvSpPr>
            <p:cNvPr name="TextBox 24" id="24"/>
            <p:cNvSpPr txBox="true"/>
            <p:nvPr/>
          </p:nvSpPr>
          <p:spPr>
            <a:xfrm>
              <a:off x="114021" y="253121"/>
              <a:ext cx="310492" cy="45824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5400000">
            <a:off x="13755459" y="3680810"/>
            <a:ext cx="8215339" cy="849744"/>
            <a:chOff x="0" y="0"/>
            <a:chExt cx="2163711" cy="223800"/>
          </a:xfrm>
        </p:grpSpPr>
        <p:sp>
          <p:nvSpPr>
            <p:cNvPr name="Freeform 26" id="26"/>
            <p:cNvSpPr/>
            <p:nvPr/>
          </p:nvSpPr>
          <p:spPr>
            <a:xfrm flipH="false" flipV="false" rot="0">
              <a:off x="0" y="0"/>
              <a:ext cx="2163711" cy="223397"/>
            </a:xfrm>
            <a:custGeom>
              <a:avLst/>
              <a:gdLst/>
              <a:ahLst/>
              <a:cxnLst/>
              <a:rect r="r" b="b" t="t" l="l"/>
              <a:pathLst>
                <a:path h="223397" w="2163711">
                  <a:moveTo>
                    <a:pt x="1081855" y="0"/>
                  </a:moveTo>
                  <a:lnTo>
                    <a:pt x="2163711" y="223397"/>
                  </a:lnTo>
                  <a:lnTo>
                    <a:pt x="0" y="223397"/>
                  </a:lnTo>
                  <a:close/>
                </a:path>
              </a:pathLst>
            </a:custGeom>
            <a:solidFill>
              <a:srgbClr val="A4C7FF"/>
            </a:solidFill>
          </p:spPr>
        </p:sp>
        <p:sp>
          <p:nvSpPr>
            <p:cNvPr name="TextBox 27" id="27"/>
            <p:cNvSpPr txBox="true"/>
            <p:nvPr/>
          </p:nvSpPr>
          <p:spPr>
            <a:xfrm>
              <a:off x="458112" y="46821"/>
              <a:ext cx="1247486" cy="176575"/>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10800000">
            <a:off x="16593738" y="-1987"/>
            <a:ext cx="1689036" cy="4107669"/>
            <a:chOff x="0" y="0"/>
            <a:chExt cx="444849" cy="1081850"/>
          </a:xfrm>
        </p:grpSpPr>
        <p:sp>
          <p:nvSpPr>
            <p:cNvPr name="Freeform 29" id="29"/>
            <p:cNvSpPr/>
            <p:nvPr/>
          </p:nvSpPr>
          <p:spPr>
            <a:xfrm flipH="false" flipV="false" rot="0">
              <a:off x="0" y="0"/>
              <a:ext cx="444849" cy="1079901"/>
            </a:xfrm>
            <a:custGeom>
              <a:avLst/>
              <a:gdLst/>
              <a:ahLst/>
              <a:cxnLst/>
              <a:rect r="r" b="b" t="t" l="l"/>
              <a:pathLst>
                <a:path h="1079901" w="444849">
                  <a:moveTo>
                    <a:pt x="222424" y="0"/>
                  </a:moveTo>
                  <a:lnTo>
                    <a:pt x="444849" y="1079901"/>
                  </a:lnTo>
                  <a:lnTo>
                    <a:pt x="0" y="1079901"/>
                  </a:lnTo>
                  <a:close/>
                </a:path>
              </a:pathLst>
            </a:custGeom>
            <a:solidFill>
              <a:srgbClr val="A4C7FF"/>
            </a:solidFill>
          </p:spPr>
        </p:sp>
        <p:sp>
          <p:nvSpPr>
            <p:cNvPr name="TextBox 30" id="30"/>
            <p:cNvSpPr txBox="true"/>
            <p:nvPr/>
          </p:nvSpPr>
          <p:spPr>
            <a:xfrm>
              <a:off x="94186" y="408929"/>
              <a:ext cx="256477" cy="670972"/>
            </a:xfrm>
            <a:prstGeom prst="rect">
              <a:avLst/>
            </a:prstGeom>
          </p:spPr>
          <p:txBody>
            <a:bodyPr anchor="ctr" rtlCol="false" tIns="50800" lIns="50800" bIns="50800" rIns="50800"/>
            <a:lstStyle/>
            <a:p>
              <a:pPr algn="ctr">
                <a:lnSpc>
                  <a:spcPts val="2659"/>
                </a:lnSpc>
              </a:pPr>
            </a:p>
          </p:txBody>
        </p:sp>
      </p:grpSp>
      <p:sp>
        <p:nvSpPr>
          <p:cNvPr name="TextBox 31" id="31"/>
          <p:cNvSpPr txBox="true"/>
          <p:nvPr/>
        </p:nvSpPr>
        <p:spPr>
          <a:xfrm rot="0">
            <a:off x="665110" y="232273"/>
            <a:ext cx="5978910" cy="796427"/>
          </a:xfrm>
          <a:prstGeom prst="rect">
            <a:avLst/>
          </a:prstGeom>
        </p:spPr>
        <p:txBody>
          <a:bodyPr anchor="t" rtlCol="false" tIns="0" lIns="0" bIns="0" rIns="0">
            <a:spAutoFit/>
          </a:bodyPr>
          <a:lstStyle/>
          <a:p>
            <a:pPr algn="ctr">
              <a:lnSpc>
                <a:spcPts val="6502"/>
              </a:lnSpc>
              <a:spcBef>
                <a:spcPct val="0"/>
              </a:spcBef>
            </a:pPr>
            <a:r>
              <a:rPr lang="en-US" b="true" sz="4644">
                <a:solidFill>
                  <a:srgbClr val="000000"/>
                </a:solidFill>
                <a:latin typeface="Roboto Slab Bold"/>
                <a:ea typeface="Roboto Slab Bold"/>
                <a:cs typeface="Roboto Slab Bold"/>
                <a:sym typeface="Roboto Slab Bold"/>
              </a:rPr>
              <a:t>Dildə paralel leksika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839681"/>
            <a:ext cx="18288000" cy="2447319"/>
          </a:xfrm>
          <a:custGeom>
            <a:avLst/>
            <a:gdLst/>
            <a:ahLst/>
            <a:cxnLst/>
            <a:rect r="r" b="b" t="t" l="l"/>
            <a:pathLst>
              <a:path h="2447319" w="18288000">
                <a:moveTo>
                  <a:pt x="0" y="0"/>
                </a:moveTo>
                <a:lnTo>
                  <a:pt x="18288000" y="0"/>
                </a:lnTo>
                <a:lnTo>
                  <a:pt x="18288000" y="2447319"/>
                </a:lnTo>
                <a:lnTo>
                  <a:pt x="0" y="2447319"/>
                </a:lnTo>
                <a:lnTo>
                  <a:pt x="0" y="0"/>
                </a:lnTo>
                <a:close/>
              </a:path>
            </a:pathLst>
          </a:custGeom>
          <a:blipFill>
            <a:blip r:embed="rId2"/>
            <a:stretch>
              <a:fillRect l="0" t="-169875" r="0" b="-164473"/>
            </a:stretch>
          </a:blipFill>
        </p:spPr>
      </p:sp>
      <p:grpSp>
        <p:nvGrpSpPr>
          <p:cNvPr name="Group 3" id="3"/>
          <p:cNvGrpSpPr/>
          <p:nvPr/>
        </p:nvGrpSpPr>
        <p:grpSpPr>
          <a:xfrm rot="0">
            <a:off x="1686678" y="1221940"/>
            <a:ext cx="14914644" cy="6617740"/>
            <a:chOff x="0" y="0"/>
            <a:chExt cx="6395124" cy="2837565"/>
          </a:xfrm>
        </p:grpSpPr>
        <p:sp>
          <p:nvSpPr>
            <p:cNvPr name="Freeform 4" id="4"/>
            <p:cNvSpPr/>
            <p:nvPr/>
          </p:nvSpPr>
          <p:spPr>
            <a:xfrm flipH="false" flipV="false" rot="0">
              <a:off x="0" y="0"/>
              <a:ext cx="6395124" cy="2837565"/>
            </a:xfrm>
            <a:custGeom>
              <a:avLst/>
              <a:gdLst/>
              <a:ahLst/>
              <a:cxnLst/>
              <a:rect r="r" b="b" t="t" l="l"/>
              <a:pathLst>
                <a:path h="2837565" w="6395124">
                  <a:moveTo>
                    <a:pt x="51908" y="0"/>
                  </a:moveTo>
                  <a:lnTo>
                    <a:pt x="6343216" y="0"/>
                  </a:lnTo>
                  <a:cubicBezTo>
                    <a:pt x="6356983" y="0"/>
                    <a:pt x="6370186" y="5469"/>
                    <a:pt x="6379920" y="15204"/>
                  </a:cubicBezTo>
                  <a:cubicBezTo>
                    <a:pt x="6389655" y="24938"/>
                    <a:pt x="6395124" y="38141"/>
                    <a:pt x="6395124" y="51908"/>
                  </a:cubicBezTo>
                  <a:lnTo>
                    <a:pt x="6395124" y="2785657"/>
                  </a:lnTo>
                  <a:cubicBezTo>
                    <a:pt x="6395124" y="2799424"/>
                    <a:pt x="6389655" y="2812627"/>
                    <a:pt x="6379920" y="2822361"/>
                  </a:cubicBezTo>
                  <a:cubicBezTo>
                    <a:pt x="6370186" y="2832096"/>
                    <a:pt x="6356983" y="2837565"/>
                    <a:pt x="6343216" y="2837565"/>
                  </a:cubicBezTo>
                  <a:lnTo>
                    <a:pt x="51908" y="2837565"/>
                  </a:lnTo>
                  <a:cubicBezTo>
                    <a:pt x="38141" y="2837565"/>
                    <a:pt x="24938" y="2832096"/>
                    <a:pt x="15204" y="2822361"/>
                  </a:cubicBezTo>
                  <a:cubicBezTo>
                    <a:pt x="5469" y="2812627"/>
                    <a:pt x="0" y="2799424"/>
                    <a:pt x="0" y="2785657"/>
                  </a:cubicBezTo>
                  <a:lnTo>
                    <a:pt x="0" y="51908"/>
                  </a:lnTo>
                  <a:cubicBezTo>
                    <a:pt x="0" y="38141"/>
                    <a:pt x="5469" y="24938"/>
                    <a:pt x="15204" y="15204"/>
                  </a:cubicBezTo>
                  <a:cubicBezTo>
                    <a:pt x="24938" y="5469"/>
                    <a:pt x="38141" y="0"/>
                    <a:pt x="51908" y="0"/>
                  </a:cubicBezTo>
                  <a:close/>
                </a:path>
              </a:pathLst>
            </a:custGeom>
            <a:solidFill>
              <a:srgbClr val="FFFFFF">
                <a:alpha val="66667"/>
              </a:srgbClr>
            </a:solidFill>
            <a:ln w="19050" cap="rnd">
              <a:solidFill>
                <a:srgbClr val="000000">
                  <a:alpha val="66667"/>
                </a:srgbClr>
              </a:solidFill>
              <a:prstDash val="solid"/>
              <a:round/>
            </a:ln>
          </p:spPr>
        </p:sp>
        <p:sp>
          <p:nvSpPr>
            <p:cNvPr name="TextBox 5" id="5"/>
            <p:cNvSpPr txBox="true"/>
            <p:nvPr/>
          </p:nvSpPr>
          <p:spPr>
            <a:xfrm>
              <a:off x="0" y="-47625"/>
              <a:ext cx="6395124" cy="288519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060655" y="1474309"/>
            <a:ext cx="14166689" cy="6365372"/>
          </a:xfrm>
          <a:prstGeom prst="rect">
            <a:avLst/>
          </a:prstGeom>
        </p:spPr>
        <p:txBody>
          <a:bodyPr anchor="t" rtlCol="false" tIns="0" lIns="0" bIns="0" rIns="0">
            <a:spAutoFit/>
          </a:bodyPr>
          <a:lstStyle/>
          <a:p>
            <a:pPr algn="l">
              <a:lnSpc>
                <a:spcPts val="4577"/>
              </a:lnSpc>
            </a:pPr>
            <a:r>
              <a:rPr lang="en-US" sz="3269">
                <a:solidFill>
                  <a:srgbClr val="000000"/>
                </a:solidFill>
                <a:latin typeface="Roboto Slab"/>
                <a:ea typeface="Roboto Slab"/>
                <a:cs typeface="Roboto Slab"/>
                <a:sym typeface="Roboto Slab"/>
              </a:rPr>
              <a:t>Azərbaycan mənbələrinə görə, neologizmlər dilin inkişafında əsas yeniləşmə mexanizmlərindən biridir və yeni anlayışları adlandırmaqla lüğət tərkibini zənginləşdirir.</a:t>
            </a:r>
          </a:p>
          <a:p>
            <a:pPr algn="l">
              <a:lnSpc>
                <a:spcPts val="4577"/>
              </a:lnSpc>
            </a:pPr>
            <a:r>
              <a:rPr lang="en-US" sz="3269">
                <a:solidFill>
                  <a:srgbClr val="000000"/>
                </a:solidFill>
                <a:latin typeface="Roboto Slab"/>
                <a:ea typeface="Roboto Slab"/>
                <a:cs typeface="Roboto Slab"/>
                <a:sym typeface="Roboto Slab"/>
              </a:rPr>
              <a:t> Onlar:</a:t>
            </a:r>
          </a:p>
          <a:p>
            <a:pPr algn="l" marL="705951" indent="-352975" lvl="1">
              <a:lnSpc>
                <a:spcPts val="4577"/>
              </a:lnSpc>
              <a:buFont typeface="Arial"/>
              <a:buChar char="•"/>
            </a:pPr>
            <a:r>
              <a:rPr lang="en-US" sz="3269">
                <a:solidFill>
                  <a:srgbClr val="000000"/>
                </a:solidFill>
                <a:latin typeface="Roboto Slab"/>
                <a:ea typeface="Roboto Slab"/>
                <a:cs typeface="Roboto Slab"/>
                <a:sym typeface="Roboto Slab"/>
              </a:rPr>
              <a:t>texnologiya,</a:t>
            </a:r>
          </a:p>
          <a:p>
            <a:pPr algn="l" marL="705951" indent="-352975" lvl="1">
              <a:lnSpc>
                <a:spcPts val="4577"/>
              </a:lnSpc>
              <a:buFont typeface="Arial"/>
              <a:buChar char="•"/>
            </a:pPr>
            <a:r>
              <a:rPr lang="en-US" sz="3269">
                <a:solidFill>
                  <a:srgbClr val="000000"/>
                </a:solidFill>
                <a:latin typeface="Roboto Slab"/>
                <a:ea typeface="Roboto Slab"/>
                <a:cs typeface="Roboto Slab"/>
                <a:sym typeface="Roboto Slab"/>
              </a:rPr>
              <a:t>sosial-siyasi</a:t>
            </a:r>
            <a:r>
              <a:rPr lang="en-US" sz="3269">
                <a:solidFill>
                  <a:srgbClr val="000000"/>
                </a:solidFill>
                <a:latin typeface="Roboto Slab"/>
                <a:ea typeface="Roboto Slab"/>
                <a:cs typeface="Roboto Slab"/>
                <a:sym typeface="Roboto Slab"/>
              </a:rPr>
              <a:t> dəyişikliklər,</a:t>
            </a:r>
          </a:p>
          <a:p>
            <a:pPr algn="l" marL="705951" indent="-352975" lvl="1">
              <a:lnSpc>
                <a:spcPts val="4577"/>
              </a:lnSpc>
              <a:buFont typeface="Arial"/>
              <a:buChar char="•"/>
            </a:pPr>
            <a:r>
              <a:rPr lang="en-US" sz="3269">
                <a:solidFill>
                  <a:srgbClr val="000000"/>
                </a:solidFill>
                <a:latin typeface="Roboto Slab"/>
                <a:ea typeface="Roboto Slab"/>
                <a:cs typeface="Roboto Slab"/>
                <a:sym typeface="Roboto Slab"/>
              </a:rPr>
              <a:t>mədəni həyat</a:t>
            </a:r>
          </a:p>
          <a:p>
            <a:pPr algn="l">
              <a:lnSpc>
                <a:spcPts val="4577"/>
              </a:lnSpc>
            </a:pPr>
            <a:r>
              <a:rPr lang="en-US" sz="3269">
                <a:solidFill>
                  <a:srgbClr val="000000"/>
                </a:solidFill>
                <a:latin typeface="Roboto Slab"/>
                <a:ea typeface="Roboto Slab"/>
                <a:cs typeface="Roboto Slab"/>
                <a:sym typeface="Roboto Slab"/>
              </a:rPr>
              <a:t>ilə sıx bağlıdır.</a:t>
            </a:r>
          </a:p>
          <a:p>
            <a:pPr algn="l">
              <a:lnSpc>
                <a:spcPts val="4577"/>
              </a:lnSpc>
            </a:pPr>
            <a:r>
              <a:rPr lang="en-US" sz="3269">
                <a:solidFill>
                  <a:srgbClr val="000000"/>
                </a:solidFill>
                <a:latin typeface="Roboto Slab"/>
                <a:ea typeface="Roboto Slab"/>
                <a:cs typeface="Roboto Slab"/>
                <a:sym typeface="Roboto Slab"/>
              </a:rPr>
              <a:t>Alınmaların mənimsənilməsi və paralel leksikanın normalaşdırılması isə ədəbi dilin sabitliyi üçün vacibdir.</a:t>
            </a:r>
          </a:p>
          <a:p>
            <a:pPr algn="ctr">
              <a:lnSpc>
                <a:spcPts val="4577"/>
              </a:lnSpc>
            </a:pPr>
          </a:p>
        </p:txBody>
      </p:sp>
      <p:sp>
        <p:nvSpPr>
          <p:cNvPr name="TextBox 7" id="7"/>
          <p:cNvSpPr txBox="true"/>
          <p:nvPr/>
        </p:nvSpPr>
        <p:spPr>
          <a:xfrm rot="0">
            <a:off x="6383684" y="232273"/>
            <a:ext cx="5520633" cy="796427"/>
          </a:xfrm>
          <a:prstGeom prst="rect">
            <a:avLst/>
          </a:prstGeom>
        </p:spPr>
        <p:txBody>
          <a:bodyPr anchor="t" rtlCol="false" tIns="0" lIns="0" bIns="0" rIns="0">
            <a:spAutoFit/>
          </a:bodyPr>
          <a:lstStyle/>
          <a:p>
            <a:pPr algn="ctr">
              <a:lnSpc>
                <a:spcPts val="6502"/>
              </a:lnSpc>
              <a:spcBef>
                <a:spcPct val="0"/>
              </a:spcBef>
            </a:pPr>
            <a:r>
              <a:rPr lang="en-US" b="true" sz="4644">
                <a:solidFill>
                  <a:srgbClr val="000000"/>
                </a:solidFill>
                <a:latin typeface="Roboto Slab Bold"/>
                <a:ea typeface="Roboto Slab Bold"/>
                <a:cs typeface="Roboto Slab Bold"/>
                <a:sym typeface="Roboto Slab Bold"/>
              </a:rPr>
              <a:t>Ümumiləşdirmə</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37" y="7063740"/>
            <a:ext cx="9111827" cy="3223260"/>
            <a:chOff x="0" y="0"/>
            <a:chExt cx="1687375" cy="596900"/>
          </a:xfrm>
        </p:grpSpPr>
        <p:sp>
          <p:nvSpPr>
            <p:cNvPr name="Freeform 3" id="3"/>
            <p:cNvSpPr/>
            <p:nvPr/>
          </p:nvSpPr>
          <p:spPr>
            <a:xfrm flipH="false" flipV="false" rot="0">
              <a:off x="0" y="0"/>
              <a:ext cx="1687375" cy="596900"/>
            </a:xfrm>
            <a:custGeom>
              <a:avLst/>
              <a:gdLst/>
              <a:ahLst/>
              <a:cxnLst/>
              <a:rect r="r" b="b" t="t" l="l"/>
              <a:pathLst>
                <a:path h="596900" w="1687375">
                  <a:moveTo>
                    <a:pt x="1687375" y="596900"/>
                  </a:moveTo>
                  <a:lnTo>
                    <a:pt x="0" y="596900"/>
                  </a:lnTo>
                  <a:lnTo>
                    <a:pt x="0" y="0"/>
                  </a:lnTo>
                  <a:lnTo>
                    <a:pt x="1687375" y="596900"/>
                  </a:lnTo>
                  <a:close/>
                </a:path>
              </a:pathLst>
            </a:custGeom>
            <a:solidFill>
              <a:srgbClr val="84A5FF"/>
            </a:solidFill>
          </p:spPr>
        </p:sp>
        <p:sp>
          <p:nvSpPr>
            <p:cNvPr name="TextBox 4" id="4"/>
            <p:cNvSpPr txBox="true"/>
            <p:nvPr/>
          </p:nvSpPr>
          <p:spPr>
            <a:xfrm>
              <a:off x="0" y="250825"/>
              <a:ext cx="843688" cy="3460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2136916" y="4171674"/>
            <a:ext cx="3086100" cy="9144553"/>
            <a:chOff x="0" y="0"/>
            <a:chExt cx="571500" cy="1693436"/>
          </a:xfrm>
        </p:grpSpPr>
        <p:sp>
          <p:nvSpPr>
            <p:cNvPr name="Freeform 6" id="6"/>
            <p:cNvSpPr/>
            <p:nvPr/>
          </p:nvSpPr>
          <p:spPr>
            <a:xfrm flipH="false" flipV="false" rot="0">
              <a:off x="0" y="0"/>
              <a:ext cx="571500" cy="1693436"/>
            </a:xfrm>
            <a:custGeom>
              <a:avLst/>
              <a:gdLst/>
              <a:ahLst/>
              <a:cxnLst/>
              <a:rect r="r" b="b" t="t" l="l"/>
              <a:pathLst>
                <a:path h="1693436" w="571500">
                  <a:moveTo>
                    <a:pt x="571500" y="1693436"/>
                  </a:moveTo>
                  <a:lnTo>
                    <a:pt x="0" y="1693436"/>
                  </a:lnTo>
                  <a:lnTo>
                    <a:pt x="0" y="0"/>
                  </a:lnTo>
                  <a:lnTo>
                    <a:pt x="571500" y="1693436"/>
                  </a:lnTo>
                  <a:close/>
                </a:path>
              </a:pathLst>
            </a:custGeom>
            <a:solidFill>
              <a:srgbClr val="4382EB"/>
            </a:solidFill>
          </p:spPr>
        </p:sp>
        <p:sp>
          <p:nvSpPr>
            <p:cNvPr name="TextBox 7" id="7"/>
            <p:cNvSpPr txBox="true"/>
            <p:nvPr/>
          </p:nvSpPr>
          <p:spPr>
            <a:xfrm>
              <a:off x="0" y="799093"/>
              <a:ext cx="285750" cy="89434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7600950" y="2307936"/>
            <a:ext cx="3086100" cy="12872028"/>
            <a:chOff x="0" y="0"/>
            <a:chExt cx="812800" cy="3390164"/>
          </a:xfrm>
        </p:grpSpPr>
        <p:sp>
          <p:nvSpPr>
            <p:cNvPr name="Freeform 9" id="9"/>
            <p:cNvSpPr/>
            <p:nvPr/>
          </p:nvSpPr>
          <p:spPr>
            <a:xfrm flipH="false" flipV="false" rot="0">
              <a:off x="0" y="0"/>
              <a:ext cx="812800" cy="3390164"/>
            </a:xfrm>
            <a:custGeom>
              <a:avLst/>
              <a:gdLst/>
              <a:ahLst/>
              <a:cxnLst/>
              <a:rect r="r" b="b" t="t" l="l"/>
              <a:pathLst>
                <a:path h="3390164" w="812800">
                  <a:moveTo>
                    <a:pt x="250864" y="0"/>
                  </a:moveTo>
                  <a:lnTo>
                    <a:pt x="561936" y="0"/>
                  </a:lnTo>
                  <a:cubicBezTo>
                    <a:pt x="700484" y="0"/>
                    <a:pt x="812800" y="112316"/>
                    <a:pt x="812800" y="250864"/>
                  </a:cubicBezTo>
                  <a:lnTo>
                    <a:pt x="812800" y="3139300"/>
                  </a:lnTo>
                  <a:cubicBezTo>
                    <a:pt x="812800" y="3205833"/>
                    <a:pt x="786370" y="3269642"/>
                    <a:pt x="739324" y="3316687"/>
                  </a:cubicBezTo>
                  <a:cubicBezTo>
                    <a:pt x="692277" y="3363734"/>
                    <a:pt x="628469" y="3390164"/>
                    <a:pt x="561936" y="3390164"/>
                  </a:cubicBezTo>
                  <a:lnTo>
                    <a:pt x="250864" y="3390164"/>
                  </a:lnTo>
                  <a:cubicBezTo>
                    <a:pt x="112316" y="3390164"/>
                    <a:pt x="0" y="3277848"/>
                    <a:pt x="0" y="3139300"/>
                  </a:cubicBezTo>
                  <a:lnTo>
                    <a:pt x="0" y="250864"/>
                  </a:lnTo>
                  <a:cubicBezTo>
                    <a:pt x="0" y="112316"/>
                    <a:pt x="112316" y="0"/>
                    <a:pt x="250864" y="0"/>
                  </a:cubicBezTo>
                  <a:close/>
                </a:path>
              </a:pathLst>
            </a:custGeom>
            <a:solidFill>
              <a:srgbClr val="FFFFFF"/>
            </a:solidFill>
          </p:spPr>
        </p:sp>
        <p:sp>
          <p:nvSpPr>
            <p:cNvPr name="TextBox 10" id="10"/>
            <p:cNvSpPr txBox="true"/>
            <p:nvPr/>
          </p:nvSpPr>
          <p:spPr>
            <a:xfrm>
              <a:off x="0" y="-47625"/>
              <a:ext cx="812800" cy="343778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2707986" y="1221940"/>
            <a:ext cx="12872028" cy="9065060"/>
            <a:chOff x="0" y="0"/>
            <a:chExt cx="5519288" cy="3886930"/>
          </a:xfrm>
        </p:grpSpPr>
        <p:sp>
          <p:nvSpPr>
            <p:cNvPr name="Freeform 12" id="12"/>
            <p:cNvSpPr/>
            <p:nvPr/>
          </p:nvSpPr>
          <p:spPr>
            <a:xfrm flipH="false" flipV="false" rot="0">
              <a:off x="0" y="0"/>
              <a:ext cx="5519288" cy="3886930"/>
            </a:xfrm>
            <a:custGeom>
              <a:avLst/>
              <a:gdLst/>
              <a:ahLst/>
              <a:cxnLst/>
              <a:rect r="r" b="b" t="t" l="l"/>
              <a:pathLst>
                <a:path h="3886930" w="5519288">
                  <a:moveTo>
                    <a:pt x="60145" y="0"/>
                  </a:moveTo>
                  <a:lnTo>
                    <a:pt x="5459143" y="0"/>
                  </a:lnTo>
                  <a:cubicBezTo>
                    <a:pt x="5475094" y="0"/>
                    <a:pt x="5490392" y="6337"/>
                    <a:pt x="5501672" y="17616"/>
                  </a:cubicBezTo>
                  <a:cubicBezTo>
                    <a:pt x="5512951" y="28896"/>
                    <a:pt x="5519288" y="44194"/>
                    <a:pt x="5519288" y="60145"/>
                  </a:cubicBezTo>
                  <a:lnTo>
                    <a:pt x="5519288" y="3826785"/>
                  </a:lnTo>
                  <a:cubicBezTo>
                    <a:pt x="5519288" y="3842736"/>
                    <a:pt x="5512951" y="3858035"/>
                    <a:pt x="5501672" y="3869314"/>
                  </a:cubicBezTo>
                  <a:cubicBezTo>
                    <a:pt x="5490392" y="3880593"/>
                    <a:pt x="5475094" y="3886930"/>
                    <a:pt x="5459143" y="3886930"/>
                  </a:cubicBezTo>
                  <a:lnTo>
                    <a:pt x="60145" y="3886930"/>
                  </a:lnTo>
                  <a:cubicBezTo>
                    <a:pt x="26928" y="3886930"/>
                    <a:pt x="0" y="3860002"/>
                    <a:pt x="0" y="3826785"/>
                  </a:cubicBezTo>
                  <a:lnTo>
                    <a:pt x="0" y="60145"/>
                  </a:lnTo>
                  <a:cubicBezTo>
                    <a:pt x="0" y="44194"/>
                    <a:pt x="6337" y="28896"/>
                    <a:pt x="17616" y="17616"/>
                  </a:cubicBezTo>
                  <a:cubicBezTo>
                    <a:pt x="28896" y="6337"/>
                    <a:pt x="44194" y="0"/>
                    <a:pt x="60145" y="0"/>
                  </a:cubicBezTo>
                  <a:close/>
                </a:path>
              </a:pathLst>
            </a:custGeom>
            <a:solidFill>
              <a:srgbClr val="A4C7FF">
                <a:alpha val="13725"/>
              </a:srgbClr>
            </a:solidFill>
            <a:ln w="19050" cap="rnd">
              <a:solidFill>
                <a:srgbClr val="000000">
                  <a:alpha val="13725"/>
                </a:srgbClr>
              </a:solidFill>
              <a:prstDash val="solid"/>
              <a:round/>
            </a:ln>
          </p:spPr>
        </p:sp>
        <p:sp>
          <p:nvSpPr>
            <p:cNvPr name="TextBox 13" id="13"/>
            <p:cNvSpPr txBox="true"/>
            <p:nvPr/>
          </p:nvSpPr>
          <p:spPr>
            <a:xfrm>
              <a:off x="0" y="-47625"/>
              <a:ext cx="5519288" cy="3934555"/>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081963" y="1474309"/>
            <a:ext cx="12051453" cy="6155657"/>
          </a:xfrm>
          <a:prstGeom prst="rect">
            <a:avLst/>
          </a:prstGeom>
        </p:spPr>
        <p:txBody>
          <a:bodyPr anchor="t" rtlCol="false" tIns="0" lIns="0" bIns="0" rIns="0">
            <a:spAutoFit/>
          </a:bodyPr>
          <a:lstStyle/>
          <a:p>
            <a:pPr algn="l" marL="626394" indent="-313197" lvl="1">
              <a:lnSpc>
                <a:spcPts val="4061"/>
              </a:lnSpc>
              <a:buFont typeface="Arial"/>
              <a:buChar char="•"/>
            </a:pPr>
            <a:r>
              <a:rPr lang="en-US" sz="2901" u="sng">
                <a:solidFill>
                  <a:srgbClr val="000000"/>
                </a:solidFill>
                <a:latin typeface="Roboto Slab"/>
                <a:ea typeface="Roboto Slab"/>
                <a:cs typeface="Roboto Slab"/>
                <a:sym typeface="Roboto Slab"/>
                <a:hlinkClick r:id="rId2" tooltip="https://civilization-journal.com/wp-content/uploads/images/February/Gnel%20QULYEVA-DLN%20NKAFINDA%20NEOLOGZMLRN%20ROLU.pdf"/>
              </a:rPr>
              <a:t>https://civilization-journal.com/wp-content/uploads/images/February/Gnel%20QULYEVA-DLN%20NKAFINDA%20NEOLOGZMLRN%20ROLU.pdf</a:t>
            </a:r>
          </a:p>
          <a:p>
            <a:pPr algn="l" marL="626394" indent="-313197" lvl="1">
              <a:lnSpc>
                <a:spcPts val="4061"/>
              </a:lnSpc>
              <a:buFont typeface="Arial"/>
              <a:buChar char="•"/>
            </a:pPr>
            <a:r>
              <a:rPr lang="en-US" sz="2901" u="sng">
                <a:solidFill>
                  <a:srgbClr val="000000"/>
                </a:solidFill>
                <a:latin typeface="Roboto Slab"/>
                <a:ea typeface="Roboto Slab"/>
                <a:cs typeface="Roboto Slab"/>
                <a:sym typeface="Roboto Slab"/>
                <a:hlinkClick r:id="rId3" tooltip="https://filologiyameseleleri.com/pdf/2024/n5/gunel%20quliyeva%20239-245.pdf"/>
              </a:rPr>
              <a:t>https://filologiyameseleleri.com/pdf/2024/n5/gunel%20quliyeva%20239-245.pdf</a:t>
            </a:r>
          </a:p>
          <a:p>
            <a:pPr algn="l" marL="626394" indent="-313197" lvl="1">
              <a:lnSpc>
                <a:spcPts val="4061"/>
              </a:lnSpc>
              <a:buFont typeface="Arial"/>
              <a:buChar char="•"/>
            </a:pPr>
            <a:r>
              <a:rPr lang="en-US" sz="2901" u="sng">
                <a:solidFill>
                  <a:srgbClr val="000000"/>
                </a:solidFill>
                <a:latin typeface="Roboto Slab"/>
                <a:ea typeface="Roboto Slab"/>
                <a:cs typeface="Roboto Slab"/>
                <a:sym typeface="Roboto Slab"/>
                <a:hlinkClick r:id="rId4" tooltip="http://doi.science.gov.az/pages/journals/term/pdf/term2025_2_47.pdf"/>
              </a:rPr>
              <a:t>http://doi.science.gov.az/pages/journals/term/pdf/term2025_2_47.pdf</a:t>
            </a:r>
          </a:p>
          <a:p>
            <a:pPr algn="l" marL="626394" indent="-313197" lvl="1">
              <a:lnSpc>
                <a:spcPts val="4061"/>
              </a:lnSpc>
              <a:buFont typeface="Arial"/>
              <a:buChar char="•"/>
            </a:pPr>
            <a:r>
              <a:rPr lang="en-US" sz="2901" u="sng">
                <a:solidFill>
                  <a:srgbClr val="000000"/>
                </a:solidFill>
                <a:latin typeface="Roboto Slab"/>
                <a:ea typeface="Roboto Slab"/>
                <a:cs typeface="Roboto Slab"/>
                <a:sym typeface="Roboto Slab"/>
                <a:hlinkClick r:id="rId5" tooltip="https://aak.gov.az/upload/dissertasion/filologiya_elml_ri/Avtoreferat_Az%C9%99rbaycan_word.pdf"/>
              </a:rPr>
              <a:t>https://aak.gov.az/upload/dissertasion/filologiya_elml_ri/Avtoreferat_Az%C9%99rbaycan_word.pdf</a:t>
            </a:r>
          </a:p>
          <a:p>
            <a:pPr algn="l" marL="626394" indent="-313197" lvl="1">
              <a:lnSpc>
                <a:spcPts val="4061"/>
              </a:lnSpc>
              <a:buFont typeface="Arial"/>
              <a:buChar char="•"/>
            </a:pPr>
            <a:r>
              <a:rPr lang="en-US" sz="2901" u="sng">
                <a:solidFill>
                  <a:srgbClr val="000000"/>
                </a:solidFill>
                <a:latin typeface="Roboto Slab"/>
                <a:ea typeface="Roboto Slab"/>
                <a:cs typeface="Roboto Slab"/>
                <a:sym typeface="Roboto Slab"/>
                <a:hlinkClick r:id="rId6" tooltip="http://dspace.khazar.org/bitstream/20.500.12323/5463/1/M%C3%BCasir%20Az%C9%99rbaycan%20dilind%C9%99%20terminoloji%20leksikanin%20inki%C5%9Fafi.pdf"/>
              </a:rPr>
              <a:t>http://dspace.khazar.org/bitstream/20.500.12323/5463/1/M%C3%BCasir%20Az%C9%99rbaycan%20dilind%C9%99%20terminoloji%20leksikanin%20inki%C5%9Fafi.pdf</a:t>
            </a:r>
          </a:p>
        </p:txBody>
      </p:sp>
      <p:sp>
        <p:nvSpPr>
          <p:cNvPr name="Freeform 15" id="15"/>
          <p:cNvSpPr/>
          <p:nvPr/>
        </p:nvSpPr>
        <p:spPr>
          <a:xfrm flipH="false" flipV="false" rot="0">
            <a:off x="730164" y="385363"/>
            <a:ext cx="1286674" cy="1286674"/>
          </a:xfrm>
          <a:custGeom>
            <a:avLst/>
            <a:gdLst/>
            <a:ahLst/>
            <a:cxnLst/>
            <a:rect r="r" b="b" t="t" l="l"/>
            <a:pathLst>
              <a:path h="1286674" w="1286674">
                <a:moveTo>
                  <a:pt x="0" y="0"/>
                </a:moveTo>
                <a:lnTo>
                  <a:pt x="1286674" y="0"/>
                </a:lnTo>
                <a:lnTo>
                  <a:pt x="1286674" y="1286674"/>
                </a:lnTo>
                <a:lnTo>
                  <a:pt x="0" y="1286674"/>
                </a:lnTo>
                <a:lnTo>
                  <a:pt x="0" y="0"/>
                </a:lnTo>
                <a:close/>
              </a:path>
            </a:pathLst>
          </a:custGeom>
          <a:blipFill>
            <a:blip r:embed="rId7"/>
            <a:stretch>
              <a:fillRect l="0" t="0" r="0" b="0"/>
            </a:stretch>
          </a:blipFill>
        </p:spPr>
      </p:sp>
      <p:sp>
        <p:nvSpPr>
          <p:cNvPr name="Freeform 16" id="16"/>
          <p:cNvSpPr/>
          <p:nvPr/>
        </p:nvSpPr>
        <p:spPr>
          <a:xfrm flipH="false" flipV="false" rot="0">
            <a:off x="16640613" y="434662"/>
            <a:ext cx="1237375" cy="1237375"/>
          </a:xfrm>
          <a:custGeom>
            <a:avLst/>
            <a:gdLst/>
            <a:ahLst/>
            <a:cxnLst/>
            <a:rect r="r" b="b" t="t" l="l"/>
            <a:pathLst>
              <a:path h="1237375" w="1237375">
                <a:moveTo>
                  <a:pt x="0" y="0"/>
                </a:moveTo>
                <a:lnTo>
                  <a:pt x="1237374" y="0"/>
                </a:lnTo>
                <a:lnTo>
                  <a:pt x="1237374" y="1237375"/>
                </a:lnTo>
                <a:lnTo>
                  <a:pt x="0" y="1237375"/>
                </a:lnTo>
                <a:lnTo>
                  <a:pt x="0" y="0"/>
                </a:lnTo>
                <a:close/>
              </a:path>
            </a:pathLst>
          </a:custGeom>
          <a:blipFill>
            <a:blip r:embed="rId8"/>
            <a:stretch>
              <a:fillRect l="0" t="0" r="0" b="0"/>
            </a:stretch>
          </a:blipFill>
          <a:ln cap="sq">
            <a:noFill/>
            <a:prstDash val="solid"/>
            <a:miter/>
          </a:ln>
        </p:spPr>
      </p:sp>
      <p:sp>
        <p:nvSpPr>
          <p:cNvPr name="TextBox 17" id="17"/>
          <p:cNvSpPr txBox="true"/>
          <p:nvPr/>
        </p:nvSpPr>
        <p:spPr>
          <a:xfrm rot="0">
            <a:off x="6383684" y="232273"/>
            <a:ext cx="5520633" cy="796427"/>
          </a:xfrm>
          <a:prstGeom prst="rect">
            <a:avLst/>
          </a:prstGeom>
        </p:spPr>
        <p:txBody>
          <a:bodyPr anchor="t" rtlCol="false" tIns="0" lIns="0" bIns="0" rIns="0">
            <a:spAutoFit/>
          </a:bodyPr>
          <a:lstStyle/>
          <a:p>
            <a:pPr algn="ctr">
              <a:lnSpc>
                <a:spcPts val="6502"/>
              </a:lnSpc>
              <a:spcBef>
                <a:spcPct val="0"/>
              </a:spcBef>
            </a:pPr>
            <a:r>
              <a:rPr lang="en-US" b="true" sz="4644">
                <a:solidFill>
                  <a:srgbClr val="000000"/>
                </a:solidFill>
                <a:latin typeface="Roboto Slab Bold"/>
                <a:ea typeface="Roboto Slab Bold"/>
                <a:cs typeface="Roboto Slab Bold"/>
                <a:sym typeface="Roboto Slab Bold"/>
              </a:rPr>
              <a:t>Mənbələr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62341" y="1221940"/>
            <a:ext cx="13963317" cy="5443909"/>
            <a:chOff x="0" y="0"/>
            <a:chExt cx="5519288" cy="2151817"/>
          </a:xfrm>
        </p:grpSpPr>
        <p:sp>
          <p:nvSpPr>
            <p:cNvPr name="Freeform 3" id="3"/>
            <p:cNvSpPr/>
            <p:nvPr/>
          </p:nvSpPr>
          <p:spPr>
            <a:xfrm flipH="false" flipV="false" rot="0">
              <a:off x="0" y="0"/>
              <a:ext cx="5519288" cy="2151817"/>
            </a:xfrm>
            <a:custGeom>
              <a:avLst/>
              <a:gdLst/>
              <a:ahLst/>
              <a:cxnLst/>
              <a:rect r="r" b="b" t="t" l="l"/>
              <a:pathLst>
                <a:path h="2151817" w="5519288">
                  <a:moveTo>
                    <a:pt x="55445" y="0"/>
                  </a:moveTo>
                  <a:lnTo>
                    <a:pt x="5463843" y="0"/>
                  </a:lnTo>
                  <a:cubicBezTo>
                    <a:pt x="5494465" y="0"/>
                    <a:pt x="5519288" y="24823"/>
                    <a:pt x="5519288" y="55445"/>
                  </a:cubicBezTo>
                  <a:lnTo>
                    <a:pt x="5519288" y="2096372"/>
                  </a:lnTo>
                  <a:cubicBezTo>
                    <a:pt x="5519288" y="2111077"/>
                    <a:pt x="5513446" y="2125180"/>
                    <a:pt x="5503049" y="2135578"/>
                  </a:cubicBezTo>
                  <a:cubicBezTo>
                    <a:pt x="5492651" y="2145975"/>
                    <a:pt x="5478548" y="2151817"/>
                    <a:pt x="5463843" y="2151817"/>
                  </a:cubicBezTo>
                  <a:lnTo>
                    <a:pt x="55445" y="2151817"/>
                  </a:lnTo>
                  <a:cubicBezTo>
                    <a:pt x="24823" y="2151817"/>
                    <a:pt x="0" y="2126993"/>
                    <a:pt x="0" y="2096372"/>
                  </a:cubicBezTo>
                  <a:lnTo>
                    <a:pt x="0" y="55445"/>
                  </a:lnTo>
                  <a:cubicBezTo>
                    <a:pt x="0" y="24823"/>
                    <a:pt x="24823" y="0"/>
                    <a:pt x="55445" y="0"/>
                  </a:cubicBezTo>
                  <a:close/>
                </a:path>
              </a:pathLst>
            </a:custGeom>
            <a:solidFill>
              <a:srgbClr val="FFFFFF">
                <a:alpha val="66667"/>
              </a:srgbClr>
            </a:solidFill>
            <a:ln cap="rnd">
              <a:noFill/>
              <a:prstDash val="solid"/>
              <a:round/>
            </a:ln>
          </p:spPr>
        </p:sp>
        <p:sp>
          <p:nvSpPr>
            <p:cNvPr name="TextBox 4" id="4"/>
            <p:cNvSpPr txBox="true"/>
            <p:nvPr/>
          </p:nvSpPr>
          <p:spPr>
            <a:xfrm>
              <a:off x="0" y="-47625"/>
              <a:ext cx="5519288" cy="219944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247" y="6878562"/>
            <a:ext cx="18288000" cy="3408438"/>
          </a:xfrm>
          <a:custGeom>
            <a:avLst/>
            <a:gdLst/>
            <a:ahLst/>
            <a:cxnLst/>
            <a:rect r="r" b="b" t="t" l="l"/>
            <a:pathLst>
              <a:path h="3408438" w="18288000">
                <a:moveTo>
                  <a:pt x="0" y="0"/>
                </a:moveTo>
                <a:lnTo>
                  <a:pt x="18288000" y="0"/>
                </a:lnTo>
                <a:lnTo>
                  <a:pt x="18288000" y="3408438"/>
                </a:lnTo>
                <a:lnTo>
                  <a:pt x="0" y="3408438"/>
                </a:lnTo>
                <a:lnTo>
                  <a:pt x="0" y="0"/>
                </a:lnTo>
                <a:close/>
              </a:path>
            </a:pathLst>
          </a:custGeom>
          <a:blipFill>
            <a:blip r:embed="rId2"/>
            <a:stretch>
              <a:fillRect l="0" t="-154915" r="0" b="-170972"/>
            </a:stretch>
          </a:blipFill>
        </p:spPr>
      </p:sp>
      <p:sp>
        <p:nvSpPr>
          <p:cNvPr name="Freeform 6" id="6"/>
          <p:cNvSpPr/>
          <p:nvPr/>
        </p:nvSpPr>
        <p:spPr>
          <a:xfrm flipH="false" flipV="false" rot="-1946449">
            <a:off x="485727" y="651987"/>
            <a:ext cx="1514114" cy="1046339"/>
          </a:xfrm>
          <a:custGeom>
            <a:avLst/>
            <a:gdLst/>
            <a:ahLst/>
            <a:cxnLst/>
            <a:rect r="r" b="b" t="t" l="l"/>
            <a:pathLst>
              <a:path h="1046339" w="1514114">
                <a:moveTo>
                  <a:pt x="0" y="0"/>
                </a:moveTo>
                <a:lnTo>
                  <a:pt x="1514113" y="0"/>
                </a:lnTo>
                <a:lnTo>
                  <a:pt x="1514113" y="1046338"/>
                </a:lnTo>
                <a:lnTo>
                  <a:pt x="0" y="10463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2249223">
            <a:off x="16556923" y="553074"/>
            <a:ext cx="1121942" cy="1121942"/>
          </a:xfrm>
          <a:custGeom>
            <a:avLst/>
            <a:gdLst/>
            <a:ahLst/>
            <a:cxnLst/>
            <a:rect r="r" b="b" t="t" l="l"/>
            <a:pathLst>
              <a:path h="1121942" w="1121942">
                <a:moveTo>
                  <a:pt x="0" y="0"/>
                </a:moveTo>
                <a:lnTo>
                  <a:pt x="1121943" y="0"/>
                </a:lnTo>
                <a:lnTo>
                  <a:pt x="1121943" y="1121942"/>
                </a:lnTo>
                <a:lnTo>
                  <a:pt x="0" y="1121942"/>
                </a:lnTo>
                <a:lnTo>
                  <a:pt x="0" y="0"/>
                </a:lnTo>
                <a:close/>
              </a:path>
            </a:pathLst>
          </a:custGeom>
          <a:blipFill>
            <a:blip r:embed="rId5"/>
            <a:stretch>
              <a:fillRect l="0" t="0" r="0" b="0"/>
            </a:stretch>
          </a:blipFill>
        </p:spPr>
      </p:sp>
      <p:sp>
        <p:nvSpPr>
          <p:cNvPr name="TextBox 8" id="8"/>
          <p:cNvSpPr txBox="true"/>
          <p:nvPr/>
        </p:nvSpPr>
        <p:spPr>
          <a:xfrm rot="0">
            <a:off x="3165620" y="1647101"/>
            <a:ext cx="11956761" cy="4546385"/>
          </a:xfrm>
          <a:prstGeom prst="rect">
            <a:avLst/>
          </a:prstGeom>
        </p:spPr>
        <p:txBody>
          <a:bodyPr anchor="t" rtlCol="false" tIns="0" lIns="0" bIns="0" rIns="0">
            <a:spAutoFit/>
          </a:bodyPr>
          <a:lstStyle/>
          <a:p>
            <a:pPr algn="ctr">
              <a:lnSpc>
                <a:spcPts val="5229"/>
              </a:lnSpc>
            </a:pPr>
            <a:r>
              <a:rPr lang="en-US" sz="3735">
                <a:solidFill>
                  <a:srgbClr val="000000"/>
                </a:solidFill>
                <a:latin typeface="Roboto Slab"/>
                <a:ea typeface="Roboto Slab"/>
                <a:cs typeface="Roboto Slab"/>
                <a:sym typeface="Roboto Slab"/>
              </a:rPr>
              <a:t>Neologizmlər müasir Azərbaycan dilini zənginləşdirən və cəmiyyətdəki yenilikləri əks etdirən əsas amildir.</a:t>
            </a:r>
            <a:r>
              <a:rPr lang="en-US" sz="3735">
                <a:solidFill>
                  <a:srgbClr val="000000"/>
                </a:solidFill>
                <a:latin typeface="Roboto Slab"/>
                <a:ea typeface="Roboto Slab"/>
                <a:cs typeface="Roboto Slab"/>
                <a:sym typeface="Roboto Slab"/>
              </a:rPr>
              <a:t> Texnologiya, siyasət və mədəniyyət sahəsində yaranan bu yeni sözlər dilin daim yenilənməsinə xidmət edir.</a:t>
            </a:r>
          </a:p>
          <a:p>
            <a:pPr algn="ctr">
              <a:lnSpc>
                <a:spcPts val="5229"/>
              </a:lnSpc>
            </a:pPr>
          </a:p>
          <a:p>
            <a:pPr algn="ctr">
              <a:lnSpc>
                <a:spcPts val="5229"/>
              </a:lnSpc>
            </a:pPr>
            <a:r>
              <a:rPr lang="en-US" b="true" sz="3735">
                <a:solidFill>
                  <a:srgbClr val="000000"/>
                </a:solidFill>
                <a:latin typeface="Roboto Slab Bold"/>
                <a:ea typeface="Roboto Slab Bold"/>
                <a:cs typeface="Roboto Slab Bold"/>
                <a:sym typeface="Roboto Slab Bold"/>
              </a:rPr>
              <a:t>Diqqətiniz və dinlədiyiniz üçün təşəkkürlər!</a:t>
            </a:r>
          </a:p>
        </p:txBody>
      </p:sp>
      <p:sp>
        <p:nvSpPr>
          <p:cNvPr name="TextBox 9" id="9"/>
          <p:cNvSpPr txBox="true"/>
          <p:nvPr/>
        </p:nvSpPr>
        <p:spPr>
          <a:xfrm rot="0">
            <a:off x="6383684" y="232273"/>
            <a:ext cx="5520633" cy="796427"/>
          </a:xfrm>
          <a:prstGeom prst="rect">
            <a:avLst/>
          </a:prstGeom>
        </p:spPr>
        <p:txBody>
          <a:bodyPr anchor="t" rtlCol="false" tIns="0" lIns="0" bIns="0" rIns="0">
            <a:spAutoFit/>
          </a:bodyPr>
          <a:lstStyle/>
          <a:p>
            <a:pPr algn="ctr">
              <a:lnSpc>
                <a:spcPts val="6502"/>
              </a:lnSpc>
              <a:spcBef>
                <a:spcPct val="0"/>
              </a:spcBef>
            </a:pPr>
            <a:r>
              <a:rPr lang="en-US" b="true" sz="4644">
                <a:solidFill>
                  <a:srgbClr val="000000"/>
                </a:solidFill>
                <a:latin typeface="Roboto Slab Bold"/>
                <a:ea typeface="Roboto Slab Bold"/>
                <a:cs typeface="Roboto Slab Bold"/>
                <a:sym typeface="Roboto Slab Bold"/>
              </a:rPr>
              <a:t>Nəticə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DAHH9FKvdjE</dc:identifier>
  <dcterms:modified xsi:type="dcterms:W3CDTF">2011-08-01T06:04:30Z</dcterms:modified>
  <cp:revision>1</cp:revision>
  <dc:title>Müasir Azərbaycan dilində neologizmlər</dc:title>
</cp:coreProperties>
</file>