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Roboto Slab" charset="1" panose="00000000000000000000"/>
      <p:regular r:id="rId18"/>
    </p:embeddedFont>
    <p:embeddedFont>
      <p:font typeface="Zilla Slab Bold" charset="1" panose="00000000000000000000"/>
      <p:regular r:id="rId19"/>
    </p:embeddedFont>
    <p:embeddedFont>
      <p:font typeface="Pridi" charset="1" panose="00000500000000000000"/>
      <p:regular r:id="rId20"/>
    </p:embeddedFont>
    <p:embeddedFont>
      <p:font typeface="Roboto Slab Bold" charset="1" panose="000000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jpeg" Type="http://schemas.openxmlformats.org/officeDocument/2006/relationships/image"/><Relationship Id="rId3" Target="../media/image17.png" Type="http://schemas.openxmlformats.org/officeDocument/2006/relationships/image"/><Relationship Id="rId4" Target="../media/image18.svg" Type="http://schemas.openxmlformats.org/officeDocument/2006/relationships/image"/><Relationship Id="rId5" Target="../media/image1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82155" y="1991642"/>
            <a:ext cx="12045848" cy="6303715"/>
            <a:chOff x="0" y="0"/>
            <a:chExt cx="3172569" cy="166023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72569" cy="1660238"/>
            </a:xfrm>
            <a:custGeom>
              <a:avLst/>
              <a:gdLst/>
              <a:ahLst/>
              <a:cxnLst/>
              <a:rect r="r" b="b" t="t" l="l"/>
              <a:pathLst>
                <a:path h="1660238" w="3172569">
                  <a:moveTo>
                    <a:pt x="33421" y="0"/>
                  </a:moveTo>
                  <a:lnTo>
                    <a:pt x="3139149" y="0"/>
                  </a:lnTo>
                  <a:cubicBezTo>
                    <a:pt x="3157606" y="0"/>
                    <a:pt x="3172569" y="14963"/>
                    <a:pt x="3172569" y="33421"/>
                  </a:cubicBezTo>
                  <a:lnTo>
                    <a:pt x="3172569" y="1626817"/>
                  </a:lnTo>
                  <a:cubicBezTo>
                    <a:pt x="3172569" y="1645275"/>
                    <a:pt x="3157606" y="1660238"/>
                    <a:pt x="3139149" y="1660238"/>
                  </a:cubicBezTo>
                  <a:lnTo>
                    <a:pt x="33421" y="1660238"/>
                  </a:lnTo>
                  <a:cubicBezTo>
                    <a:pt x="14963" y="1660238"/>
                    <a:pt x="0" y="1645275"/>
                    <a:pt x="0" y="1626817"/>
                  </a:cubicBezTo>
                  <a:lnTo>
                    <a:pt x="0" y="33421"/>
                  </a:lnTo>
                  <a:cubicBezTo>
                    <a:pt x="0" y="14963"/>
                    <a:pt x="14963" y="0"/>
                    <a:pt x="33421" y="0"/>
                  </a:cubicBezTo>
                  <a:close/>
                </a:path>
              </a:pathLst>
            </a:custGeom>
            <a:solidFill>
              <a:srgbClr val="A4C7FF">
                <a:alpha val="5882"/>
              </a:srgbClr>
            </a:solidFill>
            <a:ln w="9525" cap="rnd">
              <a:solidFill>
                <a:srgbClr val="000000">
                  <a:alpha val="5882"/>
                </a:srgbClr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172569" cy="17078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708574" y="2193846"/>
            <a:ext cx="11437076" cy="5692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91"/>
              </a:lnSpc>
            </a:pPr>
            <a:r>
              <a:rPr lang="en-US" sz="4636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Məmmədzadə Hüseyn</a:t>
            </a:r>
          </a:p>
          <a:p>
            <a:pPr algn="l">
              <a:lnSpc>
                <a:spcPts val="6491"/>
              </a:lnSpc>
            </a:pPr>
            <a:r>
              <a:rPr lang="en-US" sz="4636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Qrup: 682.24E</a:t>
            </a:r>
          </a:p>
          <a:p>
            <a:pPr algn="l">
              <a:lnSpc>
                <a:spcPts val="6491"/>
              </a:lnSpc>
            </a:pPr>
            <a:r>
              <a:rPr lang="en-US" sz="4636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Fənn: Azərbaycan dilində işgüzar və   akademik kommunikasiya</a:t>
            </a:r>
          </a:p>
          <a:p>
            <a:pPr algn="l">
              <a:lnSpc>
                <a:spcPts val="6491"/>
              </a:lnSpc>
            </a:pPr>
            <a:r>
              <a:rPr lang="en-US" sz="4636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Fakültə: İnformasiya Texnologiyaları</a:t>
            </a:r>
          </a:p>
          <a:p>
            <a:pPr algn="l">
              <a:lnSpc>
                <a:spcPts val="6491"/>
              </a:lnSpc>
              <a:spcBef>
                <a:spcPct val="0"/>
              </a:spcBef>
            </a:pPr>
            <a:r>
              <a:rPr lang="en-US" sz="4636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Uni</a:t>
            </a:r>
            <a:r>
              <a:rPr lang="en-US" sz="4636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versitet:  Azərbaycan Dövlət Neft və Sənaye Universiteti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2930301" y="0"/>
            <a:ext cx="4843349" cy="10287000"/>
          </a:xfrm>
          <a:custGeom>
            <a:avLst/>
            <a:gdLst/>
            <a:ahLst/>
            <a:cxnLst/>
            <a:rect r="r" b="b" t="t" l="l"/>
            <a:pathLst>
              <a:path h="10287000" w="4843349">
                <a:moveTo>
                  <a:pt x="0" y="0"/>
                </a:moveTo>
                <a:lnTo>
                  <a:pt x="4843349" y="0"/>
                </a:lnTo>
                <a:lnTo>
                  <a:pt x="4843349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3904" t="-3792" r="-95322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82155" y="301337"/>
            <a:ext cx="18005845" cy="788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17"/>
              </a:lnSpc>
              <a:spcBef>
                <a:spcPct val="0"/>
              </a:spcBef>
            </a:pPr>
            <a:r>
              <a:rPr lang="en-US" b="true" sz="4583">
                <a:solidFill>
                  <a:srgbClr val="000000"/>
                </a:solidFill>
                <a:latin typeface="Zilla Slab Bold"/>
                <a:ea typeface="Zilla Slab Bold"/>
                <a:cs typeface="Zilla Slab Bold"/>
                <a:sym typeface="Zilla Slab Bold"/>
              </a:rPr>
              <a:t>Müasir </a:t>
            </a:r>
            <a:r>
              <a:rPr lang="en-US" b="true" sz="4583">
                <a:solidFill>
                  <a:srgbClr val="000000"/>
                </a:solidFill>
                <a:latin typeface="Zilla Slab Bold"/>
                <a:ea typeface="Zilla Slab Bold"/>
                <a:cs typeface="Zilla Slab Bold"/>
                <a:sym typeface="Zilla Slab Bold"/>
              </a:rPr>
              <a:t>Azə</a:t>
            </a:r>
            <a:r>
              <a:rPr lang="en-US" b="true" sz="4583">
                <a:solidFill>
                  <a:srgbClr val="000000"/>
                </a:solidFill>
                <a:latin typeface="Zilla Slab Bold"/>
                <a:ea typeface="Zilla Slab Bold"/>
                <a:cs typeface="Zilla Slab Bold"/>
                <a:sym typeface="Zilla Slab Bold"/>
              </a:rPr>
              <a:t>rbaycan dilində neologizmlər</a:t>
            </a:r>
          </a:p>
        </p:txBody>
      </p:sp>
      <p:grpSp>
        <p:nvGrpSpPr>
          <p:cNvPr name="Group 8" id="8"/>
          <p:cNvGrpSpPr/>
          <p:nvPr/>
        </p:nvGrpSpPr>
        <p:grpSpPr>
          <a:xfrm rot="-5400000">
            <a:off x="14210311" y="6209311"/>
            <a:ext cx="7035932" cy="1119445"/>
            <a:chOff x="0" y="0"/>
            <a:chExt cx="1425301" cy="22677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25301" cy="226361"/>
            </a:xfrm>
            <a:custGeom>
              <a:avLst/>
              <a:gdLst/>
              <a:ahLst/>
              <a:cxnLst/>
              <a:rect r="r" b="b" t="t" l="l"/>
              <a:pathLst>
                <a:path h="226361" w="1425301">
                  <a:moveTo>
                    <a:pt x="712650" y="0"/>
                  </a:moveTo>
                  <a:lnTo>
                    <a:pt x="1425301" y="226361"/>
                  </a:lnTo>
                  <a:lnTo>
                    <a:pt x="0" y="226361"/>
                  </a:lnTo>
                  <a:close/>
                </a:path>
              </a:pathLst>
            </a:custGeom>
            <a:solidFill>
              <a:srgbClr val="4382E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301772" y="48075"/>
              <a:ext cx="821756" cy="1782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062879" y="6769034"/>
            <a:ext cx="2225121" cy="3517966"/>
            <a:chOff x="0" y="0"/>
            <a:chExt cx="450753" cy="71264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50753" cy="711363"/>
            </a:xfrm>
            <a:custGeom>
              <a:avLst/>
              <a:gdLst/>
              <a:ahLst/>
              <a:cxnLst/>
              <a:rect r="r" b="b" t="t" l="l"/>
              <a:pathLst>
                <a:path h="711363" w="450753">
                  <a:moveTo>
                    <a:pt x="225376" y="0"/>
                  </a:moveTo>
                  <a:lnTo>
                    <a:pt x="450753" y="711363"/>
                  </a:lnTo>
                  <a:lnTo>
                    <a:pt x="0" y="711363"/>
                  </a:lnTo>
                  <a:close/>
                </a:path>
              </a:pathLst>
            </a:custGeom>
            <a:solidFill>
              <a:srgbClr val="4382EB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95436" y="253121"/>
              <a:ext cx="259881" cy="4582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5400000">
            <a:off x="14179439" y="3079861"/>
            <a:ext cx="7188422" cy="1028700"/>
            <a:chOff x="0" y="0"/>
            <a:chExt cx="1893247" cy="27093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893247" cy="270444"/>
            </a:xfrm>
            <a:custGeom>
              <a:avLst/>
              <a:gdLst/>
              <a:ahLst/>
              <a:cxnLst/>
              <a:rect r="r" b="b" t="t" l="l"/>
              <a:pathLst>
                <a:path h="270444" w="1893247">
                  <a:moveTo>
                    <a:pt x="946623" y="0"/>
                  </a:moveTo>
                  <a:lnTo>
                    <a:pt x="1893247" y="270444"/>
                  </a:lnTo>
                  <a:lnTo>
                    <a:pt x="0" y="270444"/>
                  </a:lnTo>
                  <a:close/>
                </a:path>
              </a:pathLst>
            </a:custGeom>
            <a:solidFill>
              <a:srgbClr val="2C58A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400848" y="66712"/>
              <a:ext cx="1091550" cy="2037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-10800000">
            <a:off x="16236927" y="0"/>
            <a:ext cx="2044747" cy="3594211"/>
            <a:chOff x="0" y="0"/>
            <a:chExt cx="538534" cy="94661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38534" cy="944914"/>
            </a:xfrm>
            <a:custGeom>
              <a:avLst/>
              <a:gdLst/>
              <a:ahLst/>
              <a:cxnLst/>
              <a:rect r="r" b="b" t="t" l="l"/>
              <a:pathLst>
                <a:path h="944914" w="538534">
                  <a:moveTo>
                    <a:pt x="269267" y="0"/>
                  </a:moveTo>
                  <a:lnTo>
                    <a:pt x="538534" y="944914"/>
                  </a:lnTo>
                  <a:lnTo>
                    <a:pt x="0" y="944914"/>
                  </a:lnTo>
                  <a:close/>
                </a:path>
              </a:pathLst>
            </a:custGeom>
            <a:solidFill>
              <a:srgbClr val="2C58A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114021" y="351860"/>
              <a:ext cx="310492" cy="5930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-5400000">
            <a:off x="15813848" y="7819175"/>
            <a:ext cx="4147297" cy="788353"/>
            <a:chOff x="0" y="0"/>
            <a:chExt cx="1425301" cy="27093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425301" cy="270444"/>
            </a:xfrm>
            <a:custGeom>
              <a:avLst/>
              <a:gdLst/>
              <a:ahLst/>
              <a:cxnLst/>
              <a:rect r="r" b="b" t="t" l="l"/>
              <a:pathLst>
                <a:path h="270444" w="1425301">
                  <a:moveTo>
                    <a:pt x="712650" y="0"/>
                  </a:moveTo>
                  <a:lnTo>
                    <a:pt x="1425301" y="270444"/>
                  </a:lnTo>
                  <a:lnTo>
                    <a:pt x="0" y="270444"/>
                  </a:lnTo>
                  <a:close/>
                </a:path>
              </a:pathLst>
            </a:custGeom>
            <a:solidFill>
              <a:srgbClr val="84A5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301772" y="66712"/>
              <a:ext cx="821756" cy="2037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6714663" y="8213352"/>
            <a:ext cx="1567010" cy="2073648"/>
            <a:chOff x="0" y="0"/>
            <a:chExt cx="538534" cy="71264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38534" cy="711363"/>
            </a:xfrm>
            <a:custGeom>
              <a:avLst/>
              <a:gdLst/>
              <a:ahLst/>
              <a:cxnLst/>
              <a:rect r="r" b="b" t="t" l="l"/>
              <a:pathLst>
                <a:path h="711363" w="538534">
                  <a:moveTo>
                    <a:pt x="269267" y="0"/>
                  </a:moveTo>
                  <a:lnTo>
                    <a:pt x="538534" y="711363"/>
                  </a:lnTo>
                  <a:lnTo>
                    <a:pt x="0" y="711363"/>
                  </a:lnTo>
                  <a:close/>
                </a:path>
              </a:pathLst>
            </a:custGeom>
            <a:solidFill>
              <a:srgbClr val="84A5FF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114021" y="253121"/>
              <a:ext cx="310492" cy="4582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-5400000">
            <a:off x="13755459" y="3680810"/>
            <a:ext cx="8215339" cy="849744"/>
            <a:chOff x="0" y="0"/>
            <a:chExt cx="2163711" cy="223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163711" cy="223397"/>
            </a:xfrm>
            <a:custGeom>
              <a:avLst/>
              <a:gdLst/>
              <a:ahLst/>
              <a:cxnLst/>
              <a:rect r="r" b="b" t="t" l="l"/>
              <a:pathLst>
                <a:path h="223397" w="2163711">
                  <a:moveTo>
                    <a:pt x="1081855" y="0"/>
                  </a:moveTo>
                  <a:lnTo>
                    <a:pt x="2163711" y="223397"/>
                  </a:lnTo>
                  <a:lnTo>
                    <a:pt x="0" y="223397"/>
                  </a:lnTo>
                  <a:close/>
                </a:path>
              </a:pathLst>
            </a:custGeom>
            <a:solidFill>
              <a:srgbClr val="A4C7FF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458112" y="46821"/>
              <a:ext cx="1247486" cy="176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-10800000">
            <a:off x="16593738" y="-1987"/>
            <a:ext cx="1689036" cy="4107669"/>
            <a:chOff x="0" y="0"/>
            <a:chExt cx="444849" cy="108185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44849" cy="1079901"/>
            </a:xfrm>
            <a:custGeom>
              <a:avLst/>
              <a:gdLst/>
              <a:ahLst/>
              <a:cxnLst/>
              <a:rect r="r" b="b" t="t" l="l"/>
              <a:pathLst>
                <a:path h="1079901" w="444849">
                  <a:moveTo>
                    <a:pt x="222424" y="0"/>
                  </a:moveTo>
                  <a:lnTo>
                    <a:pt x="444849" y="1079901"/>
                  </a:lnTo>
                  <a:lnTo>
                    <a:pt x="0" y="1079901"/>
                  </a:lnTo>
                  <a:close/>
                </a:path>
              </a:pathLst>
            </a:custGeom>
            <a:solidFill>
              <a:srgbClr val="A4C7FF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94186" y="408929"/>
              <a:ext cx="256477" cy="6709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448433" y="1611463"/>
            <a:ext cx="11027747" cy="4528241"/>
            <a:chOff x="0" y="0"/>
            <a:chExt cx="3422006" cy="14051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22006" cy="1405153"/>
            </a:xfrm>
            <a:custGeom>
              <a:avLst/>
              <a:gdLst/>
              <a:ahLst/>
              <a:cxnLst/>
              <a:rect r="r" b="b" t="t" l="l"/>
              <a:pathLst>
                <a:path h="1405153" w="3422006">
                  <a:moveTo>
                    <a:pt x="36506" y="0"/>
                  </a:moveTo>
                  <a:lnTo>
                    <a:pt x="3385500" y="0"/>
                  </a:lnTo>
                  <a:cubicBezTo>
                    <a:pt x="3405662" y="0"/>
                    <a:pt x="3422006" y="16344"/>
                    <a:pt x="3422006" y="36506"/>
                  </a:cubicBezTo>
                  <a:lnTo>
                    <a:pt x="3422006" y="1368647"/>
                  </a:lnTo>
                  <a:cubicBezTo>
                    <a:pt x="3422006" y="1378329"/>
                    <a:pt x="3418160" y="1387614"/>
                    <a:pt x="3411314" y="1394460"/>
                  </a:cubicBezTo>
                  <a:cubicBezTo>
                    <a:pt x="3404468" y="1401307"/>
                    <a:pt x="3395182" y="1405153"/>
                    <a:pt x="3385500" y="1405153"/>
                  </a:cubicBezTo>
                  <a:lnTo>
                    <a:pt x="36506" y="1405153"/>
                  </a:lnTo>
                  <a:cubicBezTo>
                    <a:pt x="16344" y="1405153"/>
                    <a:pt x="0" y="1388808"/>
                    <a:pt x="0" y="1368647"/>
                  </a:cubicBezTo>
                  <a:lnTo>
                    <a:pt x="0" y="36506"/>
                  </a:lnTo>
                  <a:cubicBezTo>
                    <a:pt x="0" y="16344"/>
                    <a:pt x="16344" y="0"/>
                    <a:pt x="36506" y="0"/>
                  </a:cubicBezTo>
                  <a:close/>
                </a:path>
              </a:pathLst>
            </a:custGeom>
            <a:ln w="9525" cap="rnd">
              <a:solidFill>
                <a:srgbClr val="000000">
                  <a:alpha val="26667"/>
                </a:srgbClr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422006" cy="1452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3247" y="0"/>
            <a:ext cx="5247300" cy="10287000"/>
          </a:xfrm>
          <a:custGeom>
            <a:avLst/>
            <a:gdLst/>
            <a:ahLst/>
            <a:cxnLst/>
            <a:rect r="r" b="b" t="t" l="l"/>
            <a:pathLst>
              <a:path h="10287000" w="5247300">
                <a:moveTo>
                  <a:pt x="0" y="0"/>
                </a:moveTo>
                <a:lnTo>
                  <a:pt x="5247300" y="0"/>
                </a:lnTo>
                <a:lnTo>
                  <a:pt x="52473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3934" t="0" r="-7013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885436" y="1754770"/>
            <a:ext cx="11149769" cy="3480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56"/>
              </a:lnSpc>
            </a:pPr>
            <a:r>
              <a:rPr lang="en-US" sz="3968">
                <a:solidFill>
                  <a:srgbClr val="000000"/>
                </a:solidFill>
                <a:latin typeface="Pridi"/>
                <a:ea typeface="Pridi"/>
                <a:cs typeface="Pridi"/>
                <a:sym typeface="Pridi"/>
              </a:rPr>
              <a:t>Müas</a:t>
            </a:r>
            <a:r>
              <a:rPr lang="en-US" sz="3968">
                <a:solidFill>
                  <a:srgbClr val="000000"/>
                </a:solidFill>
                <a:latin typeface="Pridi"/>
                <a:ea typeface="Pridi"/>
                <a:cs typeface="Pridi"/>
                <a:sym typeface="Pridi"/>
              </a:rPr>
              <a:t>ir Azərbaycan dilində neologizmlərin leksik-semantik xüsusiyyətləri: </a:t>
            </a:r>
          </a:p>
          <a:p>
            <a:pPr algn="l">
              <a:lnSpc>
                <a:spcPts val="5556"/>
              </a:lnSpc>
            </a:pPr>
            <a:r>
              <a:rPr lang="en-US" sz="3968">
                <a:solidFill>
                  <a:srgbClr val="000000"/>
                </a:solidFill>
                <a:latin typeface="Pridi"/>
                <a:ea typeface="Pridi"/>
                <a:cs typeface="Pridi"/>
                <a:sym typeface="Pridi"/>
              </a:rPr>
              <a:t>⩥ Texnoloji sahə neologizmləri; </a:t>
            </a:r>
          </a:p>
          <a:p>
            <a:pPr algn="l">
              <a:lnSpc>
                <a:spcPts val="5556"/>
              </a:lnSpc>
            </a:pPr>
            <a:r>
              <a:rPr lang="en-US" sz="3968">
                <a:solidFill>
                  <a:srgbClr val="000000"/>
                </a:solidFill>
                <a:latin typeface="Pridi"/>
                <a:ea typeface="Pridi"/>
                <a:cs typeface="Pridi"/>
                <a:sym typeface="Pridi"/>
              </a:rPr>
              <a:t>⩥</a:t>
            </a:r>
            <a:r>
              <a:rPr lang="en-US" sz="3968">
                <a:solidFill>
                  <a:srgbClr val="000000"/>
                </a:solidFill>
                <a:latin typeface="Pridi"/>
                <a:ea typeface="Pridi"/>
                <a:cs typeface="Pridi"/>
                <a:sym typeface="Pridi"/>
              </a:rPr>
              <a:t> Sosial və siyasi leksika; </a:t>
            </a:r>
          </a:p>
          <a:p>
            <a:pPr algn="l">
              <a:lnSpc>
                <a:spcPts val="5556"/>
              </a:lnSpc>
            </a:pPr>
            <a:r>
              <a:rPr lang="en-US" sz="3968">
                <a:solidFill>
                  <a:srgbClr val="000000"/>
                </a:solidFill>
                <a:latin typeface="Pridi"/>
                <a:ea typeface="Pridi"/>
                <a:cs typeface="Pridi"/>
                <a:sym typeface="Pridi"/>
              </a:rPr>
              <a:t>⩥</a:t>
            </a:r>
            <a:r>
              <a:rPr lang="en-US" sz="3968">
                <a:solidFill>
                  <a:srgbClr val="000000"/>
                </a:solidFill>
                <a:latin typeface="Pridi"/>
                <a:ea typeface="Pridi"/>
                <a:cs typeface="Pridi"/>
                <a:sym typeface="Pridi"/>
              </a:rPr>
              <a:t> Mədəni və gündəlik leksika.</a:t>
            </a:r>
          </a:p>
        </p:txBody>
      </p:sp>
      <p:grpSp>
        <p:nvGrpSpPr>
          <p:cNvPr name="Group 7" id="7"/>
          <p:cNvGrpSpPr/>
          <p:nvPr/>
        </p:nvGrpSpPr>
        <p:grpSpPr>
          <a:xfrm rot="-5400000">
            <a:off x="14210311" y="6209311"/>
            <a:ext cx="7035932" cy="1119445"/>
            <a:chOff x="0" y="0"/>
            <a:chExt cx="1425301" cy="22677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25301" cy="226361"/>
            </a:xfrm>
            <a:custGeom>
              <a:avLst/>
              <a:gdLst/>
              <a:ahLst/>
              <a:cxnLst/>
              <a:rect r="r" b="b" t="t" l="l"/>
              <a:pathLst>
                <a:path h="226361" w="1425301">
                  <a:moveTo>
                    <a:pt x="712650" y="0"/>
                  </a:moveTo>
                  <a:lnTo>
                    <a:pt x="1425301" y="226361"/>
                  </a:lnTo>
                  <a:lnTo>
                    <a:pt x="0" y="226361"/>
                  </a:lnTo>
                  <a:close/>
                </a:path>
              </a:pathLst>
            </a:custGeom>
            <a:solidFill>
              <a:srgbClr val="4382EB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301772" y="48075"/>
              <a:ext cx="821756" cy="1782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062879" y="6769034"/>
            <a:ext cx="2225121" cy="3517966"/>
            <a:chOff x="0" y="0"/>
            <a:chExt cx="450753" cy="71264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50753" cy="711363"/>
            </a:xfrm>
            <a:custGeom>
              <a:avLst/>
              <a:gdLst/>
              <a:ahLst/>
              <a:cxnLst/>
              <a:rect r="r" b="b" t="t" l="l"/>
              <a:pathLst>
                <a:path h="711363" w="450753">
                  <a:moveTo>
                    <a:pt x="225376" y="0"/>
                  </a:moveTo>
                  <a:lnTo>
                    <a:pt x="450753" y="711363"/>
                  </a:lnTo>
                  <a:lnTo>
                    <a:pt x="0" y="711363"/>
                  </a:lnTo>
                  <a:close/>
                </a:path>
              </a:pathLst>
            </a:custGeom>
            <a:solidFill>
              <a:srgbClr val="4382EB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95436" y="253121"/>
              <a:ext cx="259881" cy="4582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-5400000">
            <a:off x="14179439" y="3079861"/>
            <a:ext cx="7188422" cy="1028700"/>
            <a:chOff x="0" y="0"/>
            <a:chExt cx="1893247" cy="27093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893247" cy="270444"/>
            </a:xfrm>
            <a:custGeom>
              <a:avLst/>
              <a:gdLst/>
              <a:ahLst/>
              <a:cxnLst/>
              <a:rect r="r" b="b" t="t" l="l"/>
              <a:pathLst>
                <a:path h="270444" w="1893247">
                  <a:moveTo>
                    <a:pt x="946623" y="0"/>
                  </a:moveTo>
                  <a:lnTo>
                    <a:pt x="1893247" y="270444"/>
                  </a:lnTo>
                  <a:lnTo>
                    <a:pt x="0" y="270444"/>
                  </a:lnTo>
                  <a:close/>
                </a:path>
              </a:pathLst>
            </a:custGeom>
            <a:solidFill>
              <a:srgbClr val="2C58A0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400848" y="66712"/>
              <a:ext cx="1091550" cy="2037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-10800000">
            <a:off x="16236927" y="0"/>
            <a:ext cx="2044747" cy="3594211"/>
            <a:chOff x="0" y="0"/>
            <a:chExt cx="538534" cy="94661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38534" cy="944914"/>
            </a:xfrm>
            <a:custGeom>
              <a:avLst/>
              <a:gdLst/>
              <a:ahLst/>
              <a:cxnLst/>
              <a:rect r="r" b="b" t="t" l="l"/>
              <a:pathLst>
                <a:path h="944914" w="538534">
                  <a:moveTo>
                    <a:pt x="269267" y="0"/>
                  </a:moveTo>
                  <a:lnTo>
                    <a:pt x="538534" y="944914"/>
                  </a:lnTo>
                  <a:lnTo>
                    <a:pt x="0" y="944914"/>
                  </a:lnTo>
                  <a:close/>
                </a:path>
              </a:pathLst>
            </a:custGeom>
            <a:solidFill>
              <a:srgbClr val="2C58A0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114021" y="351860"/>
              <a:ext cx="310492" cy="5930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-5400000">
            <a:off x="15813848" y="7819175"/>
            <a:ext cx="4147297" cy="788353"/>
            <a:chOff x="0" y="0"/>
            <a:chExt cx="1425301" cy="27093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25301" cy="270444"/>
            </a:xfrm>
            <a:custGeom>
              <a:avLst/>
              <a:gdLst/>
              <a:ahLst/>
              <a:cxnLst/>
              <a:rect r="r" b="b" t="t" l="l"/>
              <a:pathLst>
                <a:path h="270444" w="1425301">
                  <a:moveTo>
                    <a:pt x="712650" y="0"/>
                  </a:moveTo>
                  <a:lnTo>
                    <a:pt x="1425301" y="270444"/>
                  </a:lnTo>
                  <a:lnTo>
                    <a:pt x="0" y="270444"/>
                  </a:lnTo>
                  <a:close/>
                </a:path>
              </a:pathLst>
            </a:custGeom>
            <a:solidFill>
              <a:srgbClr val="84A5F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301772" y="66712"/>
              <a:ext cx="821756" cy="2037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6714663" y="8213352"/>
            <a:ext cx="1567010" cy="2073648"/>
            <a:chOff x="0" y="0"/>
            <a:chExt cx="538534" cy="71264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38534" cy="711363"/>
            </a:xfrm>
            <a:custGeom>
              <a:avLst/>
              <a:gdLst/>
              <a:ahLst/>
              <a:cxnLst/>
              <a:rect r="r" b="b" t="t" l="l"/>
              <a:pathLst>
                <a:path h="711363" w="538534">
                  <a:moveTo>
                    <a:pt x="269267" y="0"/>
                  </a:moveTo>
                  <a:lnTo>
                    <a:pt x="538534" y="711363"/>
                  </a:lnTo>
                  <a:lnTo>
                    <a:pt x="0" y="711363"/>
                  </a:lnTo>
                  <a:close/>
                </a:path>
              </a:pathLst>
            </a:custGeom>
            <a:solidFill>
              <a:srgbClr val="84A5FF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114021" y="253121"/>
              <a:ext cx="310492" cy="4582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-5400000">
            <a:off x="13755459" y="3680810"/>
            <a:ext cx="8215339" cy="849744"/>
            <a:chOff x="0" y="0"/>
            <a:chExt cx="2163711" cy="223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63711" cy="223397"/>
            </a:xfrm>
            <a:custGeom>
              <a:avLst/>
              <a:gdLst/>
              <a:ahLst/>
              <a:cxnLst/>
              <a:rect r="r" b="b" t="t" l="l"/>
              <a:pathLst>
                <a:path h="223397" w="2163711">
                  <a:moveTo>
                    <a:pt x="1081855" y="0"/>
                  </a:moveTo>
                  <a:lnTo>
                    <a:pt x="2163711" y="223397"/>
                  </a:lnTo>
                  <a:lnTo>
                    <a:pt x="0" y="223397"/>
                  </a:lnTo>
                  <a:close/>
                </a:path>
              </a:pathLst>
            </a:custGeom>
            <a:solidFill>
              <a:srgbClr val="A4C7FF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458112" y="46821"/>
              <a:ext cx="1247486" cy="176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-10800000">
            <a:off x="16593738" y="-1987"/>
            <a:ext cx="1689036" cy="4107669"/>
            <a:chOff x="0" y="0"/>
            <a:chExt cx="444849" cy="108185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44849" cy="1079901"/>
            </a:xfrm>
            <a:custGeom>
              <a:avLst/>
              <a:gdLst/>
              <a:ahLst/>
              <a:cxnLst/>
              <a:rect r="r" b="b" t="t" l="l"/>
              <a:pathLst>
                <a:path h="1079901" w="444849">
                  <a:moveTo>
                    <a:pt x="222424" y="0"/>
                  </a:moveTo>
                  <a:lnTo>
                    <a:pt x="444849" y="1079901"/>
                  </a:lnTo>
                  <a:lnTo>
                    <a:pt x="0" y="1079901"/>
                  </a:lnTo>
                  <a:close/>
                </a:path>
              </a:pathLst>
            </a:custGeom>
            <a:solidFill>
              <a:srgbClr val="A4C7FF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94186" y="408929"/>
              <a:ext cx="256477" cy="6709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0">
            <a:off x="5885436" y="6153811"/>
            <a:ext cx="6407444" cy="4133189"/>
          </a:xfrm>
          <a:custGeom>
            <a:avLst/>
            <a:gdLst/>
            <a:ahLst/>
            <a:cxnLst/>
            <a:rect r="r" b="b" t="t" l="l"/>
            <a:pathLst>
              <a:path h="4133189" w="6407444">
                <a:moveTo>
                  <a:pt x="0" y="0"/>
                </a:moveTo>
                <a:lnTo>
                  <a:pt x="6407444" y="0"/>
                </a:lnTo>
                <a:lnTo>
                  <a:pt x="6407444" y="4133189"/>
                </a:lnTo>
                <a:lnTo>
                  <a:pt x="0" y="41331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384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5581783" y="231686"/>
            <a:ext cx="1723659" cy="797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02"/>
              </a:lnSpc>
              <a:spcBef>
                <a:spcPct val="0"/>
              </a:spcBef>
            </a:pPr>
            <a:r>
              <a:rPr lang="en-US" b="true" sz="4644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Plan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86169" y="1640081"/>
            <a:ext cx="10586254" cy="7433831"/>
            <a:chOff x="0" y="0"/>
            <a:chExt cx="3585325" cy="25176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585325" cy="2517671"/>
            </a:xfrm>
            <a:custGeom>
              <a:avLst/>
              <a:gdLst/>
              <a:ahLst/>
              <a:cxnLst/>
              <a:rect r="r" b="b" t="t" l="l"/>
              <a:pathLst>
                <a:path h="2517671" w="3585325">
                  <a:moveTo>
                    <a:pt x="38029" y="0"/>
                  </a:moveTo>
                  <a:lnTo>
                    <a:pt x="3547297" y="0"/>
                  </a:lnTo>
                  <a:cubicBezTo>
                    <a:pt x="3557382" y="0"/>
                    <a:pt x="3567055" y="4007"/>
                    <a:pt x="3574187" y="11138"/>
                  </a:cubicBezTo>
                  <a:cubicBezTo>
                    <a:pt x="3581319" y="18270"/>
                    <a:pt x="3585325" y="27943"/>
                    <a:pt x="3585325" y="38029"/>
                  </a:cubicBezTo>
                  <a:lnTo>
                    <a:pt x="3585325" y="2479642"/>
                  </a:lnTo>
                  <a:cubicBezTo>
                    <a:pt x="3585325" y="2489728"/>
                    <a:pt x="3581319" y="2499401"/>
                    <a:pt x="3574187" y="2506532"/>
                  </a:cubicBezTo>
                  <a:cubicBezTo>
                    <a:pt x="3567055" y="2513664"/>
                    <a:pt x="3557382" y="2517671"/>
                    <a:pt x="3547297" y="2517671"/>
                  </a:cubicBezTo>
                  <a:lnTo>
                    <a:pt x="38029" y="2517671"/>
                  </a:lnTo>
                  <a:cubicBezTo>
                    <a:pt x="27943" y="2517671"/>
                    <a:pt x="18270" y="2513664"/>
                    <a:pt x="11138" y="2506532"/>
                  </a:cubicBezTo>
                  <a:cubicBezTo>
                    <a:pt x="4007" y="2499401"/>
                    <a:pt x="0" y="2489728"/>
                    <a:pt x="0" y="2479642"/>
                  </a:cubicBezTo>
                  <a:lnTo>
                    <a:pt x="0" y="38029"/>
                  </a:lnTo>
                  <a:cubicBezTo>
                    <a:pt x="0" y="27943"/>
                    <a:pt x="4007" y="18270"/>
                    <a:pt x="11138" y="11138"/>
                  </a:cubicBezTo>
                  <a:cubicBezTo>
                    <a:pt x="18270" y="4007"/>
                    <a:pt x="27943" y="0"/>
                    <a:pt x="38029" y="0"/>
                  </a:cubicBezTo>
                  <a:close/>
                </a:path>
              </a:pathLst>
            </a:custGeom>
            <a:ln w="19050" cap="rnd">
              <a:solidFill>
                <a:srgbClr val="000000">
                  <a:alpha val="26667"/>
                </a:srgbClr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585325" cy="25652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1196273" y="1894039"/>
            <a:ext cx="5972281" cy="6925917"/>
          </a:xfrm>
          <a:custGeom>
            <a:avLst/>
            <a:gdLst/>
            <a:ahLst/>
            <a:cxnLst/>
            <a:rect r="r" b="b" t="t" l="l"/>
            <a:pathLst>
              <a:path h="6925917" w="5972281">
                <a:moveTo>
                  <a:pt x="0" y="0"/>
                </a:moveTo>
                <a:lnTo>
                  <a:pt x="5972282" y="0"/>
                </a:lnTo>
                <a:lnTo>
                  <a:pt x="5972282" y="6925916"/>
                </a:lnTo>
                <a:lnTo>
                  <a:pt x="0" y="69259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983" t="0" r="-7983" b="0"/>
            </a:stretch>
          </a:blipFill>
          <a:ln w="76200" cap="rnd">
            <a:solidFill>
              <a:srgbClr val="A4C7FF"/>
            </a:solidFill>
            <a:prstDash val="solid"/>
            <a:round/>
          </a:ln>
        </p:spPr>
      </p:sp>
      <p:sp>
        <p:nvSpPr>
          <p:cNvPr name="TextBox 6" id="6"/>
          <p:cNvSpPr txBox="true"/>
          <p:nvPr/>
        </p:nvSpPr>
        <p:spPr>
          <a:xfrm rot="0">
            <a:off x="588645" y="1985173"/>
            <a:ext cx="9934888" cy="6409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051" indent="-356026" lvl="1">
              <a:lnSpc>
                <a:spcPts val="461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298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L</a:t>
            </a:r>
            <a:r>
              <a:rPr lang="en-US" b="true" sz="3298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eksik formalaşma xüsusiyyəti:</a:t>
            </a:r>
            <a:r>
              <a:rPr lang="en-US" sz="3298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 Dilimizə yeni sözlər</a:t>
            </a:r>
            <a:r>
              <a:rPr lang="en-US" sz="3298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ya xarici (beynəlxalq) terminləri</a:t>
            </a:r>
            <a:r>
              <a:rPr lang="en-US" sz="3298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n gəlişi, ya da köhnə sözlərin yeni formada birləşməsi ilə daxil olur.</a:t>
            </a:r>
          </a:p>
          <a:p>
            <a:pPr algn="l" marL="712051" indent="-356026" lvl="1">
              <a:lnSpc>
                <a:spcPts val="461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298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Semantik daralma və genişlənmə:</a:t>
            </a:r>
            <a:r>
              <a:rPr lang="en-US" sz="3298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 Bu yeni sözlər ilk vaxtlar çox konkret və tək bir məna ifadə edir.</a:t>
            </a:r>
          </a:p>
          <a:p>
            <a:pPr algn="l" marL="712051" indent="-356026" lvl="1">
              <a:lnSpc>
                <a:spcPts val="461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298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Kommunikativ rol: </a:t>
            </a:r>
            <a:r>
              <a:rPr lang="en-US" sz="3298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Elm və iş dünyasında mürəkkəb fikirləri uzun-uzadı izah etmək əvəzinə, qısa və hamı tərəfindən qəbul olunmuş şəkildə ötürmək üçün istifadə edilir.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86169" y="231686"/>
            <a:ext cx="14982152" cy="1616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02"/>
              </a:lnSpc>
              <a:spcBef>
                <a:spcPct val="0"/>
              </a:spcBef>
            </a:pPr>
            <a:r>
              <a:rPr lang="en-US" b="true" sz="4644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Neologizmlərin</a:t>
            </a:r>
            <a:r>
              <a:rPr lang="en-US" b="true" sz="4644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əsas xüsusiyyətləri</a:t>
            </a:r>
          </a:p>
          <a:p>
            <a:pPr algn="l">
              <a:lnSpc>
                <a:spcPts val="6502"/>
              </a:lnSpc>
              <a:spcBef>
                <a:spcPct val="0"/>
              </a:spcBef>
            </a:pPr>
          </a:p>
        </p:txBody>
      </p:sp>
      <p:sp>
        <p:nvSpPr>
          <p:cNvPr name="AutoShape 8" id="8"/>
          <p:cNvSpPr/>
          <p:nvPr/>
        </p:nvSpPr>
        <p:spPr>
          <a:xfrm>
            <a:off x="286169" y="1325757"/>
            <a:ext cx="6901088" cy="19050"/>
          </a:xfrm>
          <a:prstGeom prst="line">
            <a:avLst/>
          </a:prstGeom>
          <a:ln cap="rnd" w="57150">
            <a:solidFill>
              <a:srgbClr val="093F9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-5400000">
            <a:off x="14210311" y="6209311"/>
            <a:ext cx="7035932" cy="1119445"/>
            <a:chOff x="0" y="0"/>
            <a:chExt cx="1425301" cy="22677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25301" cy="226361"/>
            </a:xfrm>
            <a:custGeom>
              <a:avLst/>
              <a:gdLst/>
              <a:ahLst/>
              <a:cxnLst/>
              <a:rect r="r" b="b" t="t" l="l"/>
              <a:pathLst>
                <a:path h="226361" w="1425301">
                  <a:moveTo>
                    <a:pt x="712650" y="0"/>
                  </a:moveTo>
                  <a:lnTo>
                    <a:pt x="1425301" y="226361"/>
                  </a:lnTo>
                  <a:lnTo>
                    <a:pt x="0" y="226361"/>
                  </a:lnTo>
                  <a:close/>
                </a:path>
              </a:pathLst>
            </a:custGeom>
            <a:solidFill>
              <a:srgbClr val="4382EB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301772" y="48075"/>
              <a:ext cx="821756" cy="1782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062879" y="6769034"/>
            <a:ext cx="2225121" cy="3517966"/>
            <a:chOff x="0" y="0"/>
            <a:chExt cx="450753" cy="71264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50753" cy="711363"/>
            </a:xfrm>
            <a:custGeom>
              <a:avLst/>
              <a:gdLst/>
              <a:ahLst/>
              <a:cxnLst/>
              <a:rect r="r" b="b" t="t" l="l"/>
              <a:pathLst>
                <a:path h="711363" w="450753">
                  <a:moveTo>
                    <a:pt x="225376" y="0"/>
                  </a:moveTo>
                  <a:lnTo>
                    <a:pt x="450753" y="711363"/>
                  </a:lnTo>
                  <a:lnTo>
                    <a:pt x="0" y="711363"/>
                  </a:lnTo>
                  <a:close/>
                </a:path>
              </a:pathLst>
            </a:custGeom>
            <a:solidFill>
              <a:srgbClr val="4382EB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95436" y="253121"/>
              <a:ext cx="259881" cy="4582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-5400000">
            <a:off x="14179439" y="3079861"/>
            <a:ext cx="7188422" cy="1028700"/>
            <a:chOff x="0" y="0"/>
            <a:chExt cx="1893247" cy="27093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893247" cy="270444"/>
            </a:xfrm>
            <a:custGeom>
              <a:avLst/>
              <a:gdLst/>
              <a:ahLst/>
              <a:cxnLst/>
              <a:rect r="r" b="b" t="t" l="l"/>
              <a:pathLst>
                <a:path h="270444" w="1893247">
                  <a:moveTo>
                    <a:pt x="946623" y="0"/>
                  </a:moveTo>
                  <a:lnTo>
                    <a:pt x="1893247" y="270444"/>
                  </a:lnTo>
                  <a:lnTo>
                    <a:pt x="0" y="270444"/>
                  </a:lnTo>
                  <a:close/>
                </a:path>
              </a:pathLst>
            </a:custGeom>
            <a:solidFill>
              <a:srgbClr val="2C58A0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400848" y="66712"/>
              <a:ext cx="1091550" cy="2037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-10800000">
            <a:off x="16236927" y="0"/>
            <a:ext cx="2044747" cy="3594211"/>
            <a:chOff x="0" y="0"/>
            <a:chExt cx="538534" cy="94661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38534" cy="944914"/>
            </a:xfrm>
            <a:custGeom>
              <a:avLst/>
              <a:gdLst/>
              <a:ahLst/>
              <a:cxnLst/>
              <a:rect r="r" b="b" t="t" l="l"/>
              <a:pathLst>
                <a:path h="944914" w="538534">
                  <a:moveTo>
                    <a:pt x="269267" y="0"/>
                  </a:moveTo>
                  <a:lnTo>
                    <a:pt x="538534" y="944914"/>
                  </a:lnTo>
                  <a:lnTo>
                    <a:pt x="0" y="944914"/>
                  </a:lnTo>
                  <a:close/>
                </a:path>
              </a:pathLst>
            </a:custGeom>
            <a:solidFill>
              <a:srgbClr val="2C58A0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114021" y="351860"/>
              <a:ext cx="310492" cy="5930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-5400000">
            <a:off x="15813848" y="7819175"/>
            <a:ext cx="4147297" cy="788353"/>
            <a:chOff x="0" y="0"/>
            <a:chExt cx="1425301" cy="27093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425301" cy="270444"/>
            </a:xfrm>
            <a:custGeom>
              <a:avLst/>
              <a:gdLst/>
              <a:ahLst/>
              <a:cxnLst/>
              <a:rect r="r" b="b" t="t" l="l"/>
              <a:pathLst>
                <a:path h="270444" w="1425301">
                  <a:moveTo>
                    <a:pt x="712650" y="0"/>
                  </a:moveTo>
                  <a:lnTo>
                    <a:pt x="1425301" y="270444"/>
                  </a:lnTo>
                  <a:lnTo>
                    <a:pt x="0" y="270444"/>
                  </a:lnTo>
                  <a:close/>
                </a:path>
              </a:pathLst>
            </a:custGeom>
            <a:solidFill>
              <a:srgbClr val="84A5F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301772" y="66712"/>
              <a:ext cx="821756" cy="2037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6714663" y="8213352"/>
            <a:ext cx="1567010" cy="2073648"/>
            <a:chOff x="0" y="0"/>
            <a:chExt cx="538534" cy="71264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38534" cy="711363"/>
            </a:xfrm>
            <a:custGeom>
              <a:avLst/>
              <a:gdLst/>
              <a:ahLst/>
              <a:cxnLst/>
              <a:rect r="r" b="b" t="t" l="l"/>
              <a:pathLst>
                <a:path h="711363" w="538534">
                  <a:moveTo>
                    <a:pt x="269267" y="0"/>
                  </a:moveTo>
                  <a:lnTo>
                    <a:pt x="538534" y="711363"/>
                  </a:lnTo>
                  <a:lnTo>
                    <a:pt x="0" y="711363"/>
                  </a:lnTo>
                  <a:close/>
                </a:path>
              </a:pathLst>
            </a:custGeom>
            <a:solidFill>
              <a:srgbClr val="84A5F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114021" y="253121"/>
              <a:ext cx="310492" cy="4582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-5400000">
            <a:off x="13755459" y="3680810"/>
            <a:ext cx="8215339" cy="849744"/>
            <a:chOff x="0" y="0"/>
            <a:chExt cx="2163711" cy="223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163711" cy="223397"/>
            </a:xfrm>
            <a:custGeom>
              <a:avLst/>
              <a:gdLst/>
              <a:ahLst/>
              <a:cxnLst/>
              <a:rect r="r" b="b" t="t" l="l"/>
              <a:pathLst>
                <a:path h="223397" w="2163711">
                  <a:moveTo>
                    <a:pt x="1081855" y="0"/>
                  </a:moveTo>
                  <a:lnTo>
                    <a:pt x="2163711" y="223397"/>
                  </a:lnTo>
                  <a:lnTo>
                    <a:pt x="0" y="223397"/>
                  </a:lnTo>
                  <a:close/>
                </a:path>
              </a:pathLst>
            </a:custGeom>
            <a:solidFill>
              <a:srgbClr val="A4C7FF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458112" y="46821"/>
              <a:ext cx="1247486" cy="176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-10800000">
            <a:off x="16593738" y="-1987"/>
            <a:ext cx="1689036" cy="4107669"/>
            <a:chOff x="0" y="0"/>
            <a:chExt cx="444849" cy="108185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44849" cy="1079901"/>
            </a:xfrm>
            <a:custGeom>
              <a:avLst/>
              <a:gdLst/>
              <a:ahLst/>
              <a:cxnLst/>
              <a:rect r="r" b="b" t="t" l="l"/>
              <a:pathLst>
                <a:path h="1079901" w="444849">
                  <a:moveTo>
                    <a:pt x="222424" y="0"/>
                  </a:moveTo>
                  <a:lnTo>
                    <a:pt x="444849" y="1079901"/>
                  </a:lnTo>
                  <a:lnTo>
                    <a:pt x="0" y="1079901"/>
                  </a:lnTo>
                  <a:close/>
                </a:path>
              </a:pathLst>
            </a:custGeom>
            <a:solidFill>
              <a:srgbClr val="A4C7FF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94186" y="408929"/>
              <a:ext cx="256477" cy="6709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2736" y="1357446"/>
            <a:ext cx="10542742" cy="8494843"/>
            <a:chOff x="0" y="0"/>
            <a:chExt cx="2924705" cy="235658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24705" cy="2356589"/>
            </a:xfrm>
            <a:custGeom>
              <a:avLst/>
              <a:gdLst/>
              <a:ahLst/>
              <a:cxnLst/>
              <a:rect r="r" b="b" t="t" l="l"/>
              <a:pathLst>
                <a:path h="2356589" w="2924705">
                  <a:moveTo>
                    <a:pt x="38185" y="0"/>
                  </a:moveTo>
                  <a:lnTo>
                    <a:pt x="2886520" y="0"/>
                  </a:lnTo>
                  <a:cubicBezTo>
                    <a:pt x="2896647" y="0"/>
                    <a:pt x="2906360" y="4023"/>
                    <a:pt x="2913521" y="11184"/>
                  </a:cubicBezTo>
                  <a:cubicBezTo>
                    <a:pt x="2920682" y="18345"/>
                    <a:pt x="2924705" y="28058"/>
                    <a:pt x="2924705" y="38185"/>
                  </a:cubicBezTo>
                  <a:lnTo>
                    <a:pt x="2924705" y="2318404"/>
                  </a:lnTo>
                  <a:cubicBezTo>
                    <a:pt x="2924705" y="2339493"/>
                    <a:pt x="2907609" y="2356589"/>
                    <a:pt x="2886520" y="2356589"/>
                  </a:cubicBezTo>
                  <a:lnTo>
                    <a:pt x="38185" y="2356589"/>
                  </a:lnTo>
                  <a:cubicBezTo>
                    <a:pt x="17096" y="2356589"/>
                    <a:pt x="0" y="2339493"/>
                    <a:pt x="0" y="2318404"/>
                  </a:cubicBezTo>
                  <a:lnTo>
                    <a:pt x="0" y="38185"/>
                  </a:lnTo>
                  <a:cubicBezTo>
                    <a:pt x="0" y="17096"/>
                    <a:pt x="17096" y="0"/>
                    <a:pt x="38185" y="0"/>
                  </a:cubicBezTo>
                  <a:close/>
                </a:path>
              </a:pathLst>
            </a:custGeom>
            <a:solidFill>
              <a:srgbClr val="FFFFFF">
                <a:alpha val="40784"/>
              </a:srgbClr>
            </a:solidFill>
            <a:ln w="19050" cap="rnd">
              <a:solidFill>
                <a:srgbClr val="000000">
                  <a:alpha val="40784"/>
                </a:srgbClr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924705" cy="24042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2111511" y="3251068"/>
            <a:ext cx="4125415" cy="4057694"/>
          </a:xfrm>
          <a:custGeom>
            <a:avLst/>
            <a:gdLst/>
            <a:ahLst/>
            <a:cxnLst/>
            <a:rect r="r" b="b" t="t" l="l"/>
            <a:pathLst>
              <a:path h="4057694" w="4125415">
                <a:moveTo>
                  <a:pt x="0" y="0"/>
                </a:moveTo>
                <a:lnTo>
                  <a:pt x="4125416" y="0"/>
                </a:lnTo>
                <a:lnTo>
                  <a:pt x="4125416" y="4057693"/>
                </a:lnTo>
                <a:lnTo>
                  <a:pt x="0" y="40576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" r="0" b="-834"/>
            </a:stretch>
          </a:blipFill>
          <a:ln cap="rnd">
            <a:noFill/>
            <a:prstDash val="solid"/>
            <a:round/>
          </a:ln>
        </p:spPr>
      </p:sp>
      <p:sp>
        <p:nvSpPr>
          <p:cNvPr name="TextBox 6" id="6"/>
          <p:cNvSpPr txBox="true"/>
          <p:nvPr/>
        </p:nvSpPr>
        <p:spPr>
          <a:xfrm rot="0">
            <a:off x="784701" y="1639928"/>
            <a:ext cx="9296275" cy="7863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6471" indent="-368235" lvl="1">
              <a:lnSpc>
                <a:spcPts val="4775"/>
              </a:lnSpc>
              <a:buFont typeface="Arial"/>
              <a:buChar char="•"/>
            </a:pPr>
            <a:r>
              <a:rPr lang="en-US" b="true" sz="3411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Mən</a:t>
            </a:r>
            <a:r>
              <a:rPr lang="en-US" b="true" sz="3411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bə ingilis dilidir:</a:t>
            </a:r>
            <a:r>
              <a:rPr lang="en-US" sz="341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İndi ən çox yeni söz İT və innovasiya sahəsindən, əsasən də ingilis dilindən gəlir.</a:t>
            </a:r>
          </a:p>
          <a:p>
            <a:pPr algn="l" marL="736471" indent="-368235" lvl="1">
              <a:lnSpc>
                <a:spcPts val="4775"/>
              </a:lnSpc>
              <a:buFont typeface="Arial"/>
              <a:buChar char="•"/>
            </a:pPr>
            <a:r>
              <a:rPr lang="en-US" b="true" sz="3411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Biz</a:t>
            </a:r>
            <a:r>
              <a:rPr lang="en-US" b="true" sz="3411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im dilə uyğunlaşma:</a:t>
            </a:r>
            <a:r>
              <a:rPr lang="en-US" sz="341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Bu sözlər internet vasitəsilə həyatımıza girir. Biz də onları dilimizə yatımlı şəkildə (tələffüz və yazılışda bir az dəyişərək) qəbul edirik.</a:t>
            </a:r>
          </a:p>
          <a:p>
            <a:pPr algn="l" marL="736471" indent="-368235" lvl="1">
              <a:lnSpc>
                <a:spcPts val="4775"/>
              </a:lnSpc>
              <a:buFont typeface="Arial"/>
              <a:buChar char="•"/>
            </a:pPr>
            <a:r>
              <a:rPr lang="en-US" b="true" sz="3411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Hər kəsin dilinə düşməsi: </a:t>
            </a:r>
            <a:r>
              <a:rPr lang="en-US" sz="341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Əvvəllər bu sözləri ancaq mühəndislər və alimlər işlədirdisə, indi hamı "skrinşot", "fayl" və ya "onlayn" deyir. Yəni, peşə sözləri sürətlə gündəlik dilimizə çevrilir.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72736" y="144935"/>
            <a:ext cx="17808937" cy="813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6"/>
              </a:lnSpc>
              <a:spcBef>
                <a:spcPct val="0"/>
              </a:spcBef>
            </a:pPr>
            <a:r>
              <a:rPr lang="en-US" b="true" sz="4718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Texnoloji sahə n</a:t>
            </a:r>
            <a:r>
              <a:rPr lang="en-US" b="true" sz="4718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eologizmlərinin leksik xüsusiyyətləri</a:t>
            </a:r>
          </a:p>
        </p:txBody>
      </p:sp>
      <p:grpSp>
        <p:nvGrpSpPr>
          <p:cNvPr name="Group 8" id="8"/>
          <p:cNvGrpSpPr/>
          <p:nvPr/>
        </p:nvGrpSpPr>
        <p:grpSpPr>
          <a:xfrm rot="-5400000">
            <a:off x="14210311" y="6209311"/>
            <a:ext cx="7035932" cy="1119445"/>
            <a:chOff x="0" y="0"/>
            <a:chExt cx="1425301" cy="22677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25301" cy="226361"/>
            </a:xfrm>
            <a:custGeom>
              <a:avLst/>
              <a:gdLst/>
              <a:ahLst/>
              <a:cxnLst/>
              <a:rect r="r" b="b" t="t" l="l"/>
              <a:pathLst>
                <a:path h="226361" w="1425301">
                  <a:moveTo>
                    <a:pt x="712650" y="0"/>
                  </a:moveTo>
                  <a:lnTo>
                    <a:pt x="1425301" y="226361"/>
                  </a:lnTo>
                  <a:lnTo>
                    <a:pt x="0" y="226361"/>
                  </a:lnTo>
                  <a:close/>
                </a:path>
              </a:pathLst>
            </a:custGeom>
            <a:solidFill>
              <a:srgbClr val="4382E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301772" y="48075"/>
              <a:ext cx="821756" cy="1782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062879" y="6769034"/>
            <a:ext cx="2225121" cy="3517966"/>
            <a:chOff x="0" y="0"/>
            <a:chExt cx="450753" cy="71264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50753" cy="711363"/>
            </a:xfrm>
            <a:custGeom>
              <a:avLst/>
              <a:gdLst/>
              <a:ahLst/>
              <a:cxnLst/>
              <a:rect r="r" b="b" t="t" l="l"/>
              <a:pathLst>
                <a:path h="711363" w="450753">
                  <a:moveTo>
                    <a:pt x="225376" y="0"/>
                  </a:moveTo>
                  <a:lnTo>
                    <a:pt x="450753" y="711363"/>
                  </a:lnTo>
                  <a:lnTo>
                    <a:pt x="0" y="711363"/>
                  </a:lnTo>
                  <a:close/>
                </a:path>
              </a:pathLst>
            </a:custGeom>
            <a:solidFill>
              <a:srgbClr val="4382EB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95436" y="253121"/>
              <a:ext cx="259881" cy="4582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5400000">
            <a:off x="14179439" y="3079861"/>
            <a:ext cx="7188422" cy="1028700"/>
            <a:chOff x="0" y="0"/>
            <a:chExt cx="1893247" cy="27093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893247" cy="270444"/>
            </a:xfrm>
            <a:custGeom>
              <a:avLst/>
              <a:gdLst/>
              <a:ahLst/>
              <a:cxnLst/>
              <a:rect r="r" b="b" t="t" l="l"/>
              <a:pathLst>
                <a:path h="270444" w="1893247">
                  <a:moveTo>
                    <a:pt x="946623" y="0"/>
                  </a:moveTo>
                  <a:lnTo>
                    <a:pt x="1893247" y="270444"/>
                  </a:lnTo>
                  <a:lnTo>
                    <a:pt x="0" y="270444"/>
                  </a:lnTo>
                  <a:close/>
                </a:path>
              </a:pathLst>
            </a:custGeom>
            <a:solidFill>
              <a:srgbClr val="2C58A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400848" y="66712"/>
              <a:ext cx="1091550" cy="2037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-10800000">
            <a:off x="16236927" y="0"/>
            <a:ext cx="2044747" cy="3594211"/>
            <a:chOff x="0" y="0"/>
            <a:chExt cx="538534" cy="94661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38534" cy="944914"/>
            </a:xfrm>
            <a:custGeom>
              <a:avLst/>
              <a:gdLst/>
              <a:ahLst/>
              <a:cxnLst/>
              <a:rect r="r" b="b" t="t" l="l"/>
              <a:pathLst>
                <a:path h="944914" w="538534">
                  <a:moveTo>
                    <a:pt x="269267" y="0"/>
                  </a:moveTo>
                  <a:lnTo>
                    <a:pt x="538534" y="944914"/>
                  </a:lnTo>
                  <a:lnTo>
                    <a:pt x="0" y="944914"/>
                  </a:lnTo>
                  <a:close/>
                </a:path>
              </a:pathLst>
            </a:custGeom>
            <a:solidFill>
              <a:srgbClr val="2C58A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114021" y="351860"/>
              <a:ext cx="310492" cy="5930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-5400000">
            <a:off x="15813848" y="7819175"/>
            <a:ext cx="4147297" cy="788353"/>
            <a:chOff x="0" y="0"/>
            <a:chExt cx="1425301" cy="27093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425301" cy="270444"/>
            </a:xfrm>
            <a:custGeom>
              <a:avLst/>
              <a:gdLst/>
              <a:ahLst/>
              <a:cxnLst/>
              <a:rect r="r" b="b" t="t" l="l"/>
              <a:pathLst>
                <a:path h="270444" w="1425301">
                  <a:moveTo>
                    <a:pt x="712650" y="0"/>
                  </a:moveTo>
                  <a:lnTo>
                    <a:pt x="1425301" y="270444"/>
                  </a:lnTo>
                  <a:lnTo>
                    <a:pt x="0" y="270444"/>
                  </a:lnTo>
                  <a:close/>
                </a:path>
              </a:pathLst>
            </a:custGeom>
            <a:solidFill>
              <a:srgbClr val="84A5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301772" y="66712"/>
              <a:ext cx="821756" cy="2037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6714663" y="8213352"/>
            <a:ext cx="1567010" cy="2073648"/>
            <a:chOff x="0" y="0"/>
            <a:chExt cx="538534" cy="71264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38534" cy="711363"/>
            </a:xfrm>
            <a:custGeom>
              <a:avLst/>
              <a:gdLst/>
              <a:ahLst/>
              <a:cxnLst/>
              <a:rect r="r" b="b" t="t" l="l"/>
              <a:pathLst>
                <a:path h="711363" w="538534">
                  <a:moveTo>
                    <a:pt x="269267" y="0"/>
                  </a:moveTo>
                  <a:lnTo>
                    <a:pt x="538534" y="711363"/>
                  </a:lnTo>
                  <a:lnTo>
                    <a:pt x="0" y="711363"/>
                  </a:lnTo>
                  <a:close/>
                </a:path>
              </a:pathLst>
            </a:custGeom>
            <a:solidFill>
              <a:srgbClr val="84A5FF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114021" y="253121"/>
              <a:ext cx="310492" cy="4582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-5400000">
            <a:off x="13755459" y="3680810"/>
            <a:ext cx="8215339" cy="849744"/>
            <a:chOff x="0" y="0"/>
            <a:chExt cx="2163711" cy="223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163711" cy="223397"/>
            </a:xfrm>
            <a:custGeom>
              <a:avLst/>
              <a:gdLst/>
              <a:ahLst/>
              <a:cxnLst/>
              <a:rect r="r" b="b" t="t" l="l"/>
              <a:pathLst>
                <a:path h="223397" w="2163711">
                  <a:moveTo>
                    <a:pt x="1081855" y="0"/>
                  </a:moveTo>
                  <a:lnTo>
                    <a:pt x="2163711" y="223397"/>
                  </a:lnTo>
                  <a:lnTo>
                    <a:pt x="0" y="223397"/>
                  </a:lnTo>
                  <a:close/>
                </a:path>
              </a:pathLst>
            </a:custGeom>
            <a:solidFill>
              <a:srgbClr val="A4C7FF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458112" y="46821"/>
              <a:ext cx="1247486" cy="176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-10800000">
            <a:off x="16593738" y="-1987"/>
            <a:ext cx="1689036" cy="4107669"/>
            <a:chOff x="0" y="0"/>
            <a:chExt cx="444849" cy="108185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44849" cy="1079901"/>
            </a:xfrm>
            <a:custGeom>
              <a:avLst/>
              <a:gdLst/>
              <a:ahLst/>
              <a:cxnLst/>
              <a:rect r="r" b="b" t="t" l="l"/>
              <a:pathLst>
                <a:path h="1079901" w="444849">
                  <a:moveTo>
                    <a:pt x="222424" y="0"/>
                  </a:moveTo>
                  <a:lnTo>
                    <a:pt x="444849" y="1079901"/>
                  </a:lnTo>
                  <a:lnTo>
                    <a:pt x="0" y="1079901"/>
                  </a:lnTo>
                  <a:close/>
                </a:path>
              </a:pathLst>
            </a:custGeom>
            <a:solidFill>
              <a:srgbClr val="A4C7FF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94186" y="408929"/>
              <a:ext cx="256477" cy="6709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185535" y="1404679"/>
            <a:ext cx="10542742" cy="8494843"/>
            <a:chOff x="0" y="0"/>
            <a:chExt cx="2924705" cy="235658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24705" cy="2356589"/>
            </a:xfrm>
            <a:custGeom>
              <a:avLst/>
              <a:gdLst/>
              <a:ahLst/>
              <a:cxnLst/>
              <a:rect r="r" b="b" t="t" l="l"/>
              <a:pathLst>
                <a:path h="2356589" w="2924705">
                  <a:moveTo>
                    <a:pt x="38185" y="0"/>
                  </a:moveTo>
                  <a:lnTo>
                    <a:pt x="2886520" y="0"/>
                  </a:lnTo>
                  <a:cubicBezTo>
                    <a:pt x="2896647" y="0"/>
                    <a:pt x="2906360" y="4023"/>
                    <a:pt x="2913521" y="11184"/>
                  </a:cubicBezTo>
                  <a:cubicBezTo>
                    <a:pt x="2920682" y="18345"/>
                    <a:pt x="2924705" y="28058"/>
                    <a:pt x="2924705" y="38185"/>
                  </a:cubicBezTo>
                  <a:lnTo>
                    <a:pt x="2924705" y="2318404"/>
                  </a:lnTo>
                  <a:cubicBezTo>
                    <a:pt x="2924705" y="2339493"/>
                    <a:pt x="2907609" y="2356589"/>
                    <a:pt x="2886520" y="2356589"/>
                  </a:cubicBezTo>
                  <a:lnTo>
                    <a:pt x="38185" y="2356589"/>
                  </a:lnTo>
                  <a:cubicBezTo>
                    <a:pt x="17096" y="2356589"/>
                    <a:pt x="0" y="2339493"/>
                    <a:pt x="0" y="2318404"/>
                  </a:cubicBezTo>
                  <a:lnTo>
                    <a:pt x="0" y="38185"/>
                  </a:lnTo>
                  <a:cubicBezTo>
                    <a:pt x="0" y="17096"/>
                    <a:pt x="17096" y="0"/>
                    <a:pt x="38185" y="0"/>
                  </a:cubicBezTo>
                  <a:close/>
                </a:path>
              </a:pathLst>
            </a:custGeom>
            <a:solidFill>
              <a:srgbClr val="FFFFFF">
                <a:alpha val="40784"/>
              </a:srgbClr>
            </a:solidFill>
            <a:ln w="19050" cap="rnd">
              <a:solidFill>
                <a:srgbClr val="000000">
                  <a:alpha val="40784"/>
                </a:srgbClr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924705" cy="24042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14210311" y="6209311"/>
            <a:ext cx="7035932" cy="1119445"/>
            <a:chOff x="0" y="0"/>
            <a:chExt cx="1425301" cy="22677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25301" cy="226361"/>
            </a:xfrm>
            <a:custGeom>
              <a:avLst/>
              <a:gdLst/>
              <a:ahLst/>
              <a:cxnLst/>
              <a:rect r="r" b="b" t="t" l="l"/>
              <a:pathLst>
                <a:path h="226361" w="1425301">
                  <a:moveTo>
                    <a:pt x="712650" y="0"/>
                  </a:moveTo>
                  <a:lnTo>
                    <a:pt x="1425301" y="226361"/>
                  </a:lnTo>
                  <a:lnTo>
                    <a:pt x="0" y="226361"/>
                  </a:lnTo>
                  <a:close/>
                </a:path>
              </a:pathLst>
            </a:custGeom>
            <a:solidFill>
              <a:srgbClr val="4382E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301772" y="48075"/>
              <a:ext cx="821756" cy="1782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062879" y="6769034"/>
            <a:ext cx="2225121" cy="3517966"/>
            <a:chOff x="0" y="0"/>
            <a:chExt cx="450753" cy="71264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50753" cy="711363"/>
            </a:xfrm>
            <a:custGeom>
              <a:avLst/>
              <a:gdLst/>
              <a:ahLst/>
              <a:cxnLst/>
              <a:rect r="r" b="b" t="t" l="l"/>
              <a:pathLst>
                <a:path h="711363" w="450753">
                  <a:moveTo>
                    <a:pt x="225376" y="0"/>
                  </a:moveTo>
                  <a:lnTo>
                    <a:pt x="450753" y="711363"/>
                  </a:lnTo>
                  <a:lnTo>
                    <a:pt x="0" y="711363"/>
                  </a:lnTo>
                  <a:close/>
                </a:path>
              </a:pathLst>
            </a:custGeom>
            <a:solidFill>
              <a:srgbClr val="4382E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95436" y="253121"/>
              <a:ext cx="259881" cy="4582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5400000">
            <a:off x="14179439" y="3079861"/>
            <a:ext cx="7188422" cy="1028700"/>
            <a:chOff x="0" y="0"/>
            <a:chExt cx="1893247" cy="27093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93247" cy="270444"/>
            </a:xfrm>
            <a:custGeom>
              <a:avLst/>
              <a:gdLst/>
              <a:ahLst/>
              <a:cxnLst/>
              <a:rect r="r" b="b" t="t" l="l"/>
              <a:pathLst>
                <a:path h="270444" w="1893247">
                  <a:moveTo>
                    <a:pt x="946623" y="0"/>
                  </a:moveTo>
                  <a:lnTo>
                    <a:pt x="1893247" y="270444"/>
                  </a:lnTo>
                  <a:lnTo>
                    <a:pt x="0" y="270444"/>
                  </a:lnTo>
                  <a:close/>
                </a:path>
              </a:pathLst>
            </a:custGeom>
            <a:solidFill>
              <a:srgbClr val="2C58A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400848" y="66712"/>
              <a:ext cx="1091550" cy="2037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10800000">
            <a:off x="16236927" y="0"/>
            <a:ext cx="2044747" cy="3594211"/>
            <a:chOff x="0" y="0"/>
            <a:chExt cx="538534" cy="94661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38534" cy="944914"/>
            </a:xfrm>
            <a:custGeom>
              <a:avLst/>
              <a:gdLst/>
              <a:ahLst/>
              <a:cxnLst/>
              <a:rect r="r" b="b" t="t" l="l"/>
              <a:pathLst>
                <a:path h="944914" w="538534">
                  <a:moveTo>
                    <a:pt x="269267" y="0"/>
                  </a:moveTo>
                  <a:lnTo>
                    <a:pt x="538534" y="944914"/>
                  </a:lnTo>
                  <a:lnTo>
                    <a:pt x="0" y="944914"/>
                  </a:lnTo>
                  <a:close/>
                </a:path>
              </a:pathLst>
            </a:custGeom>
            <a:solidFill>
              <a:srgbClr val="2C58A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14021" y="351860"/>
              <a:ext cx="310492" cy="5930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-5400000">
            <a:off x="15813848" y="7819175"/>
            <a:ext cx="4147297" cy="788353"/>
            <a:chOff x="0" y="0"/>
            <a:chExt cx="1425301" cy="27093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25301" cy="270444"/>
            </a:xfrm>
            <a:custGeom>
              <a:avLst/>
              <a:gdLst/>
              <a:ahLst/>
              <a:cxnLst/>
              <a:rect r="r" b="b" t="t" l="l"/>
              <a:pathLst>
                <a:path h="270444" w="1425301">
                  <a:moveTo>
                    <a:pt x="712650" y="0"/>
                  </a:moveTo>
                  <a:lnTo>
                    <a:pt x="1425301" y="270444"/>
                  </a:lnTo>
                  <a:lnTo>
                    <a:pt x="0" y="270444"/>
                  </a:lnTo>
                  <a:close/>
                </a:path>
              </a:pathLst>
            </a:custGeom>
            <a:solidFill>
              <a:srgbClr val="84A5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301772" y="66712"/>
              <a:ext cx="821756" cy="2037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6714663" y="8213352"/>
            <a:ext cx="1567010" cy="2073648"/>
            <a:chOff x="0" y="0"/>
            <a:chExt cx="538534" cy="71264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38534" cy="711363"/>
            </a:xfrm>
            <a:custGeom>
              <a:avLst/>
              <a:gdLst/>
              <a:ahLst/>
              <a:cxnLst/>
              <a:rect r="r" b="b" t="t" l="l"/>
              <a:pathLst>
                <a:path h="711363" w="538534">
                  <a:moveTo>
                    <a:pt x="269267" y="0"/>
                  </a:moveTo>
                  <a:lnTo>
                    <a:pt x="538534" y="711363"/>
                  </a:lnTo>
                  <a:lnTo>
                    <a:pt x="0" y="711363"/>
                  </a:lnTo>
                  <a:close/>
                </a:path>
              </a:pathLst>
            </a:custGeom>
            <a:solidFill>
              <a:srgbClr val="84A5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114021" y="253121"/>
              <a:ext cx="310492" cy="4582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-5400000">
            <a:off x="13755459" y="3680810"/>
            <a:ext cx="8215339" cy="849744"/>
            <a:chOff x="0" y="0"/>
            <a:chExt cx="2163711" cy="223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63711" cy="223397"/>
            </a:xfrm>
            <a:custGeom>
              <a:avLst/>
              <a:gdLst/>
              <a:ahLst/>
              <a:cxnLst/>
              <a:rect r="r" b="b" t="t" l="l"/>
              <a:pathLst>
                <a:path h="223397" w="2163711">
                  <a:moveTo>
                    <a:pt x="1081855" y="0"/>
                  </a:moveTo>
                  <a:lnTo>
                    <a:pt x="2163711" y="223397"/>
                  </a:lnTo>
                  <a:lnTo>
                    <a:pt x="0" y="223397"/>
                  </a:lnTo>
                  <a:close/>
                </a:path>
              </a:pathLst>
            </a:custGeom>
            <a:solidFill>
              <a:srgbClr val="A4C7FF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458112" y="46821"/>
              <a:ext cx="1247486" cy="176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-10800000">
            <a:off x="16593738" y="-1987"/>
            <a:ext cx="1689036" cy="4107669"/>
            <a:chOff x="0" y="0"/>
            <a:chExt cx="444849" cy="10818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44849" cy="1079901"/>
            </a:xfrm>
            <a:custGeom>
              <a:avLst/>
              <a:gdLst/>
              <a:ahLst/>
              <a:cxnLst/>
              <a:rect r="r" b="b" t="t" l="l"/>
              <a:pathLst>
                <a:path h="1079901" w="444849">
                  <a:moveTo>
                    <a:pt x="222424" y="0"/>
                  </a:moveTo>
                  <a:lnTo>
                    <a:pt x="444849" y="1079901"/>
                  </a:lnTo>
                  <a:lnTo>
                    <a:pt x="0" y="1079901"/>
                  </a:lnTo>
                  <a:close/>
                </a:path>
              </a:pathLst>
            </a:custGeom>
            <a:solidFill>
              <a:srgbClr val="A4C7FF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94186" y="408929"/>
              <a:ext cx="256477" cy="6709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7624724" y="1595445"/>
            <a:ext cx="9089939" cy="7971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92"/>
              </a:lnSpc>
            </a:pPr>
            <a:r>
              <a:rPr lang="en-US" sz="378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🞂 </a:t>
            </a:r>
            <a:r>
              <a:rPr lang="en-US" sz="378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Məsələn, “status” sözü əvvəllər rəsmi hüquqi sənədlərdə “siyasi/hüquqi mövqe” mənası verdiyi halda, semantik inkişaf nəticəsində hazırda “sosial şəbəkə paylaşımı” mənasını qazanıb.</a:t>
            </a:r>
          </a:p>
          <a:p>
            <a:pPr algn="l">
              <a:lnSpc>
                <a:spcPts val="5292"/>
              </a:lnSpc>
            </a:pPr>
            <a:r>
              <a:rPr lang="en-US" sz="378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N</a:t>
            </a:r>
            <a:r>
              <a:rPr lang="en-US" sz="378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ümunələr: </a:t>
            </a:r>
          </a:p>
          <a:p>
            <a:pPr algn="l">
              <a:lnSpc>
                <a:spcPts val="5292"/>
              </a:lnSpc>
            </a:pPr>
            <a:r>
              <a:rPr lang="en-US" sz="378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⪧ Pr</a:t>
            </a:r>
            <a:r>
              <a:rPr lang="en-US" sz="378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osessor</a:t>
            </a:r>
          </a:p>
          <a:p>
            <a:pPr algn="l">
              <a:lnSpc>
                <a:spcPts val="5292"/>
              </a:lnSpc>
            </a:pPr>
            <a:r>
              <a:rPr lang="en-US" sz="378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⪧ B</a:t>
            </a:r>
            <a:r>
              <a:rPr lang="en-US" sz="378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ulud texnologiyası</a:t>
            </a:r>
          </a:p>
          <a:p>
            <a:pPr algn="l">
              <a:lnSpc>
                <a:spcPts val="5292"/>
              </a:lnSpc>
            </a:pPr>
            <a:r>
              <a:rPr lang="en-US" sz="378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⪧ S</a:t>
            </a:r>
            <a:r>
              <a:rPr lang="en-US" sz="378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üni intellekt</a:t>
            </a:r>
          </a:p>
          <a:p>
            <a:pPr algn="l">
              <a:lnSpc>
                <a:spcPts val="5292"/>
              </a:lnSpc>
            </a:pPr>
            <a:r>
              <a:rPr lang="en-US" sz="378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⪧A</a:t>
            </a:r>
            <a:r>
              <a:rPr lang="en-US" sz="378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lqoritm</a:t>
            </a:r>
          </a:p>
          <a:p>
            <a:pPr algn="l">
              <a:lnSpc>
                <a:spcPts val="5292"/>
              </a:lnSpc>
            </a:pPr>
            <a:r>
              <a:rPr lang="en-US" sz="378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⪧ Şəbəkə</a:t>
            </a:r>
          </a:p>
          <a:p>
            <a:pPr algn="l">
              <a:lnSpc>
                <a:spcPts val="5292"/>
              </a:lnSpc>
            </a:pPr>
            <a:r>
              <a:rPr lang="en-US" sz="378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⪧ Adapter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295891" y="2244176"/>
            <a:ext cx="6784869" cy="6815850"/>
          </a:xfrm>
          <a:custGeom>
            <a:avLst/>
            <a:gdLst/>
            <a:ahLst/>
            <a:cxnLst/>
            <a:rect r="r" b="b" t="t" l="l"/>
            <a:pathLst>
              <a:path h="6815850" w="6784869">
                <a:moveTo>
                  <a:pt x="0" y="0"/>
                </a:moveTo>
                <a:lnTo>
                  <a:pt x="6784869" y="0"/>
                </a:lnTo>
                <a:lnTo>
                  <a:pt x="6784869" y="6815850"/>
                </a:lnTo>
                <a:lnTo>
                  <a:pt x="0" y="68158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464308" y="231686"/>
            <a:ext cx="17817366" cy="797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02"/>
              </a:lnSpc>
              <a:spcBef>
                <a:spcPct val="0"/>
              </a:spcBef>
            </a:pPr>
            <a:r>
              <a:rPr lang="en-US" b="true" sz="4644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S</a:t>
            </a:r>
            <a:r>
              <a:rPr lang="en-US" b="true" sz="4644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emantik inteqrasiyası və nümunələr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0" y="9258300"/>
            <a:ext cx="6557664" cy="1028700"/>
            <a:chOff x="0" y="0"/>
            <a:chExt cx="1214382" cy="1905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214382" cy="190500"/>
            </a:xfrm>
            <a:custGeom>
              <a:avLst/>
              <a:gdLst/>
              <a:ahLst/>
              <a:cxnLst/>
              <a:rect r="r" b="b" t="t" l="l"/>
              <a:pathLst>
                <a:path h="190500" w="1214382">
                  <a:moveTo>
                    <a:pt x="1214382" y="190500"/>
                  </a:moveTo>
                  <a:lnTo>
                    <a:pt x="0" y="190500"/>
                  </a:lnTo>
                  <a:lnTo>
                    <a:pt x="0" y="0"/>
                  </a:lnTo>
                  <a:lnTo>
                    <a:pt x="1214382" y="190500"/>
                  </a:lnTo>
                  <a:close/>
                </a:path>
              </a:pathLst>
            </a:custGeom>
            <a:solidFill>
              <a:srgbClr val="4382EB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47625"/>
              <a:ext cx="607191" cy="142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0" y="9258300"/>
            <a:ext cx="4101592" cy="1028700"/>
            <a:chOff x="0" y="0"/>
            <a:chExt cx="759554" cy="1905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59554" cy="190500"/>
            </a:xfrm>
            <a:custGeom>
              <a:avLst/>
              <a:gdLst/>
              <a:ahLst/>
              <a:cxnLst/>
              <a:rect r="r" b="b" t="t" l="l"/>
              <a:pathLst>
                <a:path h="190500" w="759554">
                  <a:moveTo>
                    <a:pt x="759554" y="190500"/>
                  </a:moveTo>
                  <a:lnTo>
                    <a:pt x="0" y="190500"/>
                  </a:lnTo>
                  <a:lnTo>
                    <a:pt x="0" y="0"/>
                  </a:lnTo>
                  <a:lnTo>
                    <a:pt x="759554" y="190500"/>
                  </a:lnTo>
                  <a:close/>
                </a:path>
              </a:pathLst>
            </a:custGeom>
            <a:solidFill>
              <a:srgbClr val="A4C7FF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47625"/>
              <a:ext cx="379777" cy="142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524530" y="1797105"/>
            <a:ext cx="7981883" cy="5966458"/>
          </a:xfrm>
          <a:custGeom>
            <a:avLst/>
            <a:gdLst/>
            <a:ahLst/>
            <a:cxnLst/>
            <a:rect r="r" b="b" t="t" l="l"/>
            <a:pathLst>
              <a:path h="5966458" w="7981883">
                <a:moveTo>
                  <a:pt x="0" y="0"/>
                </a:moveTo>
                <a:lnTo>
                  <a:pt x="7981884" y="0"/>
                </a:lnTo>
                <a:lnTo>
                  <a:pt x="7981884" y="5966458"/>
                </a:lnTo>
                <a:lnTo>
                  <a:pt x="0" y="59664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14210311" y="6209311"/>
            <a:ext cx="7035932" cy="1119445"/>
            <a:chOff x="0" y="0"/>
            <a:chExt cx="1425301" cy="22677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25301" cy="226361"/>
            </a:xfrm>
            <a:custGeom>
              <a:avLst/>
              <a:gdLst/>
              <a:ahLst/>
              <a:cxnLst/>
              <a:rect r="r" b="b" t="t" l="l"/>
              <a:pathLst>
                <a:path h="226361" w="1425301">
                  <a:moveTo>
                    <a:pt x="712650" y="0"/>
                  </a:moveTo>
                  <a:lnTo>
                    <a:pt x="1425301" y="226361"/>
                  </a:lnTo>
                  <a:lnTo>
                    <a:pt x="0" y="226361"/>
                  </a:lnTo>
                  <a:close/>
                </a:path>
              </a:pathLst>
            </a:custGeom>
            <a:solidFill>
              <a:srgbClr val="4382EB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301772" y="48075"/>
              <a:ext cx="821756" cy="1782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6062879" y="6769034"/>
            <a:ext cx="2225121" cy="3517966"/>
            <a:chOff x="0" y="0"/>
            <a:chExt cx="450753" cy="71264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50753" cy="711363"/>
            </a:xfrm>
            <a:custGeom>
              <a:avLst/>
              <a:gdLst/>
              <a:ahLst/>
              <a:cxnLst/>
              <a:rect r="r" b="b" t="t" l="l"/>
              <a:pathLst>
                <a:path h="711363" w="450753">
                  <a:moveTo>
                    <a:pt x="225376" y="0"/>
                  </a:moveTo>
                  <a:lnTo>
                    <a:pt x="450753" y="711363"/>
                  </a:lnTo>
                  <a:lnTo>
                    <a:pt x="0" y="711363"/>
                  </a:lnTo>
                  <a:close/>
                </a:path>
              </a:pathLst>
            </a:custGeom>
            <a:solidFill>
              <a:srgbClr val="4382EB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95436" y="253121"/>
              <a:ext cx="259881" cy="4582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5400000">
            <a:off x="14179439" y="3079861"/>
            <a:ext cx="7188422" cy="1028700"/>
            <a:chOff x="0" y="0"/>
            <a:chExt cx="1893247" cy="27093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93247" cy="270444"/>
            </a:xfrm>
            <a:custGeom>
              <a:avLst/>
              <a:gdLst/>
              <a:ahLst/>
              <a:cxnLst/>
              <a:rect r="r" b="b" t="t" l="l"/>
              <a:pathLst>
                <a:path h="270444" w="1893247">
                  <a:moveTo>
                    <a:pt x="946623" y="0"/>
                  </a:moveTo>
                  <a:lnTo>
                    <a:pt x="1893247" y="270444"/>
                  </a:lnTo>
                  <a:lnTo>
                    <a:pt x="0" y="270444"/>
                  </a:lnTo>
                  <a:close/>
                </a:path>
              </a:pathLst>
            </a:custGeom>
            <a:solidFill>
              <a:srgbClr val="2C58A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400848" y="66712"/>
              <a:ext cx="1091550" cy="2037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-10800000">
            <a:off x="16236927" y="0"/>
            <a:ext cx="2044747" cy="3594211"/>
            <a:chOff x="0" y="0"/>
            <a:chExt cx="538534" cy="94661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38534" cy="944914"/>
            </a:xfrm>
            <a:custGeom>
              <a:avLst/>
              <a:gdLst/>
              <a:ahLst/>
              <a:cxnLst/>
              <a:rect r="r" b="b" t="t" l="l"/>
              <a:pathLst>
                <a:path h="944914" w="538534">
                  <a:moveTo>
                    <a:pt x="269267" y="0"/>
                  </a:moveTo>
                  <a:lnTo>
                    <a:pt x="538534" y="944914"/>
                  </a:lnTo>
                  <a:lnTo>
                    <a:pt x="0" y="944914"/>
                  </a:lnTo>
                  <a:close/>
                </a:path>
              </a:pathLst>
            </a:custGeom>
            <a:solidFill>
              <a:srgbClr val="2C58A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114021" y="351860"/>
              <a:ext cx="310492" cy="5930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-5400000">
            <a:off x="15813848" y="7819175"/>
            <a:ext cx="4147297" cy="788353"/>
            <a:chOff x="0" y="0"/>
            <a:chExt cx="1425301" cy="27093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25301" cy="270444"/>
            </a:xfrm>
            <a:custGeom>
              <a:avLst/>
              <a:gdLst/>
              <a:ahLst/>
              <a:cxnLst/>
              <a:rect r="r" b="b" t="t" l="l"/>
              <a:pathLst>
                <a:path h="270444" w="1425301">
                  <a:moveTo>
                    <a:pt x="712650" y="0"/>
                  </a:moveTo>
                  <a:lnTo>
                    <a:pt x="1425301" y="270444"/>
                  </a:lnTo>
                  <a:lnTo>
                    <a:pt x="0" y="270444"/>
                  </a:lnTo>
                  <a:close/>
                </a:path>
              </a:pathLst>
            </a:custGeom>
            <a:solidFill>
              <a:srgbClr val="84A5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301772" y="66712"/>
              <a:ext cx="821756" cy="2037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6714663" y="8213352"/>
            <a:ext cx="1567010" cy="2073648"/>
            <a:chOff x="0" y="0"/>
            <a:chExt cx="538534" cy="71264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38534" cy="711363"/>
            </a:xfrm>
            <a:custGeom>
              <a:avLst/>
              <a:gdLst/>
              <a:ahLst/>
              <a:cxnLst/>
              <a:rect r="r" b="b" t="t" l="l"/>
              <a:pathLst>
                <a:path h="711363" w="538534">
                  <a:moveTo>
                    <a:pt x="269267" y="0"/>
                  </a:moveTo>
                  <a:lnTo>
                    <a:pt x="538534" y="711363"/>
                  </a:lnTo>
                  <a:lnTo>
                    <a:pt x="0" y="711363"/>
                  </a:lnTo>
                  <a:close/>
                </a:path>
              </a:pathLst>
            </a:custGeom>
            <a:solidFill>
              <a:srgbClr val="84A5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114021" y="253121"/>
              <a:ext cx="310492" cy="4582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-5400000">
            <a:off x="13755459" y="3680810"/>
            <a:ext cx="8215339" cy="849744"/>
            <a:chOff x="0" y="0"/>
            <a:chExt cx="2163711" cy="223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63711" cy="223397"/>
            </a:xfrm>
            <a:custGeom>
              <a:avLst/>
              <a:gdLst/>
              <a:ahLst/>
              <a:cxnLst/>
              <a:rect r="r" b="b" t="t" l="l"/>
              <a:pathLst>
                <a:path h="223397" w="2163711">
                  <a:moveTo>
                    <a:pt x="1081855" y="0"/>
                  </a:moveTo>
                  <a:lnTo>
                    <a:pt x="2163711" y="223397"/>
                  </a:lnTo>
                  <a:lnTo>
                    <a:pt x="0" y="223397"/>
                  </a:lnTo>
                  <a:close/>
                </a:path>
              </a:pathLst>
            </a:custGeom>
            <a:solidFill>
              <a:srgbClr val="A4C7F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458112" y="46821"/>
              <a:ext cx="1247486" cy="176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-10800000">
            <a:off x="16593738" y="-1987"/>
            <a:ext cx="1689036" cy="4107669"/>
            <a:chOff x="0" y="0"/>
            <a:chExt cx="444849" cy="108185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44849" cy="1079901"/>
            </a:xfrm>
            <a:custGeom>
              <a:avLst/>
              <a:gdLst/>
              <a:ahLst/>
              <a:cxnLst/>
              <a:rect r="r" b="b" t="t" l="l"/>
              <a:pathLst>
                <a:path h="1079901" w="444849">
                  <a:moveTo>
                    <a:pt x="222424" y="0"/>
                  </a:moveTo>
                  <a:lnTo>
                    <a:pt x="444849" y="1079901"/>
                  </a:lnTo>
                  <a:lnTo>
                    <a:pt x="0" y="1079901"/>
                  </a:lnTo>
                  <a:close/>
                </a:path>
              </a:pathLst>
            </a:custGeom>
            <a:solidFill>
              <a:srgbClr val="A4C7F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94186" y="408929"/>
              <a:ext cx="256477" cy="6709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475421" y="1975728"/>
            <a:ext cx="11006798" cy="2518854"/>
            <a:chOff x="0" y="0"/>
            <a:chExt cx="3331507" cy="7624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331507" cy="762400"/>
            </a:xfrm>
            <a:custGeom>
              <a:avLst/>
              <a:gdLst/>
              <a:ahLst/>
              <a:cxnLst/>
              <a:rect r="r" b="b" t="t" l="l"/>
              <a:pathLst>
                <a:path h="762400" w="3331507">
                  <a:moveTo>
                    <a:pt x="36576" y="0"/>
                  </a:moveTo>
                  <a:lnTo>
                    <a:pt x="3294931" y="0"/>
                  </a:lnTo>
                  <a:cubicBezTo>
                    <a:pt x="3304632" y="0"/>
                    <a:pt x="3313935" y="3853"/>
                    <a:pt x="3320794" y="10713"/>
                  </a:cubicBezTo>
                  <a:cubicBezTo>
                    <a:pt x="3327653" y="17572"/>
                    <a:pt x="3331507" y="26875"/>
                    <a:pt x="3331507" y="36576"/>
                  </a:cubicBezTo>
                  <a:lnTo>
                    <a:pt x="3331507" y="725824"/>
                  </a:lnTo>
                  <a:cubicBezTo>
                    <a:pt x="3331507" y="746024"/>
                    <a:pt x="3315131" y="762400"/>
                    <a:pt x="3294931" y="762400"/>
                  </a:cubicBezTo>
                  <a:lnTo>
                    <a:pt x="36576" y="762400"/>
                  </a:lnTo>
                  <a:cubicBezTo>
                    <a:pt x="16375" y="762400"/>
                    <a:pt x="0" y="746024"/>
                    <a:pt x="0" y="725824"/>
                  </a:cubicBezTo>
                  <a:lnTo>
                    <a:pt x="0" y="36576"/>
                  </a:lnTo>
                  <a:cubicBezTo>
                    <a:pt x="0" y="16375"/>
                    <a:pt x="16375" y="0"/>
                    <a:pt x="36576" y="0"/>
                  </a:cubicBezTo>
                  <a:close/>
                </a:path>
              </a:pathLst>
            </a:custGeom>
            <a:solidFill>
              <a:srgbClr val="FFFFFF">
                <a:alpha val="40784"/>
              </a:srgbClr>
            </a:solidFill>
            <a:ln w="19050" cap="rnd">
              <a:solidFill>
                <a:srgbClr val="000000">
                  <a:alpha val="40784"/>
                </a:srgbClr>
              </a:solidFill>
              <a:prstDash val="solid"/>
              <a:round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3331507" cy="810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475421" y="5143500"/>
            <a:ext cx="10664177" cy="3778081"/>
            <a:chOff x="0" y="0"/>
            <a:chExt cx="3727777" cy="132066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727777" cy="1320669"/>
            </a:xfrm>
            <a:custGeom>
              <a:avLst/>
              <a:gdLst/>
              <a:ahLst/>
              <a:cxnLst/>
              <a:rect r="r" b="b" t="t" l="l"/>
              <a:pathLst>
                <a:path h="1320669" w="3727777">
                  <a:moveTo>
                    <a:pt x="37751" y="0"/>
                  </a:moveTo>
                  <a:lnTo>
                    <a:pt x="3690026" y="0"/>
                  </a:lnTo>
                  <a:cubicBezTo>
                    <a:pt x="3700038" y="0"/>
                    <a:pt x="3709641" y="3977"/>
                    <a:pt x="3716720" y="11057"/>
                  </a:cubicBezTo>
                  <a:cubicBezTo>
                    <a:pt x="3723800" y="18137"/>
                    <a:pt x="3727777" y="27739"/>
                    <a:pt x="3727777" y="37751"/>
                  </a:cubicBezTo>
                  <a:lnTo>
                    <a:pt x="3727777" y="1282918"/>
                  </a:lnTo>
                  <a:cubicBezTo>
                    <a:pt x="3727777" y="1303767"/>
                    <a:pt x="3710875" y="1320669"/>
                    <a:pt x="3690026" y="1320669"/>
                  </a:cubicBezTo>
                  <a:lnTo>
                    <a:pt x="37751" y="1320669"/>
                  </a:lnTo>
                  <a:cubicBezTo>
                    <a:pt x="16902" y="1320669"/>
                    <a:pt x="0" y="1303767"/>
                    <a:pt x="0" y="1282918"/>
                  </a:cubicBezTo>
                  <a:lnTo>
                    <a:pt x="0" y="37751"/>
                  </a:lnTo>
                  <a:cubicBezTo>
                    <a:pt x="0" y="16902"/>
                    <a:pt x="16902" y="0"/>
                    <a:pt x="37751" y="0"/>
                  </a:cubicBezTo>
                  <a:close/>
                </a:path>
              </a:pathLst>
            </a:custGeom>
            <a:solidFill>
              <a:srgbClr val="FFFFFF">
                <a:alpha val="40784"/>
              </a:srgbClr>
            </a:solidFill>
            <a:ln w="19050" cap="rnd">
              <a:solidFill>
                <a:srgbClr val="000000">
                  <a:alpha val="40784"/>
                </a:srgbClr>
              </a:solidFill>
              <a:prstDash val="solid"/>
              <a:round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3727777" cy="13682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475421" y="111143"/>
            <a:ext cx="10424589" cy="917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31"/>
              </a:lnSpc>
              <a:spcBef>
                <a:spcPct val="0"/>
              </a:spcBef>
            </a:pPr>
            <a:r>
              <a:rPr lang="en-US" b="true" sz="5379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Sosial və siyasi n</a:t>
            </a:r>
            <a:r>
              <a:rPr lang="en-US" b="true" sz="5379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eologizmlər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48423" y="2202726"/>
            <a:ext cx="12739988" cy="1998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63"/>
              </a:lnSpc>
            </a:pPr>
            <a:r>
              <a:rPr lang="en-US" sz="383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Yaranma fakt</a:t>
            </a:r>
            <a:r>
              <a:rPr lang="en-US" sz="383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orları: Cəmiyyətdə baş verən demokratikləşmə, yeni beynəlxalq idarəetmə sistemləri nəticəsində yaranır.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748423" y="5311221"/>
            <a:ext cx="9960030" cy="3134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505" indent="-388752" lvl="1">
              <a:lnSpc>
                <a:spcPts val="5041"/>
              </a:lnSpc>
              <a:buFont typeface="Arial"/>
              <a:buChar char="•"/>
            </a:pPr>
            <a:r>
              <a:rPr lang="en-US" sz="360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Rəsmiyyət səviyyə</a:t>
            </a:r>
            <a:r>
              <a:rPr lang="en-US" sz="360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si: Akademik jurnallar, xəbər mətnləri, qəzetlər və</a:t>
            </a:r>
            <a:r>
              <a:rPr lang="en-US" sz="360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b</a:t>
            </a:r>
            <a:r>
              <a:rPr lang="en-US" sz="360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eynəlxalq</a:t>
            </a:r>
            <a:r>
              <a:rPr lang="en-US" sz="360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rəsmi hesabatlar</a:t>
            </a:r>
            <a:r>
              <a:rPr lang="en-US" sz="360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360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bu sözlərin leksik fonda</a:t>
            </a:r>
            <a:r>
              <a:rPr lang="en-US" sz="360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360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inteqrasiya</a:t>
            </a:r>
            <a:r>
              <a:rPr lang="en-US" sz="360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360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edildiyi əsas platformalardır.</a:t>
            </a:r>
          </a:p>
          <a:p>
            <a:pPr algn="l">
              <a:lnSpc>
                <a:spcPts val="5041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14210311" y="6209311"/>
            <a:ext cx="7035932" cy="1119445"/>
            <a:chOff x="0" y="0"/>
            <a:chExt cx="1425301" cy="2267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301" cy="226361"/>
            </a:xfrm>
            <a:custGeom>
              <a:avLst/>
              <a:gdLst/>
              <a:ahLst/>
              <a:cxnLst/>
              <a:rect r="r" b="b" t="t" l="l"/>
              <a:pathLst>
                <a:path h="226361" w="1425301">
                  <a:moveTo>
                    <a:pt x="712650" y="0"/>
                  </a:moveTo>
                  <a:lnTo>
                    <a:pt x="1425301" y="226361"/>
                  </a:lnTo>
                  <a:lnTo>
                    <a:pt x="0" y="226361"/>
                  </a:lnTo>
                  <a:close/>
                </a:path>
              </a:pathLst>
            </a:custGeom>
            <a:solidFill>
              <a:srgbClr val="4382E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301772" y="48075"/>
              <a:ext cx="821756" cy="1782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062879" y="6769034"/>
            <a:ext cx="2225121" cy="3517966"/>
            <a:chOff x="0" y="0"/>
            <a:chExt cx="450753" cy="71264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50753" cy="711363"/>
            </a:xfrm>
            <a:custGeom>
              <a:avLst/>
              <a:gdLst/>
              <a:ahLst/>
              <a:cxnLst/>
              <a:rect r="r" b="b" t="t" l="l"/>
              <a:pathLst>
                <a:path h="711363" w="450753">
                  <a:moveTo>
                    <a:pt x="225376" y="0"/>
                  </a:moveTo>
                  <a:lnTo>
                    <a:pt x="450753" y="711363"/>
                  </a:lnTo>
                  <a:lnTo>
                    <a:pt x="0" y="711363"/>
                  </a:lnTo>
                  <a:close/>
                </a:path>
              </a:pathLst>
            </a:custGeom>
            <a:solidFill>
              <a:srgbClr val="4382E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95436" y="253121"/>
              <a:ext cx="259881" cy="4582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5400000">
            <a:off x="14179439" y="3079861"/>
            <a:ext cx="7188422" cy="1028700"/>
            <a:chOff x="0" y="0"/>
            <a:chExt cx="1893247" cy="27093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93247" cy="270444"/>
            </a:xfrm>
            <a:custGeom>
              <a:avLst/>
              <a:gdLst/>
              <a:ahLst/>
              <a:cxnLst/>
              <a:rect r="r" b="b" t="t" l="l"/>
              <a:pathLst>
                <a:path h="270444" w="1893247">
                  <a:moveTo>
                    <a:pt x="946623" y="0"/>
                  </a:moveTo>
                  <a:lnTo>
                    <a:pt x="1893247" y="270444"/>
                  </a:lnTo>
                  <a:lnTo>
                    <a:pt x="0" y="270444"/>
                  </a:lnTo>
                  <a:close/>
                </a:path>
              </a:pathLst>
            </a:custGeom>
            <a:solidFill>
              <a:srgbClr val="2C58A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400848" y="66712"/>
              <a:ext cx="1091550" cy="2037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10800000">
            <a:off x="16236927" y="0"/>
            <a:ext cx="2044747" cy="3594211"/>
            <a:chOff x="0" y="0"/>
            <a:chExt cx="538534" cy="94661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8534" cy="944914"/>
            </a:xfrm>
            <a:custGeom>
              <a:avLst/>
              <a:gdLst/>
              <a:ahLst/>
              <a:cxnLst/>
              <a:rect r="r" b="b" t="t" l="l"/>
              <a:pathLst>
                <a:path h="944914" w="538534">
                  <a:moveTo>
                    <a:pt x="269267" y="0"/>
                  </a:moveTo>
                  <a:lnTo>
                    <a:pt x="538534" y="944914"/>
                  </a:lnTo>
                  <a:lnTo>
                    <a:pt x="0" y="944914"/>
                  </a:lnTo>
                  <a:close/>
                </a:path>
              </a:pathLst>
            </a:custGeom>
            <a:solidFill>
              <a:srgbClr val="2C58A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14021" y="351860"/>
              <a:ext cx="310492" cy="5930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5400000">
            <a:off x="15813848" y="7819175"/>
            <a:ext cx="4147297" cy="788353"/>
            <a:chOff x="0" y="0"/>
            <a:chExt cx="1425301" cy="27093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25301" cy="270444"/>
            </a:xfrm>
            <a:custGeom>
              <a:avLst/>
              <a:gdLst/>
              <a:ahLst/>
              <a:cxnLst/>
              <a:rect r="r" b="b" t="t" l="l"/>
              <a:pathLst>
                <a:path h="270444" w="1425301">
                  <a:moveTo>
                    <a:pt x="712650" y="0"/>
                  </a:moveTo>
                  <a:lnTo>
                    <a:pt x="1425301" y="270444"/>
                  </a:lnTo>
                  <a:lnTo>
                    <a:pt x="0" y="270444"/>
                  </a:lnTo>
                  <a:close/>
                </a:path>
              </a:pathLst>
            </a:custGeom>
            <a:solidFill>
              <a:srgbClr val="84A5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301772" y="66712"/>
              <a:ext cx="821756" cy="2037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6714663" y="8213352"/>
            <a:ext cx="1567010" cy="2073648"/>
            <a:chOff x="0" y="0"/>
            <a:chExt cx="538534" cy="71264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38534" cy="711363"/>
            </a:xfrm>
            <a:custGeom>
              <a:avLst/>
              <a:gdLst/>
              <a:ahLst/>
              <a:cxnLst/>
              <a:rect r="r" b="b" t="t" l="l"/>
              <a:pathLst>
                <a:path h="711363" w="538534">
                  <a:moveTo>
                    <a:pt x="269267" y="0"/>
                  </a:moveTo>
                  <a:lnTo>
                    <a:pt x="538534" y="711363"/>
                  </a:lnTo>
                  <a:lnTo>
                    <a:pt x="0" y="711363"/>
                  </a:lnTo>
                  <a:close/>
                </a:path>
              </a:pathLst>
            </a:custGeom>
            <a:solidFill>
              <a:srgbClr val="84A5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114021" y="253121"/>
              <a:ext cx="310492" cy="4582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-5400000">
            <a:off x="13755459" y="3680810"/>
            <a:ext cx="8215339" cy="849744"/>
            <a:chOff x="0" y="0"/>
            <a:chExt cx="2163711" cy="223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63711" cy="223397"/>
            </a:xfrm>
            <a:custGeom>
              <a:avLst/>
              <a:gdLst/>
              <a:ahLst/>
              <a:cxnLst/>
              <a:rect r="r" b="b" t="t" l="l"/>
              <a:pathLst>
                <a:path h="223397" w="2163711">
                  <a:moveTo>
                    <a:pt x="1081855" y="0"/>
                  </a:moveTo>
                  <a:lnTo>
                    <a:pt x="2163711" y="223397"/>
                  </a:lnTo>
                  <a:lnTo>
                    <a:pt x="0" y="223397"/>
                  </a:lnTo>
                  <a:close/>
                </a:path>
              </a:pathLst>
            </a:custGeom>
            <a:solidFill>
              <a:srgbClr val="A4C7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458112" y="46821"/>
              <a:ext cx="1247486" cy="176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-10800000">
            <a:off x="16593738" y="-1987"/>
            <a:ext cx="1689036" cy="4107669"/>
            <a:chOff x="0" y="0"/>
            <a:chExt cx="444849" cy="10818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44849" cy="1079901"/>
            </a:xfrm>
            <a:custGeom>
              <a:avLst/>
              <a:gdLst/>
              <a:ahLst/>
              <a:cxnLst/>
              <a:rect r="r" b="b" t="t" l="l"/>
              <a:pathLst>
                <a:path h="1079901" w="444849">
                  <a:moveTo>
                    <a:pt x="222424" y="0"/>
                  </a:moveTo>
                  <a:lnTo>
                    <a:pt x="444849" y="1079901"/>
                  </a:lnTo>
                  <a:lnTo>
                    <a:pt x="0" y="1079901"/>
                  </a:lnTo>
                  <a:close/>
                </a:path>
              </a:pathLst>
            </a:custGeom>
            <a:solidFill>
              <a:srgbClr val="A4C7FF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94186" y="408929"/>
              <a:ext cx="256477" cy="6709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475421" y="1975728"/>
            <a:ext cx="8903126" cy="6552289"/>
            <a:chOff x="0" y="0"/>
            <a:chExt cx="2694773" cy="198322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694773" cy="1983228"/>
            </a:xfrm>
            <a:custGeom>
              <a:avLst/>
              <a:gdLst/>
              <a:ahLst/>
              <a:cxnLst/>
              <a:rect r="r" b="b" t="t" l="l"/>
              <a:pathLst>
                <a:path h="1983228" w="2694773">
                  <a:moveTo>
                    <a:pt x="45218" y="0"/>
                  </a:moveTo>
                  <a:lnTo>
                    <a:pt x="2649556" y="0"/>
                  </a:lnTo>
                  <a:cubicBezTo>
                    <a:pt x="2674529" y="0"/>
                    <a:pt x="2694773" y="20245"/>
                    <a:pt x="2694773" y="45218"/>
                  </a:cubicBezTo>
                  <a:lnTo>
                    <a:pt x="2694773" y="1938011"/>
                  </a:lnTo>
                  <a:cubicBezTo>
                    <a:pt x="2694773" y="1950003"/>
                    <a:pt x="2690009" y="1961504"/>
                    <a:pt x="2681529" y="1969984"/>
                  </a:cubicBezTo>
                  <a:cubicBezTo>
                    <a:pt x="2673049" y="1978464"/>
                    <a:pt x="2661548" y="1983228"/>
                    <a:pt x="2649556" y="1983228"/>
                  </a:cubicBezTo>
                  <a:lnTo>
                    <a:pt x="45218" y="1983228"/>
                  </a:lnTo>
                  <a:cubicBezTo>
                    <a:pt x="20245" y="1983228"/>
                    <a:pt x="0" y="1962984"/>
                    <a:pt x="0" y="1938011"/>
                  </a:cubicBezTo>
                  <a:lnTo>
                    <a:pt x="0" y="45218"/>
                  </a:lnTo>
                  <a:cubicBezTo>
                    <a:pt x="0" y="20245"/>
                    <a:pt x="20245" y="0"/>
                    <a:pt x="45218" y="0"/>
                  </a:cubicBezTo>
                  <a:close/>
                </a:path>
              </a:pathLst>
            </a:custGeom>
            <a:solidFill>
              <a:srgbClr val="FFFFFF">
                <a:alpha val="40784"/>
              </a:srgbClr>
            </a:solidFill>
            <a:ln w="19050" cap="rnd">
              <a:solidFill>
                <a:srgbClr val="000000">
                  <a:alpha val="40784"/>
                </a:srgbClr>
              </a:solidFill>
              <a:prstDash val="solid"/>
              <a:round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2694773" cy="20308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9791522" y="2491072"/>
            <a:ext cx="6923141" cy="5304857"/>
          </a:xfrm>
          <a:custGeom>
            <a:avLst/>
            <a:gdLst/>
            <a:ahLst/>
            <a:cxnLst/>
            <a:rect r="r" b="b" t="t" l="l"/>
            <a:pathLst>
              <a:path h="5304857" w="6923141">
                <a:moveTo>
                  <a:pt x="0" y="0"/>
                </a:moveTo>
                <a:lnTo>
                  <a:pt x="6923141" y="0"/>
                </a:lnTo>
                <a:lnTo>
                  <a:pt x="6923141" y="5304856"/>
                </a:lnTo>
                <a:lnTo>
                  <a:pt x="0" y="53048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475421" y="111143"/>
            <a:ext cx="17806252" cy="917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31"/>
              </a:lnSpc>
              <a:spcBef>
                <a:spcPct val="0"/>
              </a:spcBef>
            </a:pPr>
            <a:r>
              <a:rPr lang="en-US" b="true" sz="5379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Sosial və siyasi n</a:t>
            </a:r>
            <a:r>
              <a:rPr lang="en-US" b="true" sz="5379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eologizmlər nümunələri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822758" y="2220909"/>
            <a:ext cx="17458915" cy="6062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9"/>
              </a:lnSpc>
            </a:pPr>
            <a:r>
              <a:rPr lang="en-US" sz="3806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⩥</a:t>
            </a:r>
            <a:r>
              <a:rPr lang="en-US" sz="3806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Vitse-prezident</a:t>
            </a:r>
          </a:p>
          <a:p>
            <a:pPr algn="l">
              <a:lnSpc>
                <a:spcPts val="5329"/>
              </a:lnSpc>
            </a:pPr>
            <a:r>
              <a:rPr lang="en-US" sz="3806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⩥ Qeyri-neft sektoru</a:t>
            </a:r>
          </a:p>
          <a:p>
            <a:pPr algn="l">
              <a:lnSpc>
                <a:spcPts val="5329"/>
              </a:lnSpc>
            </a:pPr>
            <a:r>
              <a:rPr lang="en-US" sz="3806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⩥ Sağçı</a:t>
            </a:r>
          </a:p>
          <a:p>
            <a:pPr algn="l">
              <a:lnSpc>
                <a:spcPts val="5329"/>
              </a:lnSpc>
            </a:pPr>
            <a:r>
              <a:rPr lang="en-US" sz="3806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⩥ Lobbiçilik</a:t>
            </a:r>
          </a:p>
          <a:p>
            <a:pPr algn="l">
              <a:lnSpc>
                <a:spcPts val="5329"/>
              </a:lnSpc>
            </a:pPr>
            <a:r>
              <a:rPr lang="en-US" sz="3806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⩥ Reytinq </a:t>
            </a:r>
          </a:p>
          <a:p>
            <a:pPr algn="l">
              <a:lnSpc>
                <a:spcPts val="5329"/>
              </a:lnSpc>
            </a:pPr>
            <a:r>
              <a:rPr lang="en-US" sz="3806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⩥ Gender bərabərliyi</a:t>
            </a:r>
          </a:p>
          <a:p>
            <a:pPr algn="l">
              <a:lnSpc>
                <a:spcPts val="5329"/>
              </a:lnSpc>
            </a:pPr>
            <a:r>
              <a:rPr lang="en-US" sz="3806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⩥ Monitorinq</a:t>
            </a:r>
          </a:p>
          <a:p>
            <a:pPr algn="l">
              <a:lnSpc>
                <a:spcPts val="5329"/>
              </a:lnSpc>
            </a:pPr>
            <a:r>
              <a:rPr lang="en-US" sz="3806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⩥ Partiya</a:t>
            </a:r>
          </a:p>
          <a:p>
            <a:pPr algn="l">
              <a:lnSpc>
                <a:spcPts val="5329"/>
              </a:lnSpc>
            </a:pPr>
            <a:r>
              <a:rPr lang="en-US" sz="3806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⩥ Kapital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0" y="8932050"/>
            <a:ext cx="12040949" cy="1354950"/>
            <a:chOff x="0" y="0"/>
            <a:chExt cx="2229805" cy="25091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229805" cy="250917"/>
            </a:xfrm>
            <a:custGeom>
              <a:avLst/>
              <a:gdLst/>
              <a:ahLst/>
              <a:cxnLst/>
              <a:rect r="r" b="b" t="t" l="l"/>
              <a:pathLst>
                <a:path h="250917" w="2229805">
                  <a:moveTo>
                    <a:pt x="2229805" y="250917"/>
                  </a:moveTo>
                  <a:lnTo>
                    <a:pt x="0" y="250917"/>
                  </a:lnTo>
                  <a:lnTo>
                    <a:pt x="0" y="0"/>
                  </a:lnTo>
                  <a:lnTo>
                    <a:pt x="2229805" y="250917"/>
                  </a:lnTo>
                  <a:close/>
                </a:path>
              </a:pathLst>
            </a:custGeom>
            <a:solidFill>
              <a:srgbClr val="4382EB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77833"/>
              <a:ext cx="1114903" cy="1730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0" y="8528017"/>
            <a:ext cx="7531196" cy="1758983"/>
            <a:chOff x="0" y="0"/>
            <a:chExt cx="1394666" cy="32573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394666" cy="325738"/>
            </a:xfrm>
            <a:custGeom>
              <a:avLst/>
              <a:gdLst/>
              <a:ahLst/>
              <a:cxnLst/>
              <a:rect r="r" b="b" t="t" l="l"/>
              <a:pathLst>
                <a:path h="325738" w="1394666">
                  <a:moveTo>
                    <a:pt x="1394666" y="325738"/>
                  </a:moveTo>
                  <a:lnTo>
                    <a:pt x="0" y="325738"/>
                  </a:lnTo>
                  <a:lnTo>
                    <a:pt x="0" y="0"/>
                  </a:lnTo>
                  <a:lnTo>
                    <a:pt x="1394666" y="325738"/>
                  </a:lnTo>
                  <a:close/>
                </a:path>
              </a:pathLst>
            </a:custGeom>
            <a:solidFill>
              <a:srgbClr val="A4C7FF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115244"/>
              <a:ext cx="697333" cy="2104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09059" y="1681300"/>
            <a:ext cx="10551652" cy="7321696"/>
            <a:chOff x="0" y="0"/>
            <a:chExt cx="4524353" cy="31394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24353" cy="3139408"/>
            </a:xfrm>
            <a:custGeom>
              <a:avLst/>
              <a:gdLst/>
              <a:ahLst/>
              <a:cxnLst/>
              <a:rect r="r" b="b" t="t" l="l"/>
              <a:pathLst>
                <a:path h="3139408" w="4524353">
                  <a:moveTo>
                    <a:pt x="38153" y="0"/>
                  </a:moveTo>
                  <a:lnTo>
                    <a:pt x="4486200" y="0"/>
                  </a:lnTo>
                  <a:cubicBezTo>
                    <a:pt x="4496319" y="0"/>
                    <a:pt x="4506023" y="4020"/>
                    <a:pt x="4513178" y="11175"/>
                  </a:cubicBezTo>
                  <a:cubicBezTo>
                    <a:pt x="4520334" y="18330"/>
                    <a:pt x="4524353" y="28034"/>
                    <a:pt x="4524353" y="38153"/>
                  </a:cubicBezTo>
                  <a:lnTo>
                    <a:pt x="4524353" y="3101255"/>
                  </a:lnTo>
                  <a:cubicBezTo>
                    <a:pt x="4524353" y="3111374"/>
                    <a:pt x="4520334" y="3121078"/>
                    <a:pt x="4513178" y="3128233"/>
                  </a:cubicBezTo>
                  <a:cubicBezTo>
                    <a:pt x="4506023" y="3135388"/>
                    <a:pt x="4496319" y="3139408"/>
                    <a:pt x="4486200" y="3139408"/>
                  </a:cubicBezTo>
                  <a:lnTo>
                    <a:pt x="38153" y="3139408"/>
                  </a:lnTo>
                  <a:cubicBezTo>
                    <a:pt x="28034" y="3139408"/>
                    <a:pt x="18330" y="3135388"/>
                    <a:pt x="11175" y="3128233"/>
                  </a:cubicBezTo>
                  <a:cubicBezTo>
                    <a:pt x="4020" y="3121078"/>
                    <a:pt x="0" y="3111374"/>
                    <a:pt x="0" y="3101255"/>
                  </a:cubicBezTo>
                  <a:lnTo>
                    <a:pt x="0" y="38153"/>
                  </a:lnTo>
                  <a:cubicBezTo>
                    <a:pt x="0" y="28034"/>
                    <a:pt x="4020" y="18330"/>
                    <a:pt x="11175" y="11175"/>
                  </a:cubicBezTo>
                  <a:cubicBezTo>
                    <a:pt x="18330" y="4020"/>
                    <a:pt x="28034" y="0"/>
                    <a:pt x="38153" y="0"/>
                  </a:cubicBezTo>
                  <a:close/>
                </a:path>
              </a:pathLst>
            </a:custGeom>
            <a:solidFill>
              <a:srgbClr val="FFFFFF">
                <a:alpha val="81961"/>
              </a:srgbClr>
            </a:solidFill>
            <a:ln w="9525" cap="rnd">
              <a:solidFill>
                <a:srgbClr val="000000">
                  <a:alpha val="81961"/>
                </a:srgbClr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524353" cy="3187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81246" y="1933269"/>
            <a:ext cx="9586931" cy="6563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18"/>
              </a:lnSpc>
            </a:pPr>
            <a:r>
              <a:rPr lang="en-US" sz="337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Mədə</a:t>
            </a:r>
            <a:r>
              <a:rPr lang="en-US" sz="337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ni və gündəlik leksikada neologizmlər həm yeni yaşam tərzini, həm də sosial ünsiyyətin dəyişməsini əks etdirir. Bu tip sözlər bəzən bədii üslubdan, bəzən də danışıq dilindən ədəbi dilə keçir.</a:t>
            </a:r>
          </a:p>
          <a:p>
            <a:pPr algn="l">
              <a:lnSpc>
                <a:spcPts val="4718"/>
              </a:lnSpc>
            </a:pPr>
          </a:p>
          <a:p>
            <a:pPr algn="l" marL="727681" indent="-363841" lvl="1">
              <a:lnSpc>
                <a:spcPts val="4718"/>
              </a:lnSpc>
              <a:buFont typeface="Arial"/>
              <a:buChar char="•"/>
            </a:pPr>
            <a:r>
              <a:rPr lang="en-US" sz="337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Semantik səciyyə: Natamam rəsmi və üslubi baxımdan daha sərbəstdirlər; bəzən yerli leksikadakı hər hansı ekvivalenti tam sıxışdırıb dildən çıxarmaq xüsusiyyətinə malikdirlər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09059" y="233432"/>
            <a:ext cx="14561711" cy="795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66"/>
              </a:lnSpc>
              <a:spcBef>
                <a:spcPct val="0"/>
              </a:spcBef>
            </a:pPr>
            <a:r>
              <a:rPr lang="en-US" sz="4690" b="true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Mədə</a:t>
            </a:r>
            <a:r>
              <a:rPr lang="en-US" b="true" sz="4690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ni və gündəlik leksika</a:t>
            </a:r>
          </a:p>
        </p:txBody>
      </p:sp>
      <p:grpSp>
        <p:nvGrpSpPr>
          <p:cNvPr name="Group 7" id="7"/>
          <p:cNvGrpSpPr/>
          <p:nvPr/>
        </p:nvGrpSpPr>
        <p:grpSpPr>
          <a:xfrm rot="-5400000">
            <a:off x="14210311" y="6209311"/>
            <a:ext cx="7035932" cy="1119445"/>
            <a:chOff x="0" y="0"/>
            <a:chExt cx="1425301" cy="22677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25301" cy="226361"/>
            </a:xfrm>
            <a:custGeom>
              <a:avLst/>
              <a:gdLst/>
              <a:ahLst/>
              <a:cxnLst/>
              <a:rect r="r" b="b" t="t" l="l"/>
              <a:pathLst>
                <a:path h="226361" w="1425301">
                  <a:moveTo>
                    <a:pt x="712650" y="0"/>
                  </a:moveTo>
                  <a:lnTo>
                    <a:pt x="1425301" y="226361"/>
                  </a:lnTo>
                  <a:lnTo>
                    <a:pt x="0" y="226361"/>
                  </a:lnTo>
                  <a:close/>
                </a:path>
              </a:pathLst>
            </a:custGeom>
            <a:solidFill>
              <a:srgbClr val="4382EB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301772" y="48075"/>
              <a:ext cx="821756" cy="1782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062879" y="6769034"/>
            <a:ext cx="2225121" cy="3517966"/>
            <a:chOff x="0" y="0"/>
            <a:chExt cx="450753" cy="71264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50753" cy="711363"/>
            </a:xfrm>
            <a:custGeom>
              <a:avLst/>
              <a:gdLst/>
              <a:ahLst/>
              <a:cxnLst/>
              <a:rect r="r" b="b" t="t" l="l"/>
              <a:pathLst>
                <a:path h="711363" w="450753">
                  <a:moveTo>
                    <a:pt x="225376" y="0"/>
                  </a:moveTo>
                  <a:lnTo>
                    <a:pt x="450753" y="711363"/>
                  </a:lnTo>
                  <a:lnTo>
                    <a:pt x="0" y="711363"/>
                  </a:lnTo>
                  <a:close/>
                </a:path>
              </a:pathLst>
            </a:custGeom>
            <a:solidFill>
              <a:srgbClr val="4382EB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95436" y="253121"/>
              <a:ext cx="259881" cy="4582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-5400000">
            <a:off x="14179439" y="3079861"/>
            <a:ext cx="7188422" cy="1028700"/>
            <a:chOff x="0" y="0"/>
            <a:chExt cx="1893247" cy="27093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893247" cy="270444"/>
            </a:xfrm>
            <a:custGeom>
              <a:avLst/>
              <a:gdLst/>
              <a:ahLst/>
              <a:cxnLst/>
              <a:rect r="r" b="b" t="t" l="l"/>
              <a:pathLst>
                <a:path h="270444" w="1893247">
                  <a:moveTo>
                    <a:pt x="946623" y="0"/>
                  </a:moveTo>
                  <a:lnTo>
                    <a:pt x="1893247" y="270444"/>
                  </a:lnTo>
                  <a:lnTo>
                    <a:pt x="0" y="270444"/>
                  </a:lnTo>
                  <a:close/>
                </a:path>
              </a:pathLst>
            </a:custGeom>
            <a:solidFill>
              <a:srgbClr val="2C58A0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400848" y="66712"/>
              <a:ext cx="1091550" cy="2037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-10800000">
            <a:off x="16236927" y="0"/>
            <a:ext cx="2044747" cy="3594211"/>
            <a:chOff x="0" y="0"/>
            <a:chExt cx="538534" cy="94661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38534" cy="944914"/>
            </a:xfrm>
            <a:custGeom>
              <a:avLst/>
              <a:gdLst/>
              <a:ahLst/>
              <a:cxnLst/>
              <a:rect r="r" b="b" t="t" l="l"/>
              <a:pathLst>
                <a:path h="944914" w="538534">
                  <a:moveTo>
                    <a:pt x="269267" y="0"/>
                  </a:moveTo>
                  <a:lnTo>
                    <a:pt x="538534" y="944914"/>
                  </a:lnTo>
                  <a:lnTo>
                    <a:pt x="0" y="944914"/>
                  </a:lnTo>
                  <a:close/>
                </a:path>
              </a:pathLst>
            </a:custGeom>
            <a:solidFill>
              <a:srgbClr val="2C58A0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114021" y="351860"/>
              <a:ext cx="310492" cy="5930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-5400000">
            <a:off x="15813848" y="7819175"/>
            <a:ext cx="4147297" cy="788353"/>
            <a:chOff x="0" y="0"/>
            <a:chExt cx="1425301" cy="27093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25301" cy="270444"/>
            </a:xfrm>
            <a:custGeom>
              <a:avLst/>
              <a:gdLst/>
              <a:ahLst/>
              <a:cxnLst/>
              <a:rect r="r" b="b" t="t" l="l"/>
              <a:pathLst>
                <a:path h="270444" w="1425301">
                  <a:moveTo>
                    <a:pt x="712650" y="0"/>
                  </a:moveTo>
                  <a:lnTo>
                    <a:pt x="1425301" y="270444"/>
                  </a:lnTo>
                  <a:lnTo>
                    <a:pt x="0" y="270444"/>
                  </a:lnTo>
                  <a:close/>
                </a:path>
              </a:pathLst>
            </a:custGeom>
            <a:solidFill>
              <a:srgbClr val="84A5F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301772" y="66712"/>
              <a:ext cx="821756" cy="2037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6714663" y="8213352"/>
            <a:ext cx="1567010" cy="2073648"/>
            <a:chOff x="0" y="0"/>
            <a:chExt cx="538534" cy="71264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38534" cy="711363"/>
            </a:xfrm>
            <a:custGeom>
              <a:avLst/>
              <a:gdLst/>
              <a:ahLst/>
              <a:cxnLst/>
              <a:rect r="r" b="b" t="t" l="l"/>
              <a:pathLst>
                <a:path h="711363" w="538534">
                  <a:moveTo>
                    <a:pt x="269267" y="0"/>
                  </a:moveTo>
                  <a:lnTo>
                    <a:pt x="538534" y="711363"/>
                  </a:lnTo>
                  <a:lnTo>
                    <a:pt x="0" y="711363"/>
                  </a:lnTo>
                  <a:close/>
                </a:path>
              </a:pathLst>
            </a:custGeom>
            <a:solidFill>
              <a:srgbClr val="84A5FF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114021" y="253121"/>
              <a:ext cx="310492" cy="4582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-5400000">
            <a:off x="13755459" y="3680810"/>
            <a:ext cx="8215339" cy="849744"/>
            <a:chOff x="0" y="0"/>
            <a:chExt cx="2163711" cy="223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63711" cy="223397"/>
            </a:xfrm>
            <a:custGeom>
              <a:avLst/>
              <a:gdLst/>
              <a:ahLst/>
              <a:cxnLst/>
              <a:rect r="r" b="b" t="t" l="l"/>
              <a:pathLst>
                <a:path h="223397" w="2163711">
                  <a:moveTo>
                    <a:pt x="1081855" y="0"/>
                  </a:moveTo>
                  <a:lnTo>
                    <a:pt x="2163711" y="223397"/>
                  </a:lnTo>
                  <a:lnTo>
                    <a:pt x="0" y="223397"/>
                  </a:lnTo>
                  <a:close/>
                </a:path>
              </a:pathLst>
            </a:custGeom>
            <a:solidFill>
              <a:srgbClr val="A4C7FF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458112" y="46821"/>
              <a:ext cx="1247486" cy="176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-10800000">
            <a:off x="16593738" y="-1987"/>
            <a:ext cx="1689036" cy="4107669"/>
            <a:chOff x="0" y="0"/>
            <a:chExt cx="444849" cy="108185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44849" cy="1079901"/>
            </a:xfrm>
            <a:custGeom>
              <a:avLst/>
              <a:gdLst/>
              <a:ahLst/>
              <a:cxnLst/>
              <a:rect r="r" b="b" t="t" l="l"/>
              <a:pathLst>
                <a:path h="1079901" w="444849">
                  <a:moveTo>
                    <a:pt x="222424" y="0"/>
                  </a:moveTo>
                  <a:lnTo>
                    <a:pt x="444849" y="1079901"/>
                  </a:lnTo>
                  <a:lnTo>
                    <a:pt x="0" y="1079901"/>
                  </a:lnTo>
                  <a:close/>
                </a:path>
              </a:pathLst>
            </a:custGeom>
            <a:solidFill>
              <a:srgbClr val="A4C7FF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94186" y="408929"/>
              <a:ext cx="256477" cy="6709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0">
            <a:off x="12152288" y="-1987"/>
            <a:ext cx="2819013" cy="10287000"/>
          </a:xfrm>
          <a:custGeom>
            <a:avLst/>
            <a:gdLst/>
            <a:ahLst/>
            <a:cxnLst/>
            <a:rect r="r" b="b" t="t" l="l"/>
            <a:pathLst>
              <a:path h="10287000" w="2819013">
                <a:moveTo>
                  <a:pt x="0" y="0"/>
                </a:moveTo>
                <a:lnTo>
                  <a:pt x="2819014" y="0"/>
                </a:lnTo>
                <a:lnTo>
                  <a:pt x="281901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273362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43249" y="1629931"/>
            <a:ext cx="9401632" cy="7027138"/>
            <a:chOff x="0" y="0"/>
            <a:chExt cx="3503125" cy="261836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503125" cy="2618369"/>
            </a:xfrm>
            <a:custGeom>
              <a:avLst/>
              <a:gdLst/>
              <a:ahLst/>
              <a:cxnLst/>
              <a:rect r="r" b="b" t="t" l="l"/>
              <a:pathLst>
                <a:path h="2618369" w="3503125">
                  <a:moveTo>
                    <a:pt x="42820" y="0"/>
                  </a:moveTo>
                  <a:lnTo>
                    <a:pt x="3460305" y="0"/>
                  </a:lnTo>
                  <a:cubicBezTo>
                    <a:pt x="3483954" y="0"/>
                    <a:pt x="3503125" y="19171"/>
                    <a:pt x="3503125" y="42820"/>
                  </a:cubicBezTo>
                  <a:lnTo>
                    <a:pt x="3503125" y="2575549"/>
                  </a:lnTo>
                  <a:cubicBezTo>
                    <a:pt x="3503125" y="2599198"/>
                    <a:pt x="3483954" y="2618369"/>
                    <a:pt x="3460305" y="2618369"/>
                  </a:cubicBezTo>
                  <a:lnTo>
                    <a:pt x="42820" y="2618369"/>
                  </a:lnTo>
                  <a:cubicBezTo>
                    <a:pt x="19171" y="2618369"/>
                    <a:pt x="0" y="2599198"/>
                    <a:pt x="0" y="2575549"/>
                  </a:cubicBezTo>
                  <a:lnTo>
                    <a:pt x="0" y="42820"/>
                  </a:lnTo>
                  <a:cubicBezTo>
                    <a:pt x="0" y="19171"/>
                    <a:pt x="19171" y="0"/>
                    <a:pt x="42820" y="0"/>
                  </a:cubicBezTo>
                  <a:close/>
                </a:path>
              </a:pathLst>
            </a:custGeom>
            <a:solidFill>
              <a:srgbClr val="A4C7FF">
                <a:alpha val="4706"/>
              </a:srgbClr>
            </a:solidFill>
            <a:ln w="19050" cap="rnd">
              <a:solidFill>
                <a:srgbClr val="000000">
                  <a:alpha val="4706"/>
                </a:srgbClr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503125" cy="26659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2272501" y="274898"/>
            <a:ext cx="715661" cy="727490"/>
          </a:xfrm>
          <a:custGeom>
            <a:avLst/>
            <a:gdLst/>
            <a:ahLst/>
            <a:cxnLst/>
            <a:rect r="r" b="b" t="t" l="l"/>
            <a:pathLst>
              <a:path h="727490" w="715661">
                <a:moveTo>
                  <a:pt x="0" y="0"/>
                </a:moveTo>
                <a:lnTo>
                  <a:pt x="715661" y="0"/>
                </a:lnTo>
                <a:lnTo>
                  <a:pt x="715661" y="727489"/>
                </a:lnTo>
                <a:lnTo>
                  <a:pt x="0" y="7274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95228" y="1783169"/>
            <a:ext cx="8748572" cy="6147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13"/>
              </a:lnSpc>
            </a:pPr>
            <a:r>
              <a:rPr lang="en-US" sz="5009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ᐉ Ş</a:t>
            </a:r>
            <a:r>
              <a:rPr lang="en-US" sz="5009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opinq (alış-veriş əvəzinə)</a:t>
            </a:r>
          </a:p>
          <a:p>
            <a:pPr algn="l">
              <a:lnSpc>
                <a:spcPts val="7013"/>
              </a:lnSpc>
            </a:pPr>
            <a:r>
              <a:rPr lang="en-US" sz="5009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ᐉ Fastfud (ayaqüstü qida) </a:t>
            </a:r>
          </a:p>
          <a:p>
            <a:pPr algn="l">
              <a:lnSpc>
                <a:spcPts val="7013"/>
              </a:lnSpc>
            </a:pPr>
            <a:r>
              <a:rPr lang="en-US" sz="5009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ᐉ Fitnes</a:t>
            </a:r>
          </a:p>
          <a:p>
            <a:pPr algn="l">
              <a:lnSpc>
                <a:spcPts val="7013"/>
              </a:lnSpc>
            </a:pPr>
            <a:r>
              <a:rPr lang="en-US" sz="5009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ᐉ Brend</a:t>
            </a:r>
          </a:p>
          <a:p>
            <a:pPr algn="l">
              <a:lnSpc>
                <a:spcPts val="7013"/>
              </a:lnSpc>
            </a:pPr>
            <a:r>
              <a:rPr lang="en-US" sz="5009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ᐉSelfi</a:t>
            </a:r>
          </a:p>
          <a:p>
            <a:pPr algn="l">
              <a:lnSpc>
                <a:spcPts val="7013"/>
              </a:lnSpc>
            </a:pPr>
            <a:r>
              <a:rPr lang="en-US" sz="5009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ᐉSmart-ev (ağıllı ev)</a:t>
            </a:r>
          </a:p>
          <a:p>
            <a:pPr algn="l">
              <a:lnSpc>
                <a:spcPts val="7013"/>
              </a:lnSpc>
            </a:pPr>
            <a:r>
              <a:rPr lang="en-US" sz="5009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ᐉ Kofebreyk</a:t>
            </a:r>
          </a:p>
        </p:txBody>
      </p:sp>
      <p:grpSp>
        <p:nvGrpSpPr>
          <p:cNvPr name="Group 7" id="7"/>
          <p:cNvGrpSpPr/>
          <p:nvPr/>
        </p:nvGrpSpPr>
        <p:grpSpPr>
          <a:xfrm rot="-5400000">
            <a:off x="14210311" y="6209311"/>
            <a:ext cx="7035932" cy="1119445"/>
            <a:chOff x="0" y="0"/>
            <a:chExt cx="1425301" cy="22677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25301" cy="226361"/>
            </a:xfrm>
            <a:custGeom>
              <a:avLst/>
              <a:gdLst/>
              <a:ahLst/>
              <a:cxnLst/>
              <a:rect r="r" b="b" t="t" l="l"/>
              <a:pathLst>
                <a:path h="226361" w="1425301">
                  <a:moveTo>
                    <a:pt x="712650" y="0"/>
                  </a:moveTo>
                  <a:lnTo>
                    <a:pt x="1425301" y="226361"/>
                  </a:lnTo>
                  <a:lnTo>
                    <a:pt x="0" y="226361"/>
                  </a:lnTo>
                  <a:close/>
                </a:path>
              </a:pathLst>
            </a:custGeom>
            <a:solidFill>
              <a:srgbClr val="4382EB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301772" y="48075"/>
              <a:ext cx="821756" cy="1782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062879" y="6769034"/>
            <a:ext cx="2225121" cy="3517966"/>
            <a:chOff x="0" y="0"/>
            <a:chExt cx="450753" cy="71264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50753" cy="711363"/>
            </a:xfrm>
            <a:custGeom>
              <a:avLst/>
              <a:gdLst/>
              <a:ahLst/>
              <a:cxnLst/>
              <a:rect r="r" b="b" t="t" l="l"/>
              <a:pathLst>
                <a:path h="711363" w="450753">
                  <a:moveTo>
                    <a:pt x="225376" y="0"/>
                  </a:moveTo>
                  <a:lnTo>
                    <a:pt x="450753" y="711363"/>
                  </a:lnTo>
                  <a:lnTo>
                    <a:pt x="0" y="711363"/>
                  </a:lnTo>
                  <a:close/>
                </a:path>
              </a:pathLst>
            </a:custGeom>
            <a:solidFill>
              <a:srgbClr val="4382EB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95436" y="253121"/>
              <a:ext cx="259881" cy="4582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-5400000">
            <a:off x="14179439" y="3079861"/>
            <a:ext cx="7188422" cy="1028700"/>
            <a:chOff x="0" y="0"/>
            <a:chExt cx="1893247" cy="27093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893247" cy="270444"/>
            </a:xfrm>
            <a:custGeom>
              <a:avLst/>
              <a:gdLst/>
              <a:ahLst/>
              <a:cxnLst/>
              <a:rect r="r" b="b" t="t" l="l"/>
              <a:pathLst>
                <a:path h="270444" w="1893247">
                  <a:moveTo>
                    <a:pt x="946623" y="0"/>
                  </a:moveTo>
                  <a:lnTo>
                    <a:pt x="1893247" y="270444"/>
                  </a:lnTo>
                  <a:lnTo>
                    <a:pt x="0" y="270444"/>
                  </a:lnTo>
                  <a:close/>
                </a:path>
              </a:pathLst>
            </a:custGeom>
            <a:solidFill>
              <a:srgbClr val="2C58A0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400848" y="66712"/>
              <a:ext cx="1091550" cy="2037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-10800000">
            <a:off x="16236927" y="0"/>
            <a:ext cx="2044747" cy="3594211"/>
            <a:chOff x="0" y="0"/>
            <a:chExt cx="538534" cy="94661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38534" cy="944914"/>
            </a:xfrm>
            <a:custGeom>
              <a:avLst/>
              <a:gdLst/>
              <a:ahLst/>
              <a:cxnLst/>
              <a:rect r="r" b="b" t="t" l="l"/>
              <a:pathLst>
                <a:path h="944914" w="538534">
                  <a:moveTo>
                    <a:pt x="269267" y="0"/>
                  </a:moveTo>
                  <a:lnTo>
                    <a:pt x="538534" y="944914"/>
                  </a:lnTo>
                  <a:lnTo>
                    <a:pt x="0" y="944914"/>
                  </a:lnTo>
                  <a:close/>
                </a:path>
              </a:pathLst>
            </a:custGeom>
            <a:solidFill>
              <a:srgbClr val="2C58A0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114021" y="351860"/>
              <a:ext cx="310492" cy="5930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-5400000">
            <a:off x="15813848" y="7819175"/>
            <a:ext cx="4147297" cy="788353"/>
            <a:chOff x="0" y="0"/>
            <a:chExt cx="1425301" cy="27093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25301" cy="270444"/>
            </a:xfrm>
            <a:custGeom>
              <a:avLst/>
              <a:gdLst/>
              <a:ahLst/>
              <a:cxnLst/>
              <a:rect r="r" b="b" t="t" l="l"/>
              <a:pathLst>
                <a:path h="270444" w="1425301">
                  <a:moveTo>
                    <a:pt x="712650" y="0"/>
                  </a:moveTo>
                  <a:lnTo>
                    <a:pt x="1425301" y="270444"/>
                  </a:lnTo>
                  <a:lnTo>
                    <a:pt x="0" y="270444"/>
                  </a:lnTo>
                  <a:close/>
                </a:path>
              </a:pathLst>
            </a:custGeom>
            <a:solidFill>
              <a:srgbClr val="84A5F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301772" y="66712"/>
              <a:ext cx="821756" cy="2037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6714663" y="8213352"/>
            <a:ext cx="1567010" cy="2073648"/>
            <a:chOff x="0" y="0"/>
            <a:chExt cx="538534" cy="71264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38534" cy="711363"/>
            </a:xfrm>
            <a:custGeom>
              <a:avLst/>
              <a:gdLst/>
              <a:ahLst/>
              <a:cxnLst/>
              <a:rect r="r" b="b" t="t" l="l"/>
              <a:pathLst>
                <a:path h="711363" w="538534">
                  <a:moveTo>
                    <a:pt x="269267" y="0"/>
                  </a:moveTo>
                  <a:lnTo>
                    <a:pt x="538534" y="711363"/>
                  </a:lnTo>
                  <a:lnTo>
                    <a:pt x="0" y="711363"/>
                  </a:lnTo>
                  <a:close/>
                </a:path>
              </a:pathLst>
            </a:custGeom>
            <a:solidFill>
              <a:srgbClr val="84A5FF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114021" y="253121"/>
              <a:ext cx="310492" cy="4582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-5400000">
            <a:off x="13755459" y="3680810"/>
            <a:ext cx="8215339" cy="849744"/>
            <a:chOff x="0" y="0"/>
            <a:chExt cx="2163711" cy="223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63711" cy="223397"/>
            </a:xfrm>
            <a:custGeom>
              <a:avLst/>
              <a:gdLst/>
              <a:ahLst/>
              <a:cxnLst/>
              <a:rect r="r" b="b" t="t" l="l"/>
              <a:pathLst>
                <a:path h="223397" w="2163711">
                  <a:moveTo>
                    <a:pt x="1081855" y="0"/>
                  </a:moveTo>
                  <a:lnTo>
                    <a:pt x="2163711" y="223397"/>
                  </a:lnTo>
                  <a:lnTo>
                    <a:pt x="0" y="223397"/>
                  </a:lnTo>
                  <a:close/>
                </a:path>
              </a:pathLst>
            </a:custGeom>
            <a:solidFill>
              <a:srgbClr val="A4C7FF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458112" y="46821"/>
              <a:ext cx="1247486" cy="176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-10800000">
            <a:off x="16593738" y="-1987"/>
            <a:ext cx="1689036" cy="4107669"/>
            <a:chOff x="0" y="0"/>
            <a:chExt cx="444849" cy="108185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44849" cy="1079901"/>
            </a:xfrm>
            <a:custGeom>
              <a:avLst/>
              <a:gdLst/>
              <a:ahLst/>
              <a:cxnLst/>
              <a:rect r="r" b="b" t="t" l="l"/>
              <a:pathLst>
                <a:path h="1079901" w="444849">
                  <a:moveTo>
                    <a:pt x="222424" y="0"/>
                  </a:moveTo>
                  <a:lnTo>
                    <a:pt x="444849" y="1079901"/>
                  </a:lnTo>
                  <a:lnTo>
                    <a:pt x="0" y="1079901"/>
                  </a:lnTo>
                  <a:close/>
                </a:path>
              </a:pathLst>
            </a:custGeom>
            <a:solidFill>
              <a:srgbClr val="A4C7FF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94186" y="408929"/>
              <a:ext cx="256477" cy="6709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0">
            <a:off x="10411631" y="2285572"/>
            <a:ext cx="6182107" cy="5927780"/>
          </a:xfrm>
          <a:custGeom>
            <a:avLst/>
            <a:gdLst/>
            <a:ahLst/>
            <a:cxnLst/>
            <a:rect r="r" b="b" t="t" l="l"/>
            <a:pathLst>
              <a:path h="5927780" w="6182107">
                <a:moveTo>
                  <a:pt x="0" y="0"/>
                </a:moveTo>
                <a:lnTo>
                  <a:pt x="6182107" y="0"/>
                </a:lnTo>
                <a:lnTo>
                  <a:pt x="6182107" y="5927780"/>
                </a:lnTo>
                <a:lnTo>
                  <a:pt x="0" y="59277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343249" y="205960"/>
            <a:ext cx="12530734" cy="796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02"/>
              </a:lnSpc>
              <a:spcBef>
                <a:spcPct val="0"/>
              </a:spcBef>
            </a:pPr>
            <a:r>
              <a:rPr lang="en-US" sz="4644" b="true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Mədəni və gündəlik leksika nümunə</a:t>
            </a:r>
            <a:r>
              <a:rPr lang="en-US" b="true" sz="4644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ləri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619420" y="1797105"/>
            <a:ext cx="10808414" cy="7162757"/>
            <a:chOff x="0" y="0"/>
            <a:chExt cx="4516656" cy="29931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16656" cy="2993197"/>
            </a:xfrm>
            <a:custGeom>
              <a:avLst/>
              <a:gdLst/>
              <a:ahLst/>
              <a:cxnLst/>
              <a:rect r="r" b="b" t="t" l="l"/>
              <a:pathLst>
                <a:path h="2993197" w="4516656">
                  <a:moveTo>
                    <a:pt x="37247" y="0"/>
                  </a:moveTo>
                  <a:lnTo>
                    <a:pt x="4479409" y="0"/>
                  </a:lnTo>
                  <a:cubicBezTo>
                    <a:pt x="4489287" y="0"/>
                    <a:pt x="4498761" y="3924"/>
                    <a:pt x="4505746" y="10909"/>
                  </a:cubicBezTo>
                  <a:cubicBezTo>
                    <a:pt x="4512732" y="17895"/>
                    <a:pt x="4516656" y="27368"/>
                    <a:pt x="4516656" y="37247"/>
                  </a:cubicBezTo>
                  <a:lnTo>
                    <a:pt x="4516656" y="2955950"/>
                  </a:lnTo>
                  <a:cubicBezTo>
                    <a:pt x="4516656" y="2976521"/>
                    <a:pt x="4499980" y="2993197"/>
                    <a:pt x="4479409" y="2993197"/>
                  </a:cubicBezTo>
                  <a:lnTo>
                    <a:pt x="37247" y="2993197"/>
                  </a:lnTo>
                  <a:cubicBezTo>
                    <a:pt x="16676" y="2993197"/>
                    <a:pt x="0" y="2976521"/>
                    <a:pt x="0" y="2955950"/>
                  </a:cubicBezTo>
                  <a:lnTo>
                    <a:pt x="0" y="37247"/>
                  </a:lnTo>
                  <a:cubicBezTo>
                    <a:pt x="0" y="16676"/>
                    <a:pt x="16676" y="0"/>
                    <a:pt x="37247" y="0"/>
                  </a:cubicBezTo>
                  <a:close/>
                </a:path>
              </a:pathLst>
            </a:custGeom>
            <a:solidFill>
              <a:srgbClr val="FFFFFF">
                <a:alpha val="85882"/>
              </a:srgbClr>
            </a:solidFill>
            <a:ln w="19050" cap="rnd">
              <a:solidFill>
                <a:srgbClr val="000000">
                  <a:alpha val="85882"/>
                </a:srgbClr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516656" cy="30408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462178" y="2198673"/>
            <a:ext cx="10774749" cy="6292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68772" indent="-384386" lvl="1">
              <a:lnSpc>
                <a:spcPts val="4985"/>
              </a:lnSpc>
              <a:buFont typeface="Arial"/>
              <a:buChar char="•"/>
            </a:pPr>
            <a:r>
              <a:rPr lang="en-US" sz="356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Ortaq dil: Bu sözlər sayəsində azərbaycanlı mütəxəssislə xarici mütəxəssis eyni dildə danışır. Arada "məna itkisi" olmur, hamı eyni şeyi başa düşür.</a:t>
            </a:r>
          </a:p>
          <a:p>
            <a:pPr algn="l" marL="768772" indent="-384386" lvl="1">
              <a:lnSpc>
                <a:spcPts val="4985"/>
              </a:lnSpc>
              <a:buFont typeface="Arial"/>
              <a:buChar char="•"/>
            </a:pPr>
            <a:r>
              <a:rPr lang="en-US" sz="356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Əsas təhlükə: Əgər yeni sözləri düzgün tərcümə etməsək və ya lüğətə vaxtında salmasaq, dil "küçə dilinə" (jarqona) çevrilir. Ona görə də bu sözləri işlədəndə dilin qayda-qanununa, orfoqrafiyasına mütləq riayət etmək lazımdır.</a:t>
            </a:r>
          </a:p>
        </p:txBody>
      </p:sp>
      <p:grpSp>
        <p:nvGrpSpPr>
          <p:cNvPr name="Group 6" id="6"/>
          <p:cNvGrpSpPr/>
          <p:nvPr/>
        </p:nvGrpSpPr>
        <p:grpSpPr>
          <a:xfrm rot="-5400000">
            <a:off x="14210311" y="6209311"/>
            <a:ext cx="7035932" cy="1119445"/>
            <a:chOff x="0" y="0"/>
            <a:chExt cx="1425301" cy="22677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25301" cy="226361"/>
            </a:xfrm>
            <a:custGeom>
              <a:avLst/>
              <a:gdLst/>
              <a:ahLst/>
              <a:cxnLst/>
              <a:rect r="r" b="b" t="t" l="l"/>
              <a:pathLst>
                <a:path h="226361" w="1425301">
                  <a:moveTo>
                    <a:pt x="712650" y="0"/>
                  </a:moveTo>
                  <a:lnTo>
                    <a:pt x="1425301" y="226361"/>
                  </a:lnTo>
                  <a:lnTo>
                    <a:pt x="0" y="226361"/>
                  </a:lnTo>
                  <a:close/>
                </a:path>
              </a:pathLst>
            </a:custGeom>
            <a:solidFill>
              <a:srgbClr val="4382EB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301772" y="48075"/>
              <a:ext cx="821756" cy="1782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6062879" y="6769034"/>
            <a:ext cx="2225121" cy="3517966"/>
            <a:chOff x="0" y="0"/>
            <a:chExt cx="450753" cy="71264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50753" cy="711363"/>
            </a:xfrm>
            <a:custGeom>
              <a:avLst/>
              <a:gdLst/>
              <a:ahLst/>
              <a:cxnLst/>
              <a:rect r="r" b="b" t="t" l="l"/>
              <a:pathLst>
                <a:path h="711363" w="450753">
                  <a:moveTo>
                    <a:pt x="225376" y="0"/>
                  </a:moveTo>
                  <a:lnTo>
                    <a:pt x="450753" y="711363"/>
                  </a:lnTo>
                  <a:lnTo>
                    <a:pt x="0" y="711363"/>
                  </a:lnTo>
                  <a:close/>
                </a:path>
              </a:pathLst>
            </a:custGeom>
            <a:solidFill>
              <a:srgbClr val="4382EB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95436" y="253121"/>
              <a:ext cx="259881" cy="4582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-5400000">
            <a:off x="14179439" y="3079861"/>
            <a:ext cx="7188422" cy="1028700"/>
            <a:chOff x="0" y="0"/>
            <a:chExt cx="1893247" cy="27093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93247" cy="270444"/>
            </a:xfrm>
            <a:custGeom>
              <a:avLst/>
              <a:gdLst/>
              <a:ahLst/>
              <a:cxnLst/>
              <a:rect r="r" b="b" t="t" l="l"/>
              <a:pathLst>
                <a:path h="270444" w="1893247">
                  <a:moveTo>
                    <a:pt x="946623" y="0"/>
                  </a:moveTo>
                  <a:lnTo>
                    <a:pt x="1893247" y="270444"/>
                  </a:lnTo>
                  <a:lnTo>
                    <a:pt x="0" y="270444"/>
                  </a:lnTo>
                  <a:close/>
                </a:path>
              </a:pathLst>
            </a:custGeom>
            <a:solidFill>
              <a:srgbClr val="2C58A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400848" y="66712"/>
              <a:ext cx="1091550" cy="2037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-10800000">
            <a:off x="16236927" y="0"/>
            <a:ext cx="2044747" cy="3594211"/>
            <a:chOff x="0" y="0"/>
            <a:chExt cx="538534" cy="94661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38534" cy="944914"/>
            </a:xfrm>
            <a:custGeom>
              <a:avLst/>
              <a:gdLst/>
              <a:ahLst/>
              <a:cxnLst/>
              <a:rect r="r" b="b" t="t" l="l"/>
              <a:pathLst>
                <a:path h="944914" w="538534">
                  <a:moveTo>
                    <a:pt x="269267" y="0"/>
                  </a:moveTo>
                  <a:lnTo>
                    <a:pt x="538534" y="944914"/>
                  </a:lnTo>
                  <a:lnTo>
                    <a:pt x="0" y="944914"/>
                  </a:lnTo>
                  <a:close/>
                </a:path>
              </a:pathLst>
            </a:custGeom>
            <a:solidFill>
              <a:srgbClr val="2C58A0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114021" y="351860"/>
              <a:ext cx="310492" cy="5930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-5400000">
            <a:off x="15813848" y="7819175"/>
            <a:ext cx="4147297" cy="788353"/>
            <a:chOff x="0" y="0"/>
            <a:chExt cx="1425301" cy="27093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425301" cy="270444"/>
            </a:xfrm>
            <a:custGeom>
              <a:avLst/>
              <a:gdLst/>
              <a:ahLst/>
              <a:cxnLst/>
              <a:rect r="r" b="b" t="t" l="l"/>
              <a:pathLst>
                <a:path h="270444" w="1425301">
                  <a:moveTo>
                    <a:pt x="712650" y="0"/>
                  </a:moveTo>
                  <a:lnTo>
                    <a:pt x="1425301" y="270444"/>
                  </a:lnTo>
                  <a:lnTo>
                    <a:pt x="0" y="270444"/>
                  </a:lnTo>
                  <a:close/>
                </a:path>
              </a:pathLst>
            </a:custGeom>
            <a:solidFill>
              <a:srgbClr val="84A5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301772" y="66712"/>
              <a:ext cx="821756" cy="2037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6714663" y="8213352"/>
            <a:ext cx="1567010" cy="2073648"/>
            <a:chOff x="0" y="0"/>
            <a:chExt cx="538534" cy="71264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38534" cy="711363"/>
            </a:xfrm>
            <a:custGeom>
              <a:avLst/>
              <a:gdLst/>
              <a:ahLst/>
              <a:cxnLst/>
              <a:rect r="r" b="b" t="t" l="l"/>
              <a:pathLst>
                <a:path h="711363" w="538534">
                  <a:moveTo>
                    <a:pt x="269267" y="0"/>
                  </a:moveTo>
                  <a:lnTo>
                    <a:pt x="538534" y="711363"/>
                  </a:lnTo>
                  <a:lnTo>
                    <a:pt x="0" y="711363"/>
                  </a:lnTo>
                  <a:close/>
                </a:path>
              </a:pathLst>
            </a:custGeom>
            <a:solidFill>
              <a:srgbClr val="84A5F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114021" y="253121"/>
              <a:ext cx="310492" cy="4582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-5400000">
            <a:off x="13755459" y="3680810"/>
            <a:ext cx="8215339" cy="849744"/>
            <a:chOff x="0" y="0"/>
            <a:chExt cx="2163711" cy="223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163711" cy="223397"/>
            </a:xfrm>
            <a:custGeom>
              <a:avLst/>
              <a:gdLst/>
              <a:ahLst/>
              <a:cxnLst/>
              <a:rect r="r" b="b" t="t" l="l"/>
              <a:pathLst>
                <a:path h="223397" w="2163711">
                  <a:moveTo>
                    <a:pt x="1081855" y="0"/>
                  </a:moveTo>
                  <a:lnTo>
                    <a:pt x="2163711" y="223397"/>
                  </a:lnTo>
                  <a:lnTo>
                    <a:pt x="0" y="223397"/>
                  </a:lnTo>
                  <a:close/>
                </a:path>
              </a:pathLst>
            </a:custGeom>
            <a:solidFill>
              <a:srgbClr val="A4C7F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458112" y="46821"/>
              <a:ext cx="1247486" cy="176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-10800000">
            <a:off x="16593738" y="-1987"/>
            <a:ext cx="1689036" cy="4107669"/>
            <a:chOff x="0" y="0"/>
            <a:chExt cx="444849" cy="108185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44849" cy="1079901"/>
            </a:xfrm>
            <a:custGeom>
              <a:avLst/>
              <a:gdLst/>
              <a:ahLst/>
              <a:cxnLst/>
              <a:rect r="r" b="b" t="t" l="l"/>
              <a:pathLst>
                <a:path h="1079901" w="444849">
                  <a:moveTo>
                    <a:pt x="222424" y="0"/>
                  </a:moveTo>
                  <a:lnTo>
                    <a:pt x="444849" y="1079901"/>
                  </a:lnTo>
                  <a:lnTo>
                    <a:pt x="0" y="1079901"/>
                  </a:lnTo>
                  <a:close/>
                </a:path>
              </a:pathLst>
            </a:custGeom>
            <a:solidFill>
              <a:srgbClr val="A4C7FF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94186" y="408929"/>
              <a:ext cx="256477" cy="6709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0" id="30"/>
          <p:cNvSpPr/>
          <p:nvPr/>
        </p:nvSpPr>
        <p:spPr>
          <a:xfrm flipH="false" flipV="false" rot="0">
            <a:off x="154381" y="1930527"/>
            <a:ext cx="5465039" cy="7029336"/>
          </a:xfrm>
          <a:custGeom>
            <a:avLst/>
            <a:gdLst/>
            <a:ahLst/>
            <a:cxnLst/>
            <a:rect r="r" b="b" t="t" l="l"/>
            <a:pathLst>
              <a:path h="7029336" w="5465039">
                <a:moveTo>
                  <a:pt x="0" y="0"/>
                </a:moveTo>
                <a:lnTo>
                  <a:pt x="5465039" y="0"/>
                </a:lnTo>
                <a:lnTo>
                  <a:pt x="5465039" y="7029336"/>
                </a:lnTo>
                <a:lnTo>
                  <a:pt x="0" y="70293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93056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544456" y="232273"/>
            <a:ext cx="16170208" cy="796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02"/>
              </a:lnSpc>
              <a:spcBef>
                <a:spcPct val="0"/>
              </a:spcBef>
            </a:pPr>
            <a:r>
              <a:rPr lang="en-US" sz="4644" b="true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Üs</a:t>
            </a:r>
            <a:r>
              <a:rPr lang="en-US" b="true" sz="4644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lubi-semantik normallaşma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137" y="7063740"/>
            <a:ext cx="9111827" cy="3223260"/>
            <a:chOff x="0" y="0"/>
            <a:chExt cx="1687375" cy="5969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87375" cy="596900"/>
            </a:xfrm>
            <a:custGeom>
              <a:avLst/>
              <a:gdLst/>
              <a:ahLst/>
              <a:cxnLst/>
              <a:rect r="r" b="b" t="t" l="l"/>
              <a:pathLst>
                <a:path h="596900" w="1687375">
                  <a:moveTo>
                    <a:pt x="1687375" y="596900"/>
                  </a:moveTo>
                  <a:lnTo>
                    <a:pt x="0" y="596900"/>
                  </a:lnTo>
                  <a:lnTo>
                    <a:pt x="0" y="0"/>
                  </a:lnTo>
                  <a:lnTo>
                    <a:pt x="1687375" y="596900"/>
                  </a:lnTo>
                  <a:close/>
                </a:path>
              </a:pathLst>
            </a:custGeom>
            <a:solidFill>
              <a:srgbClr val="84A5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250825"/>
              <a:ext cx="843688" cy="346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12136916" y="4171674"/>
            <a:ext cx="3086100" cy="9144553"/>
            <a:chOff x="0" y="0"/>
            <a:chExt cx="571500" cy="169343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71500" cy="1693436"/>
            </a:xfrm>
            <a:custGeom>
              <a:avLst/>
              <a:gdLst/>
              <a:ahLst/>
              <a:cxnLst/>
              <a:rect r="r" b="b" t="t" l="l"/>
              <a:pathLst>
                <a:path h="1693436" w="571500">
                  <a:moveTo>
                    <a:pt x="571500" y="1693436"/>
                  </a:moveTo>
                  <a:lnTo>
                    <a:pt x="0" y="1693436"/>
                  </a:lnTo>
                  <a:lnTo>
                    <a:pt x="0" y="0"/>
                  </a:lnTo>
                  <a:lnTo>
                    <a:pt x="571500" y="1693436"/>
                  </a:lnTo>
                  <a:close/>
                </a:path>
              </a:pathLst>
            </a:custGeom>
            <a:solidFill>
              <a:srgbClr val="4382E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799093"/>
              <a:ext cx="285750" cy="8943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5400000">
            <a:off x="7600950" y="2307936"/>
            <a:ext cx="3086100" cy="12872028"/>
            <a:chOff x="0" y="0"/>
            <a:chExt cx="812800" cy="339016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3390164"/>
            </a:xfrm>
            <a:custGeom>
              <a:avLst/>
              <a:gdLst/>
              <a:ahLst/>
              <a:cxnLst/>
              <a:rect r="r" b="b" t="t" l="l"/>
              <a:pathLst>
                <a:path h="3390164" w="812800">
                  <a:moveTo>
                    <a:pt x="250864" y="0"/>
                  </a:moveTo>
                  <a:lnTo>
                    <a:pt x="561936" y="0"/>
                  </a:lnTo>
                  <a:cubicBezTo>
                    <a:pt x="700484" y="0"/>
                    <a:pt x="812800" y="112316"/>
                    <a:pt x="812800" y="250864"/>
                  </a:cubicBezTo>
                  <a:lnTo>
                    <a:pt x="812800" y="3139300"/>
                  </a:lnTo>
                  <a:cubicBezTo>
                    <a:pt x="812800" y="3205833"/>
                    <a:pt x="786370" y="3269642"/>
                    <a:pt x="739324" y="3316687"/>
                  </a:cubicBezTo>
                  <a:cubicBezTo>
                    <a:pt x="692277" y="3363734"/>
                    <a:pt x="628469" y="3390164"/>
                    <a:pt x="561936" y="3390164"/>
                  </a:cubicBezTo>
                  <a:lnTo>
                    <a:pt x="250864" y="3390164"/>
                  </a:lnTo>
                  <a:cubicBezTo>
                    <a:pt x="112316" y="3390164"/>
                    <a:pt x="0" y="3277848"/>
                    <a:pt x="0" y="3139300"/>
                  </a:cubicBezTo>
                  <a:lnTo>
                    <a:pt x="0" y="250864"/>
                  </a:lnTo>
                  <a:cubicBezTo>
                    <a:pt x="0" y="112316"/>
                    <a:pt x="112316" y="0"/>
                    <a:pt x="25086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812800" cy="34377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707986" y="1221940"/>
            <a:ext cx="12872028" cy="9065060"/>
            <a:chOff x="0" y="0"/>
            <a:chExt cx="5519288" cy="388693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519288" cy="3886930"/>
            </a:xfrm>
            <a:custGeom>
              <a:avLst/>
              <a:gdLst/>
              <a:ahLst/>
              <a:cxnLst/>
              <a:rect r="r" b="b" t="t" l="l"/>
              <a:pathLst>
                <a:path h="3886930" w="5519288">
                  <a:moveTo>
                    <a:pt x="60145" y="0"/>
                  </a:moveTo>
                  <a:lnTo>
                    <a:pt x="5459143" y="0"/>
                  </a:lnTo>
                  <a:cubicBezTo>
                    <a:pt x="5475094" y="0"/>
                    <a:pt x="5490392" y="6337"/>
                    <a:pt x="5501672" y="17616"/>
                  </a:cubicBezTo>
                  <a:cubicBezTo>
                    <a:pt x="5512951" y="28896"/>
                    <a:pt x="5519288" y="44194"/>
                    <a:pt x="5519288" y="60145"/>
                  </a:cubicBezTo>
                  <a:lnTo>
                    <a:pt x="5519288" y="3826785"/>
                  </a:lnTo>
                  <a:cubicBezTo>
                    <a:pt x="5519288" y="3842736"/>
                    <a:pt x="5512951" y="3858035"/>
                    <a:pt x="5501672" y="3869314"/>
                  </a:cubicBezTo>
                  <a:cubicBezTo>
                    <a:pt x="5490392" y="3880593"/>
                    <a:pt x="5475094" y="3886930"/>
                    <a:pt x="5459143" y="3886930"/>
                  </a:cubicBezTo>
                  <a:lnTo>
                    <a:pt x="60145" y="3886930"/>
                  </a:lnTo>
                  <a:cubicBezTo>
                    <a:pt x="26928" y="3886930"/>
                    <a:pt x="0" y="3860002"/>
                    <a:pt x="0" y="3826785"/>
                  </a:cubicBezTo>
                  <a:lnTo>
                    <a:pt x="0" y="60145"/>
                  </a:lnTo>
                  <a:cubicBezTo>
                    <a:pt x="0" y="44194"/>
                    <a:pt x="6337" y="28896"/>
                    <a:pt x="17616" y="17616"/>
                  </a:cubicBezTo>
                  <a:cubicBezTo>
                    <a:pt x="28896" y="6337"/>
                    <a:pt x="44194" y="0"/>
                    <a:pt x="60145" y="0"/>
                  </a:cubicBezTo>
                  <a:close/>
                </a:path>
              </a:pathLst>
            </a:custGeom>
            <a:solidFill>
              <a:srgbClr val="A4C7FF">
                <a:alpha val="13725"/>
              </a:srgbClr>
            </a:solidFill>
            <a:ln w="19050" cap="rnd">
              <a:solidFill>
                <a:srgbClr val="000000">
                  <a:alpha val="13725"/>
                </a:srgbClr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5519288" cy="39345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3081963" y="1474309"/>
            <a:ext cx="12051453" cy="6670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394" indent="-313197" lvl="1">
              <a:lnSpc>
                <a:spcPts val="4061"/>
              </a:lnSpc>
              <a:buFont typeface="Arial"/>
              <a:buChar char="•"/>
            </a:pPr>
            <a:r>
              <a:rPr lang="en-US" sz="290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https://au.edu.az/userfiles/uploads/19d7f5fca0d839a5b05877d753014825.pdf</a:t>
            </a:r>
          </a:p>
          <a:p>
            <a:pPr algn="l" marL="626394" indent="-313197" lvl="1">
              <a:lnSpc>
                <a:spcPts val="4061"/>
              </a:lnSpc>
              <a:buFont typeface="Arial"/>
              <a:buChar char="•"/>
            </a:pPr>
            <a:r>
              <a:rPr lang="en-US" sz="290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https://filologiyameseleleri.com/pdf/2024/n5/gunel%20quliyeva%20239-245.pdf</a:t>
            </a:r>
          </a:p>
          <a:p>
            <a:pPr algn="l" marL="626394" indent="-313197" lvl="1">
              <a:lnSpc>
                <a:spcPts val="4061"/>
              </a:lnSpc>
              <a:buFont typeface="Arial"/>
              <a:buChar char="•"/>
            </a:pPr>
            <a:r>
              <a:rPr lang="en-US" sz="290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http://dspace.khazar.org/bitstream/20.500.12323/5463/1/M%C3%BCasir%20Az%C9%99rbaycan%20dilind%C9%99%20terminoloji%20leksikanin%20inki%C5%9Fafi.pdf</a:t>
            </a:r>
          </a:p>
          <a:p>
            <a:pPr algn="l" marL="626394" indent="-313197" lvl="1">
              <a:lnSpc>
                <a:spcPts val="4061"/>
              </a:lnSpc>
              <a:buFont typeface="Arial"/>
              <a:buChar char="•"/>
            </a:pPr>
            <a:r>
              <a:rPr lang="en-US" sz="290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https://www.researchgate.net/profile/Aybeniz-Huseynova/publication/351840024_NEOLOGIZMLR_V_ONLARIN_YARANMA_SBBLRI/links/60accdf2a6fdcc647ed73f45/NEOLOGIZMLR-V-ONLARIN-YARANMA-SBBLRI.pdf</a:t>
            </a:r>
          </a:p>
          <a:p>
            <a:pPr algn="l" marL="626394" indent="-313197" lvl="1">
              <a:lnSpc>
                <a:spcPts val="4061"/>
              </a:lnSpc>
              <a:buFont typeface="Arial"/>
              <a:buChar char="•"/>
            </a:pPr>
            <a:r>
              <a:rPr lang="en-US" sz="290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http://doi.science.gov.az/pages/journals/term/pdf/term2024_2_88.pdf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730164" y="385363"/>
            <a:ext cx="1286674" cy="1286674"/>
          </a:xfrm>
          <a:custGeom>
            <a:avLst/>
            <a:gdLst/>
            <a:ahLst/>
            <a:cxnLst/>
            <a:rect r="r" b="b" t="t" l="l"/>
            <a:pathLst>
              <a:path h="1286674" w="1286674">
                <a:moveTo>
                  <a:pt x="0" y="0"/>
                </a:moveTo>
                <a:lnTo>
                  <a:pt x="1286674" y="0"/>
                </a:lnTo>
                <a:lnTo>
                  <a:pt x="1286674" y="1286674"/>
                </a:lnTo>
                <a:lnTo>
                  <a:pt x="0" y="12866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6640613" y="434662"/>
            <a:ext cx="1237375" cy="1237375"/>
          </a:xfrm>
          <a:custGeom>
            <a:avLst/>
            <a:gdLst/>
            <a:ahLst/>
            <a:cxnLst/>
            <a:rect r="r" b="b" t="t" l="l"/>
            <a:pathLst>
              <a:path h="1237375" w="1237375">
                <a:moveTo>
                  <a:pt x="0" y="0"/>
                </a:moveTo>
                <a:lnTo>
                  <a:pt x="1237374" y="0"/>
                </a:lnTo>
                <a:lnTo>
                  <a:pt x="1237374" y="1237375"/>
                </a:lnTo>
                <a:lnTo>
                  <a:pt x="0" y="12373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7" id="17"/>
          <p:cNvSpPr txBox="true"/>
          <p:nvPr/>
        </p:nvSpPr>
        <p:spPr>
          <a:xfrm rot="0">
            <a:off x="6383684" y="232273"/>
            <a:ext cx="5520633" cy="796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02"/>
              </a:lnSpc>
              <a:spcBef>
                <a:spcPct val="0"/>
              </a:spcBef>
            </a:pPr>
            <a:r>
              <a:rPr lang="en-US" b="true" sz="4644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Mənbələr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62341" y="1221940"/>
            <a:ext cx="13963317" cy="5443909"/>
            <a:chOff x="0" y="0"/>
            <a:chExt cx="5519288" cy="2151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519288" cy="2151817"/>
            </a:xfrm>
            <a:custGeom>
              <a:avLst/>
              <a:gdLst/>
              <a:ahLst/>
              <a:cxnLst/>
              <a:rect r="r" b="b" t="t" l="l"/>
              <a:pathLst>
                <a:path h="2151817" w="5519288">
                  <a:moveTo>
                    <a:pt x="55445" y="0"/>
                  </a:moveTo>
                  <a:lnTo>
                    <a:pt x="5463843" y="0"/>
                  </a:lnTo>
                  <a:cubicBezTo>
                    <a:pt x="5494465" y="0"/>
                    <a:pt x="5519288" y="24823"/>
                    <a:pt x="5519288" y="55445"/>
                  </a:cubicBezTo>
                  <a:lnTo>
                    <a:pt x="5519288" y="2096372"/>
                  </a:lnTo>
                  <a:cubicBezTo>
                    <a:pt x="5519288" y="2111077"/>
                    <a:pt x="5513446" y="2125180"/>
                    <a:pt x="5503049" y="2135578"/>
                  </a:cubicBezTo>
                  <a:cubicBezTo>
                    <a:pt x="5492651" y="2145975"/>
                    <a:pt x="5478548" y="2151817"/>
                    <a:pt x="5463843" y="2151817"/>
                  </a:cubicBezTo>
                  <a:lnTo>
                    <a:pt x="55445" y="2151817"/>
                  </a:lnTo>
                  <a:cubicBezTo>
                    <a:pt x="24823" y="2151817"/>
                    <a:pt x="0" y="2126993"/>
                    <a:pt x="0" y="2096372"/>
                  </a:cubicBezTo>
                  <a:lnTo>
                    <a:pt x="0" y="55445"/>
                  </a:lnTo>
                  <a:cubicBezTo>
                    <a:pt x="0" y="24823"/>
                    <a:pt x="24823" y="0"/>
                    <a:pt x="55445" y="0"/>
                  </a:cubicBezTo>
                  <a:close/>
                </a:path>
              </a:pathLst>
            </a:custGeom>
            <a:solidFill>
              <a:srgbClr val="FFFFFF">
                <a:alpha val="66667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5519288" cy="21994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3247" y="6878562"/>
            <a:ext cx="18288000" cy="3408438"/>
          </a:xfrm>
          <a:custGeom>
            <a:avLst/>
            <a:gdLst/>
            <a:ahLst/>
            <a:cxnLst/>
            <a:rect r="r" b="b" t="t" l="l"/>
            <a:pathLst>
              <a:path h="3408438" w="18288000">
                <a:moveTo>
                  <a:pt x="0" y="0"/>
                </a:moveTo>
                <a:lnTo>
                  <a:pt x="18288000" y="0"/>
                </a:lnTo>
                <a:lnTo>
                  <a:pt x="18288000" y="3408438"/>
                </a:lnTo>
                <a:lnTo>
                  <a:pt x="0" y="34084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4915" r="0" b="-170972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946449">
            <a:off x="485727" y="651987"/>
            <a:ext cx="1514114" cy="1046339"/>
          </a:xfrm>
          <a:custGeom>
            <a:avLst/>
            <a:gdLst/>
            <a:ahLst/>
            <a:cxnLst/>
            <a:rect r="r" b="b" t="t" l="l"/>
            <a:pathLst>
              <a:path h="1046339" w="1514114">
                <a:moveTo>
                  <a:pt x="0" y="0"/>
                </a:moveTo>
                <a:lnTo>
                  <a:pt x="1514113" y="0"/>
                </a:lnTo>
                <a:lnTo>
                  <a:pt x="1514113" y="1046338"/>
                </a:lnTo>
                <a:lnTo>
                  <a:pt x="0" y="10463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2249223">
            <a:off x="16556923" y="553074"/>
            <a:ext cx="1121942" cy="1121942"/>
          </a:xfrm>
          <a:custGeom>
            <a:avLst/>
            <a:gdLst/>
            <a:ahLst/>
            <a:cxnLst/>
            <a:rect r="r" b="b" t="t" l="l"/>
            <a:pathLst>
              <a:path h="1121942" w="1121942">
                <a:moveTo>
                  <a:pt x="0" y="0"/>
                </a:moveTo>
                <a:lnTo>
                  <a:pt x="1121943" y="0"/>
                </a:lnTo>
                <a:lnTo>
                  <a:pt x="1121943" y="1121942"/>
                </a:lnTo>
                <a:lnTo>
                  <a:pt x="0" y="11219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165620" y="1647101"/>
            <a:ext cx="11956761" cy="4546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29"/>
              </a:lnSpc>
            </a:pPr>
            <a:r>
              <a:rPr lang="en-US" sz="3735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Neologizmlər müasir Azərbaycan dilini zənginləşdirən və cəmiyyətdəki yenilikləri əks etdirən əsas amildir.</a:t>
            </a:r>
            <a:r>
              <a:rPr lang="en-US" sz="3735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Texnologiya, siyasət və mədəniyyət sahəsində yaranan bu yeni sözlər dilin daim yenilənməsinə xidmət edir.</a:t>
            </a:r>
          </a:p>
          <a:p>
            <a:pPr algn="ctr">
              <a:lnSpc>
                <a:spcPts val="5229"/>
              </a:lnSpc>
            </a:pPr>
          </a:p>
          <a:p>
            <a:pPr algn="ctr">
              <a:lnSpc>
                <a:spcPts val="5229"/>
              </a:lnSpc>
            </a:pPr>
            <a:r>
              <a:rPr lang="en-US" b="true" sz="3735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Diqqətiniz və dinlədiyiniz üçün təşəkkürlər!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383684" y="232273"/>
            <a:ext cx="5520633" cy="796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02"/>
              </a:lnSpc>
              <a:spcBef>
                <a:spcPct val="0"/>
              </a:spcBef>
            </a:pPr>
            <a:r>
              <a:rPr lang="en-US" b="true" sz="4644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Nəticə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DAHH9FKvdjE</dc:identifier>
  <dcterms:modified xsi:type="dcterms:W3CDTF">2011-08-01T06:04:30Z</dcterms:modified>
  <cp:revision>1</cp:revision>
  <dc:title>Müasir Azərbaycan dilində neologizmlər</dc:title>
</cp:coreProperties>
</file>