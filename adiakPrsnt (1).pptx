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Zilla Slab" charset="1" panose="00000000000000000000"/>
      <p:regular r:id="rId22"/>
    </p:embeddedFont>
    <p:embeddedFont>
      <p:font typeface="Zilla Slab Bold" charset="1" panose="00000000000000000000"/>
      <p:regular r:id="rId23"/>
    </p:embeddedFont>
    <p:embeddedFont>
      <p:font typeface="Pridi" charset="1" panose="00000500000000000000"/>
      <p:regular r:id="rId24"/>
    </p:embeddedFont>
    <p:embeddedFont>
      <p:font typeface="Arimo Bold" charset="1" panose="020B0704020202020204"/>
      <p:regular r:id="rId25"/>
    </p:embeddedFont>
    <p:embeddedFont>
      <p:font typeface="Arimo" charset="1" panose="020B0604020202020204"/>
      <p:regular r:id="rId26"/>
    </p:embeddedFont>
    <p:embeddedFont>
      <p:font typeface="Zilla Slab Bold Italics" charset="1" panose="00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8.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9.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civilization-journal.com/wp-content/uploads/images/February/Gnel%20QULYEVA-DLN%20NKAFINDA%20NEOLOGZMLRN%20ROLU.pdf" TargetMode="External" Type="http://schemas.openxmlformats.org/officeDocument/2006/relationships/hyperlink"/><Relationship Id="rId4" Target="https://filologiyameseleleri.com/pdf/2024/n5/gunel%20quliyeva%20239-245.pdf" TargetMode="External" Type="http://schemas.openxmlformats.org/officeDocument/2006/relationships/hyperlink"/><Relationship Id="rId5" Target="http://dspace.khazar.org/bitstream/20.500.12323/5463/1/M%C3%BCasir%20Az%C9%99rbaycan%20dilind%C9%99%20terminoloji%20leksikanin%20inki%C5%9Fafi.pdf" TargetMode="External" Type="http://schemas.openxmlformats.org/officeDocument/2006/relationships/hyperlink"/><Relationship Id="rId6" Target="https://au.edu.az/userfiles/uploads/19d7f5fca0d839a5b05877d753014825.pdf" TargetMode="External" Type="http://schemas.openxmlformats.org/officeDocument/2006/relationships/hyperlink"/><Relationship Id="rId7" Target="https://aak.gov.az/upload/dissertasion/filologiya_elml_ri/Avtoreferat_Az%C9%99rbaycan_word.pdf" TargetMode="External" Type="http://schemas.openxmlformats.org/officeDocument/2006/relationships/hyperlink"/></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jpe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47" y="0"/>
            <a:ext cx="18294494" cy="10287000"/>
          </a:xfrm>
          <a:custGeom>
            <a:avLst/>
            <a:gdLst/>
            <a:ahLst/>
            <a:cxnLst/>
            <a:rect r="r" b="b" t="t" l="l"/>
            <a:pathLst>
              <a:path h="10287000" w="18294494">
                <a:moveTo>
                  <a:pt x="0" y="0"/>
                </a:moveTo>
                <a:lnTo>
                  <a:pt x="18294494" y="0"/>
                </a:lnTo>
                <a:lnTo>
                  <a:pt x="18294494"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82155" y="1434640"/>
            <a:ext cx="12045848" cy="8022432"/>
            <a:chOff x="0" y="0"/>
            <a:chExt cx="3172569" cy="2112904"/>
          </a:xfrm>
        </p:grpSpPr>
        <p:sp>
          <p:nvSpPr>
            <p:cNvPr name="Freeform 4" id="4"/>
            <p:cNvSpPr/>
            <p:nvPr/>
          </p:nvSpPr>
          <p:spPr>
            <a:xfrm flipH="false" flipV="false" rot="0">
              <a:off x="0" y="0"/>
              <a:ext cx="3172569" cy="2112904"/>
            </a:xfrm>
            <a:custGeom>
              <a:avLst/>
              <a:gdLst/>
              <a:ahLst/>
              <a:cxnLst/>
              <a:rect r="r" b="b" t="t" l="l"/>
              <a:pathLst>
                <a:path h="2112904" w="3172569">
                  <a:moveTo>
                    <a:pt x="33421" y="0"/>
                  </a:moveTo>
                  <a:lnTo>
                    <a:pt x="3139149" y="0"/>
                  </a:lnTo>
                  <a:cubicBezTo>
                    <a:pt x="3157606" y="0"/>
                    <a:pt x="3172569" y="14963"/>
                    <a:pt x="3172569" y="33421"/>
                  </a:cubicBezTo>
                  <a:lnTo>
                    <a:pt x="3172569" y="2079483"/>
                  </a:lnTo>
                  <a:cubicBezTo>
                    <a:pt x="3172569" y="2097941"/>
                    <a:pt x="3157606" y="2112904"/>
                    <a:pt x="3139149" y="2112904"/>
                  </a:cubicBezTo>
                  <a:lnTo>
                    <a:pt x="33421" y="2112904"/>
                  </a:lnTo>
                  <a:cubicBezTo>
                    <a:pt x="14963" y="2112904"/>
                    <a:pt x="0" y="2097941"/>
                    <a:pt x="0" y="2079483"/>
                  </a:cubicBezTo>
                  <a:lnTo>
                    <a:pt x="0" y="33421"/>
                  </a:lnTo>
                  <a:cubicBezTo>
                    <a:pt x="0" y="14963"/>
                    <a:pt x="14963" y="0"/>
                    <a:pt x="33421" y="0"/>
                  </a:cubicBezTo>
                  <a:close/>
                </a:path>
              </a:pathLst>
            </a:custGeom>
            <a:solidFill>
              <a:srgbClr val="093F9A">
                <a:alpha val="26667"/>
              </a:srgbClr>
            </a:solidFill>
            <a:ln w="114300" cap="rnd">
              <a:solidFill>
                <a:srgbClr val="000000">
                  <a:alpha val="26667"/>
                </a:srgbClr>
              </a:solidFill>
              <a:prstDash val="solid"/>
              <a:round/>
            </a:ln>
          </p:spPr>
        </p:sp>
        <p:sp>
          <p:nvSpPr>
            <p:cNvPr name="TextBox 5" id="5"/>
            <p:cNvSpPr txBox="true"/>
            <p:nvPr/>
          </p:nvSpPr>
          <p:spPr>
            <a:xfrm>
              <a:off x="0" y="-47625"/>
              <a:ext cx="3172569" cy="2160529"/>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86169" y="1434640"/>
            <a:ext cx="12045848" cy="8022432"/>
            <a:chOff x="0" y="0"/>
            <a:chExt cx="3172569" cy="2112904"/>
          </a:xfrm>
        </p:grpSpPr>
        <p:sp>
          <p:nvSpPr>
            <p:cNvPr name="Freeform 7" id="7"/>
            <p:cNvSpPr/>
            <p:nvPr/>
          </p:nvSpPr>
          <p:spPr>
            <a:xfrm flipH="false" flipV="false" rot="0">
              <a:off x="0" y="0"/>
              <a:ext cx="3172569" cy="2112904"/>
            </a:xfrm>
            <a:custGeom>
              <a:avLst/>
              <a:gdLst/>
              <a:ahLst/>
              <a:cxnLst/>
              <a:rect r="r" b="b" t="t" l="l"/>
              <a:pathLst>
                <a:path h="2112904" w="3172569">
                  <a:moveTo>
                    <a:pt x="33421" y="0"/>
                  </a:moveTo>
                  <a:lnTo>
                    <a:pt x="3139149" y="0"/>
                  </a:lnTo>
                  <a:cubicBezTo>
                    <a:pt x="3157606" y="0"/>
                    <a:pt x="3172569" y="14963"/>
                    <a:pt x="3172569" y="33421"/>
                  </a:cubicBezTo>
                  <a:lnTo>
                    <a:pt x="3172569" y="2079483"/>
                  </a:lnTo>
                  <a:cubicBezTo>
                    <a:pt x="3172569" y="2097941"/>
                    <a:pt x="3157606" y="2112904"/>
                    <a:pt x="3139149" y="2112904"/>
                  </a:cubicBezTo>
                  <a:lnTo>
                    <a:pt x="33421" y="2112904"/>
                  </a:lnTo>
                  <a:cubicBezTo>
                    <a:pt x="14963" y="2112904"/>
                    <a:pt x="0" y="2097941"/>
                    <a:pt x="0" y="2079483"/>
                  </a:cubicBezTo>
                  <a:lnTo>
                    <a:pt x="0" y="33421"/>
                  </a:lnTo>
                  <a:cubicBezTo>
                    <a:pt x="0" y="14963"/>
                    <a:pt x="14963" y="0"/>
                    <a:pt x="33421" y="0"/>
                  </a:cubicBezTo>
                  <a:close/>
                </a:path>
              </a:pathLst>
            </a:custGeom>
            <a:ln w="114300" cap="rnd">
              <a:solidFill>
                <a:srgbClr val="000000">
                  <a:alpha val="26667"/>
                </a:srgbClr>
              </a:solidFill>
              <a:prstDash val="solid"/>
              <a:round/>
            </a:ln>
          </p:spPr>
        </p:sp>
        <p:sp>
          <p:nvSpPr>
            <p:cNvPr name="TextBox 8" id="8"/>
            <p:cNvSpPr txBox="true"/>
            <p:nvPr/>
          </p:nvSpPr>
          <p:spPr>
            <a:xfrm>
              <a:off x="0" y="-47625"/>
              <a:ext cx="3172569" cy="2160529"/>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708574" y="1636843"/>
            <a:ext cx="10539063" cy="7512598"/>
          </a:xfrm>
          <a:prstGeom prst="rect">
            <a:avLst/>
          </a:prstGeom>
        </p:spPr>
        <p:txBody>
          <a:bodyPr anchor="t" rtlCol="false" tIns="0" lIns="0" bIns="0" rIns="0">
            <a:spAutoFit/>
          </a:bodyPr>
          <a:lstStyle/>
          <a:p>
            <a:pPr algn="l">
              <a:lnSpc>
                <a:spcPts val="5981"/>
              </a:lnSpc>
            </a:pPr>
            <a:r>
              <a:rPr lang="en-US" sz="4272">
                <a:solidFill>
                  <a:srgbClr val="FFFFFF"/>
                </a:solidFill>
                <a:latin typeface="Zilla Slab"/>
                <a:ea typeface="Zilla Slab"/>
                <a:cs typeface="Zilla Slab"/>
                <a:sym typeface="Zilla Slab"/>
              </a:rPr>
              <a:t>Qrup üzvləri: </a:t>
            </a:r>
          </a:p>
          <a:p>
            <a:pPr algn="l" marL="922450" indent="-461225" lvl="1">
              <a:lnSpc>
                <a:spcPts val="5981"/>
              </a:lnSpc>
              <a:buFont typeface="Arial"/>
              <a:buChar char="•"/>
            </a:pPr>
            <a:r>
              <a:rPr lang="en-US" sz="4272">
                <a:solidFill>
                  <a:srgbClr val="FFFFFF"/>
                </a:solidFill>
                <a:latin typeface="Zilla Slab"/>
                <a:ea typeface="Zilla Slab"/>
                <a:cs typeface="Zilla Slab"/>
                <a:sym typeface="Zilla Slab"/>
              </a:rPr>
              <a:t>Məmmədzadə Hüseyn</a:t>
            </a:r>
          </a:p>
          <a:p>
            <a:pPr algn="l" marL="922450" indent="-461225" lvl="1">
              <a:lnSpc>
                <a:spcPts val="5981"/>
              </a:lnSpc>
              <a:buFont typeface="Arial"/>
              <a:buChar char="•"/>
            </a:pPr>
            <a:r>
              <a:rPr lang="en-US" sz="4272">
                <a:solidFill>
                  <a:srgbClr val="FFFFFF"/>
                </a:solidFill>
                <a:latin typeface="Zilla Slab"/>
                <a:ea typeface="Zilla Slab"/>
                <a:cs typeface="Zilla Slab"/>
                <a:sym typeface="Zilla Slab"/>
              </a:rPr>
              <a:t>Musayev Malik</a:t>
            </a:r>
          </a:p>
          <a:p>
            <a:pPr algn="l" marL="922450" indent="-461225" lvl="1">
              <a:lnSpc>
                <a:spcPts val="5981"/>
              </a:lnSpc>
              <a:buFont typeface="Arial"/>
              <a:buChar char="•"/>
            </a:pPr>
            <a:r>
              <a:rPr lang="en-US" sz="4272">
                <a:solidFill>
                  <a:srgbClr val="FFFFFF"/>
                </a:solidFill>
                <a:latin typeface="Zilla Slab"/>
                <a:ea typeface="Zilla Slab"/>
                <a:cs typeface="Zilla Slab"/>
                <a:sym typeface="Zilla Slab"/>
              </a:rPr>
              <a:t>Eyvazlı Amil</a:t>
            </a:r>
          </a:p>
          <a:p>
            <a:pPr algn="l">
              <a:lnSpc>
                <a:spcPts val="5981"/>
              </a:lnSpc>
            </a:pPr>
            <a:r>
              <a:rPr lang="en-US" sz="4272">
                <a:solidFill>
                  <a:srgbClr val="FFFFFF"/>
                </a:solidFill>
                <a:latin typeface="Zilla Slab"/>
                <a:ea typeface="Zilla Slab"/>
                <a:cs typeface="Zilla Slab"/>
                <a:sym typeface="Zilla Slab"/>
              </a:rPr>
              <a:t>Qrup: 682.24E</a:t>
            </a:r>
          </a:p>
          <a:p>
            <a:pPr algn="l">
              <a:lnSpc>
                <a:spcPts val="5981"/>
              </a:lnSpc>
            </a:pPr>
            <a:r>
              <a:rPr lang="en-US" sz="4272">
                <a:solidFill>
                  <a:srgbClr val="FFFFFF"/>
                </a:solidFill>
                <a:latin typeface="Zilla Slab"/>
                <a:ea typeface="Zilla Slab"/>
                <a:cs typeface="Zilla Slab"/>
                <a:sym typeface="Zilla Slab"/>
              </a:rPr>
              <a:t>Fənn: Azərbaycan dilində işgüzar və   akademik kommunikasiya</a:t>
            </a:r>
          </a:p>
          <a:p>
            <a:pPr algn="l">
              <a:lnSpc>
                <a:spcPts val="5981"/>
              </a:lnSpc>
            </a:pPr>
            <a:r>
              <a:rPr lang="en-US" sz="4272">
                <a:solidFill>
                  <a:srgbClr val="FFFFFF"/>
                </a:solidFill>
                <a:latin typeface="Zilla Slab"/>
                <a:ea typeface="Zilla Slab"/>
                <a:cs typeface="Zilla Slab"/>
                <a:sym typeface="Zilla Slab"/>
              </a:rPr>
              <a:t>Fakültə: İnformasiya Texnologiyaları</a:t>
            </a:r>
          </a:p>
          <a:p>
            <a:pPr algn="l">
              <a:lnSpc>
                <a:spcPts val="5981"/>
              </a:lnSpc>
              <a:spcBef>
                <a:spcPct val="0"/>
              </a:spcBef>
            </a:pPr>
            <a:r>
              <a:rPr lang="en-US" sz="4272">
                <a:solidFill>
                  <a:srgbClr val="FFFFFF"/>
                </a:solidFill>
                <a:latin typeface="Zilla Slab"/>
                <a:ea typeface="Zilla Slab"/>
                <a:cs typeface="Zilla Slab"/>
                <a:sym typeface="Zilla Slab"/>
              </a:rPr>
              <a:t>Təqdimatın</a:t>
            </a:r>
            <a:r>
              <a:rPr lang="en-US" sz="4272">
                <a:solidFill>
                  <a:srgbClr val="FFFFFF"/>
                </a:solidFill>
                <a:latin typeface="Zilla Slab"/>
                <a:ea typeface="Zilla Slab"/>
                <a:cs typeface="Zilla Slab"/>
                <a:sym typeface="Zilla Slab"/>
              </a:rPr>
              <a:t> mövzusu:  Müasir Azərbaycan dilində neologizmlər</a:t>
            </a:r>
          </a:p>
        </p:txBody>
      </p:sp>
      <p:sp>
        <p:nvSpPr>
          <p:cNvPr name="Freeform 10" id="10"/>
          <p:cNvSpPr/>
          <p:nvPr/>
        </p:nvSpPr>
        <p:spPr>
          <a:xfrm flipH="false" flipV="false" rot="0">
            <a:off x="12706855" y="0"/>
            <a:ext cx="5584392" cy="10287000"/>
          </a:xfrm>
          <a:custGeom>
            <a:avLst/>
            <a:gdLst/>
            <a:ahLst/>
            <a:cxnLst/>
            <a:rect r="r" b="b" t="t" l="l"/>
            <a:pathLst>
              <a:path h="10287000" w="5584392">
                <a:moveTo>
                  <a:pt x="0" y="0"/>
                </a:moveTo>
                <a:lnTo>
                  <a:pt x="5584392" y="0"/>
                </a:lnTo>
                <a:lnTo>
                  <a:pt x="5584392" y="10287000"/>
                </a:lnTo>
                <a:lnTo>
                  <a:pt x="0" y="10287000"/>
                </a:lnTo>
                <a:lnTo>
                  <a:pt x="0" y="0"/>
                </a:lnTo>
                <a:close/>
              </a:path>
            </a:pathLst>
          </a:custGeom>
          <a:blipFill>
            <a:blip r:embed="rId3"/>
            <a:stretch>
              <a:fillRect l="-122580" t="-3792" r="-80304" b="0"/>
            </a:stretch>
          </a:blipFill>
        </p:spPr>
      </p:sp>
      <p:sp>
        <p:nvSpPr>
          <p:cNvPr name="TextBox 11" id="11"/>
          <p:cNvSpPr txBox="true"/>
          <p:nvPr/>
        </p:nvSpPr>
        <p:spPr>
          <a:xfrm rot="0">
            <a:off x="282155" y="310862"/>
            <a:ext cx="18005845" cy="717838"/>
          </a:xfrm>
          <a:prstGeom prst="rect">
            <a:avLst/>
          </a:prstGeom>
        </p:spPr>
        <p:txBody>
          <a:bodyPr anchor="t" rtlCol="false" tIns="0" lIns="0" bIns="0" rIns="0">
            <a:spAutoFit/>
          </a:bodyPr>
          <a:lstStyle/>
          <a:p>
            <a:pPr algn="l">
              <a:lnSpc>
                <a:spcPts val="5857"/>
              </a:lnSpc>
              <a:spcBef>
                <a:spcPct val="0"/>
              </a:spcBef>
            </a:pPr>
            <a:r>
              <a:rPr lang="en-US" b="true" sz="4183">
                <a:solidFill>
                  <a:srgbClr val="FFFFFF"/>
                </a:solidFill>
                <a:latin typeface="Zilla Slab Bold"/>
                <a:ea typeface="Zilla Slab Bold"/>
                <a:cs typeface="Zilla Slab Bold"/>
                <a:sym typeface="Zilla Slab Bold"/>
              </a:rPr>
              <a:t>Azə</a:t>
            </a:r>
            <a:r>
              <a:rPr lang="en-US" b="true" sz="4183">
                <a:solidFill>
                  <a:srgbClr val="FFFFFF"/>
                </a:solidFill>
                <a:latin typeface="Zilla Slab Bold"/>
                <a:ea typeface="Zilla Slab Bold"/>
                <a:cs typeface="Zilla Slab Bold"/>
                <a:sym typeface="Zilla Slab Bold"/>
              </a:rPr>
              <a:t>rbaycan Dövlət Neft və Sənaye Universiteti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47" y="0"/>
            <a:ext cx="18294494" cy="10287000"/>
          </a:xfrm>
          <a:custGeom>
            <a:avLst/>
            <a:gdLst/>
            <a:ahLst/>
            <a:cxnLst/>
            <a:rect r="r" b="b" t="t" l="l"/>
            <a:pathLst>
              <a:path h="10287000" w="18294494">
                <a:moveTo>
                  <a:pt x="0" y="0"/>
                </a:moveTo>
                <a:lnTo>
                  <a:pt x="18294494" y="0"/>
                </a:lnTo>
                <a:lnTo>
                  <a:pt x="18294494"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7828663" y="1028700"/>
            <a:ext cx="10072667" cy="9033461"/>
            <a:chOff x="0" y="0"/>
            <a:chExt cx="3125637" cy="2803162"/>
          </a:xfrm>
        </p:grpSpPr>
        <p:sp>
          <p:nvSpPr>
            <p:cNvPr name="Freeform 4" id="4"/>
            <p:cNvSpPr/>
            <p:nvPr/>
          </p:nvSpPr>
          <p:spPr>
            <a:xfrm flipH="false" flipV="false" rot="0">
              <a:off x="0" y="0"/>
              <a:ext cx="3125637" cy="2803162"/>
            </a:xfrm>
            <a:custGeom>
              <a:avLst/>
              <a:gdLst/>
              <a:ahLst/>
              <a:cxnLst/>
              <a:rect r="r" b="b" t="t" l="l"/>
              <a:pathLst>
                <a:path h="2803162" w="3125637">
                  <a:moveTo>
                    <a:pt x="39968" y="0"/>
                  </a:moveTo>
                  <a:lnTo>
                    <a:pt x="3085669" y="0"/>
                  </a:lnTo>
                  <a:cubicBezTo>
                    <a:pt x="3107743" y="0"/>
                    <a:pt x="3125637" y="17894"/>
                    <a:pt x="3125637" y="39968"/>
                  </a:cubicBezTo>
                  <a:lnTo>
                    <a:pt x="3125637" y="2763195"/>
                  </a:lnTo>
                  <a:cubicBezTo>
                    <a:pt x="3125637" y="2773794"/>
                    <a:pt x="3121426" y="2783960"/>
                    <a:pt x="3113930" y="2791456"/>
                  </a:cubicBezTo>
                  <a:cubicBezTo>
                    <a:pt x="3106435" y="2798951"/>
                    <a:pt x="3096269" y="2803162"/>
                    <a:pt x="3085669" y="2803162"/>
                  </a:cubicBezTo>
                  <a:lnTo>
                    <a:pt x="39968" y="2803162"/>
                  </a:lnTo>
                  <a:cubicBezTo>
                    <a:pt x="29367" y="2803162"/>
                    <a:pt x="19202" y="2798951"/>
                    <a:pt x="11706" y="2791456"/>
                  </a:cubicBezTo>
                  <a:cubicBezTo>
                    <a:pt x="4211" y="2783960"/>
                    <a:pt x="0" y="2773794"/>
                    <a:pt x="0" y="2763195"/>
                  </a:cubicBezTo>
                  <a:lnTo>
                    <a:pt x="0" y="39968"/>
                  </a:lnTo>
                  <a:cubicBezTo>
                    <a:pt x="0" y="29367"/>
                    <a:pt x="4211" y="19202"/>
                    <a:pt x="11706" y="11706"/>
                  </a:cubicBezTo>
                  <a:cubicBezTo>
                    <a:pt x="19202" y="4211"/>
                    <a:pt x="29367" y="0"/>
                    <a:pt x="39968" y="0"/>
                  </a:cubicBezTo>
                  <a:close/>
                </a:path>
              </a:pathLst>
            </a:custGeom>
            <a:solidFill>
              <a:srgbClr val="093F9A">
                <a:alpha val="54902"/>
              </a:srgbClr>
            </a:solidFill>
            <a:ln w="114300" cap="rnd">
              <a:solidFill>
                <a:srgbClr val="000000">
                  <a:alpha val="54902"/>
                </a:srgbClr>
              </a:solidFill>
              <a:prstDash val="solid"/>
              <a:round/>
            </a:ln>
          </p:spPr>
        </p:sp>
        <p:sp>
          <p:nvSpPr>
            <p:cNvPr name="TextBox 5" id="5"/>
            <p:cNvSpPr txBox="true"/>
            <p:nvPr/>
          </p:nvSpPr>
          <p:spPr>
            <a:xfrm>
              <a:off x="0" y="-47625"/>
              <a:ext cx="3125637" cy="285078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832019" y="1028700"/>
            <a:ext cx="10072667" cy="9033461"/>
            <a:chOff x="0" y="0"/>
            <a:chExt cx="3125637" cy="2803162"/>
          </a:xfrm>
        </p:grpSpPr>
        <p:sp>
          <p:nvSpPr>
            <p:cNvPr name="Freeform 7" id="7"/>
            <p:cNvSpPr/>
            <p:nvPr/>
          </p:nvSpPr>
          <p:spPr>
            <a:xfrm flipH="false" flipV="false" rot="0">
              <a:off x="0" y="0"/>
              <a:ext cx="3125637" cy="2803162"/>
            </a:xfrm>
            <a:custGeom>
              <a:avLst/>
              <a:gdLst/>
              <a:ahLst/>
              <a:cxnLst/>
              <a:rect r="r" b="b" t="t" l="l"/>
              <a:pathLst>
                <a:path h="2803162" w="3125637">
                  <a:moveTo>
                    <a:pt x="39968" y="0"/>
                  </a:moveTo>
                  <a:lnTo>
                    <a:pt x="3085669" y="0"/>
                  </a:lnTo>
                  <a:cubicBezTo>
                    <a:pt x="3107743" y="0"/>
                    <a:pt x="3125637" y="17894"/>
                    <a:pt x="3125637" y="39968"/>
                  </a:cubicBezTo>
                  <a:lnTo>
                    <a:pt x="3125637" y="2763195"/>
                  </a:lnTo>
                  <a:cubicBezTo>
                    <a:pt x="3125637" y="2773794"/>
                    <a:pt x="3121426" y="2783960"/>
                    <a:pt x="3113930" y="2791456"/>
                  </a:cubicBezTo>
                  <a:cubicBezTo>
                    <a:pt x="3106435" y="2798951"/>
                    <a:pt x="3096269" y="2803162"/>
                    <a:pt x="3085669" y="2803162"/>
                  </a:cubicBezTo>
                  <a:lnTo>
                    <a:pt x="39968" y="2803162"/>
                  </a:lnTo>
                  <a:cubicBezTo>
                    <a:pt x="29367" y="2803162"/>
                    <a:pt x="19202" y="2798951"/>
                    <a:pt x="11706" y="2791456"/>
                  </a:cubicBezTo>
                  <a:cubicBezTo>
                    <a:pt x="4211" y="2783960"/>
                    <a:pt x="0" y="2773794"/>
                    <a:pt x="0" y="2763195"/>
                  </a:cubicBezTo>
                  <a:lnTo>
                    <a:pt x="0" y="39968"/>
                  </a:lnTo>
                  <a:cubicBezTo>
                    <a:pt x="0" y="29367"/>
                    <a:pt x="4211" y="19202"/>
                    <a:pt x="11706" y="11706"/>
                  </a:cubicBezTo>
                  <a:cubicBezTo>
                    <a:pt x="19202" y="4211"/>
                    <a:pt x="29367" y="0"/>
                    <a:pt x="39968" y="0"/>
                  </a:cubicBezTo>
                  <a:close/>
                </a:path>
              </a:pathLst>
            </a:custGeom>
            <a:ln w="114300" cap="rnd">
              <a:solidFill>
                <a:srgbClr val="000000">
                  <a:alpha val="26667"/>
                </a:srgbClr>
              </a:solidFill>
              <a:prstDash val="solid"/>
              <a:round/>
            </a:ln>
          </p:spPr>
        </p:sp>
        <p:sp>
          <p:nvSpPr>
            <p:cNvPr name="TextBox 8" id="8"/>
            <p:cNvSpPr txBox="true"/>
            <p:nvPr/>
          </p:nvSpPr>
          <p:spPr>
            <a:xfrm>
              <a:off x="0" y="-47625"/>
              <a:ext cx="3125637" cy="2850787"/>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611184" y="1732371"/>
            <a:ext cx="6576073" cy="7626120"/>
          </a:xfrm>
          <a:custGeom>
            <a:avLst/>
            <a:gdLst/>
            <a:ahLst/>
            <a:cxnLst/>
            <a:rect r="r" b="b" t="t" l="l"/>
            <a:pathLst>
              <a:path h="7626120" w="6576073">
                <a:moveTo>
                  <a:pt x="0" y="0"/>
                </a:moveTo>
                <a:lnTo>
                  <a:pt x="6576073" y="0"/>
                </a:lnTo>
                <a:lnTo>
                  <a:pt x="6576073" y="7626120"/>
                </a:lnTo>
                <a:lnTo>
                  <a:pt x="0" y="7626120"/>
                </a:lnTo>
                <a:lnTo>
                  <a:pt x="0" y="0"/>
                </a:lnTo>
                <a:close/>
              </a:path>
            </a:pathLst>
          </a:custGeom>
          <a:blipFill>
            <a:blip r:embed="rId3"/>
            <a:stretch>
              <a:fillRect l="-7983" t="0" r="-7983" b="0"/>
            </a:stretch>
          </a:blipFill>
          <a:ln w="76200" cap="rnd">
            <a:solidFill>
              <a:srgbClr val="1C4EDA"/>
            </a:solidFill>
            <a:prstDash val="solid"/>
            <a:round/>
          </a:ln>
        </p:spPr>
      </p:sp>
      <p:sp>
        <p:nvSpPr>
          <p:cNvPr name="TextBox 10" id="10"/>
          <p:cNvSpPr txBox="true"/>
          <p:nvPr/>
        </p:nvSpPr>
        <p:spPr>
          <a:xfrm rot="0">
            <a:off x="8280428" y="1259082"/>
            <a:ext cx="9175850" cy="8486973"/>
          </a:xfrm>
          <a:prstGeom prst="rect">
            <a:avLst/>
          </a:prstGeom>
        </p:spPr>
        <p:txBody>
          <a:bodyPr anchor="t" rtlCol="false" tIns="0" lIns="0" bIns="0" rIns="0">
            <a:spAutoFit/>
          </a:bodyPr>
          <a:lstStyle/>
          <a:p>
            <a:pPr algn="l">
              <a:lnSpc>
                <a:spcPts val="6143"/>
              </a:lnSpc>
            </a:pPr>
            <a:r>
              <a:rPr lang="en-US" sz="4387">
                <a:solidFill>
                  <a:srgbClr val="FFFFFF"/>
                </a:solidFill>
                <a:latin typeface="Zilla Slab"/>
                <a:ea typeface="Zilla Slab"/>
                <a:cs typeface="Zilla Slab"/>
                <a:sym typeface="Zilla Slab"/>
              </a:rPr>
              <a:t>Azərbaycan </a:t>
            </a:r>
            <a:r>
              <a:rPr lang="en-US" sz="4387">
                <a:solidFill>
                  <a:srgbClr val="FFFFFF"/>
                </a:solidFill>
                <a:latin typeface="Zilla Slab"/>
                <a:ea typeface="Zilla Slab"/>
                <a:cs typeface="Zilla Slab"/>
                <a:sym typeface="Zilla Slab"/>
              </a:rPr>
              <a:t>dilində neologizmlər dilin canlı inkişafının göstəricisi sayılı</a:t>
            </a:r>
            <a:r>
              <a:rPr lang="en-US" sz="4387">
                <a:solidFill>
                  <a:srgbClr val="FFFFFF"/>
                </a:solidFill>
                <a:latin typeface="Zilla Slab"/>
                <a:ea typeface="Zilla Slab"/>
                <a:cs typeface="Zilla Slab"/>
                <a:sym typeface="Zilla Slab"/>
              </a:rPr>
              <a:t>r və yeni ictimai, elmi, texnoloji və mədəni dəyişikliklərə uyğun olaraq yaranır.</a:t>
            </a:r>
          </a:p>
          <a:p>
            <a:pPr algn="l">
              <a:lnSpc>
                <a:spcPts val="6143"/>
              </a:lnSpc>
              <a:spcBef>
                <a:spcPct val="0"/>
              </a:spcBef>
            </a:pPr>
            <a:r>
              <a:rPr lang="en-US" sz="4387">
                <a:solidFill>
                  <a:srgbClr val="FFFFFF"/>
                </a:solidFill>
                <a:latin typeface="Zilla Slab"/>
                <a:ea typeface="Zilla Slab"/>
                <a:cs typeface="Zilla Slab"/>
                <a:sym typeface="Zilla Slab"/>
              </a:rPr>
              <a:t> Neologizmlər dilin lüğət tərkibini zənginləşdirir, yeni anlayışları adlandırır</a:t>
            </a:r>
            <a:r>
              <a:rPr lang="en-US" sz="4387">
                <a:solidFill>
                  <a:srgbClr val="FFFFFF"/>
                </a:solidFill>
                <a:latin typeface="Zilla Slab"/>
                <a:ea typeface="Zilla Slab"/>
                <a:cs typeface="Zilla Slab"/>
                <a:sym typeface="Zilla Slab"/>
              </a:rPr>
              <a:t> və dilin ifadə imkanlarını genişləndirir. Onlar cəmiyyətin dəyişən həyat tərzini, elmi-texniki tərəqqini və siyasi-mədəni yenilikləri dildə əks etdirir.</a:t>
            </a:r>
          </a:p>
        </p:txBody>
      </p:sp>
      <p:sp>
        <p:nvSpPr>
          <p:cNvPr name="TextBox 11" id="11"/>
          <p:cNvSpPr txBox="true"/>
          <p:nvPr/>
        </p:nvSpPr>
        <p:spPr>
          <a:xfrm rot="0">
            <a:off x="286169" y="222161"/>
            <a:ext cx="1586266" cy="806539"/>
          </a:xfrm>
          <a:prstGeom prst="rect">
            <a:avLst/>
          </a:prstGeom>
        </p:spPr>
        <p:txBody>
          <a:bodyPr anchor="t" rtlCol="false" tIns="0" lIns="0" bIns="0" rIns="0">
            <a:spAutoFit/>
          </a:bodyPr>
          <a:lstStyle/>
          <a:p>
            <a:pPr algn="l">
              <a:lnSpc>
                <a:spcPts val="6502"/>
              </a:lnSpc>
              <a:spcBef>
                <a:spcPct val="0"/>
              </a:spcBef>
            </a:pPr>
            <a:r>
              <a:rPr lang="en-US" b="true" sz="4644">
                <a:solidFill>
                  <a:srgbClr val="FFFFFF"/>
                </a:solidFill>
                <a:latin typeface="Zilla Slab Bold"/>
                <a:ea typeface="Zilla Slab Bold"/>
                <a:cs typeface="Zilla Slab Bold"/>
                <a:sym typeface="Zilla Slab Bold"/>
              </a:rPr>
              <a:t>G</a:t>
            </a:r>
            <a:r>
              <a:rPr lang="en-US" b="true" sz="4644">
                <a:solidFill>
                  <a:srgbClr val="FFFFFF"/>
                </a:solidFill>
                <a:latin typeface="Zilla Slab Bold"/>
                <a:ea typeface="Zilla Slab Bold"/>
                <a:cs typeface="Zilla Slab Bold"/>
                <a:sym typeface="Zilla Slab Bold"/>
              </a:rPr>
              <a:t>iriş</a:t>
            </a:r>
          </a:p>
        </p:txBody>
      </p:sp>
      <p:sp>
        <p:nvSpPr>
          <p:cNvPr name="AutoShape 12" id="12"/>
          <p:cNvSpPr/>
          <p:nvPr/>
        </p:nvSpPr>
        <p:spPr>
          <a:xfrm>
            <a:off x="286169" y="1325757"/>
            <a:ext cx="6901088" cy="19050"/>
          </a:xfrm>
          <a:prstGeom prst="line">
            <a:avLst/>
          </a:prstGeom>
          <a:ln cap="rnd" w="57150">
            <a:solidFill>
              <a:srgbClr val="093F9A"/>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247" y="0"/>
            <a:ext cx="18294494" cy="10287000"/>
          </a:xfrm>
          <a:custGeom>
            <a:avLst/>
            <a:gdLst/>
            <a:ahLst/>
            <a:cxnLst/>
            <a:rect r="r" b="b" t="t" l="l"/>
            <a:pathLst>
              <a:path h="10287000" w="18294494">
                <a:moveTo>
                  <a:pt x="18294494" y="10287000"/>
                </a:moveTo>
                <a:lnTo>
                  <a:pt x="0" y="10287000"/>
                </a:lnTo>
                <a:lnTo>
                  <a:pt x="0" y="0"/>
                </a:lnTo>
                <a:lnTo>
                  <a:pt x="18294494" y="0"/>
                </a:lnTo>
                <a:lnTo>
                  <a:pt x="18294494" y="10287000"/>
                </a:lnTo>
                <a:close/>
              </a:path>
            </a:pathLst>
          </a:custGeom>
          <a:blipFill>
            <a:blip r:embed="rId2"/>
            <a:stretch>
              <a:fillRect l="0" t="0" r="0" b="0"/>
            </a:stretch>
          </a:blipFill>
        </p:spPr>
      </p:sp>
      <p:grpSp>
        <p:nvGrpSpPr>
          <p:cNvPr name="Group 3" id="3"/>
          <p:cNvGrpSpPr/>
          <p:nvPr/>
        </p:nvGrpSpPr>
        <p:grpSpPr>
          <a:xfrm rot="0">
            <a:off x="5581783" y="1176345"/>
            <a:ext cx="11027747" cy="8929554"/>
            <a:chOff x="0" y="0"/>
            <a:chExt cx="3422006" cy="2770919"/>
          </a:xfrm>
        </p:grpSpPr>
        <p:sp>
          <p:nvSpPr>
            <p:cNvPr name="Freeform 4" id="4"/>
            <p:cNvSpPr/>
            <p:nvPr/>
          </p:nvSpPr>
          <p:spPr>
            <a:xfrm flipH="false" flipV="false" rot="0">
              <a:off x="0" y="0"/>
              <a:ext cx="3422006" cy="2770919"/>
            </a:xfrm>
            <a:custGeom>
              <a:avLst/>
              <a:gdLst/>
              <a:ahLst/>
              <a:cxnLst/>
              <a:rect r="r" b="b" t="t" l="l"/>
              <a:pathLst>
                <a:path h="2770919" w="3422006">
                  <a:moveTo>
                    <a:pt x="36506" y="0"/>
                  </a:moveTo>
                  <a:lnTo>
                    <a:pt x="3385500" y="0"/>
                  </a:lnTo>
                  <a:cubicBezTo>
                    <a:pt x="3405662" y="0"/>
                    <a:pt x="3422006" y="16344"/>
                    <a:pt x="3422006" y="36506"/>
                  </a:cubicBezTo>
                  <a:lnTo>
                    <a:pt x="3422006" y="2734413"/>
                  </a:lnTo>
                  <a:cubicBezTo>
                    <a:pt x="3422006" y="2744095"/>
                    <a:pt x="3418160" y="2753380"/>
                    <a:pt x="3411314" y="2760226"/>
                  </a:cubicBezTo>
                  <a:cubicBezTo>
                    <a:pt x="3404468" y="2767073"/>
                    <a:pt x="3395182" y="2770919"/>
                    <a:pt x="3385500" y="2770919"/>
                  </a:cubicBezTo>
                  <a:lnTo>
                    <a:pt x="36506" y="2770919"/>
                  </a:lnTo>
                  <a:cubicBezTo>
                    <a:pt x="16344" y="2770919"/>
                    <a:pt x="0" y="2754574"/>
                    <a:pt x="0" y="2734413"/>
                  </a:cubicBezTo>
                  <a:lnTo>
                    <a:pt x="0" y="36506"/>
                  </a:lnTo>
                  <a:cubicBezTo>
                    <a:pt x="0" y="16344"/>
                    <a:pt x="16344" y="0"/>
                    <a:pt x="36506" y="0"/>
                  </a:cubicBezTo>
                  <a:close/>
                </a:path>
              </a:pathLst>
            </a:custGeom>
            <a:solidFill>
              <a:srgbClr val="093F9A">
                <a:alpha val="81961"/>
              </a:srgbClr>
            </a:solidFill>
            <a:ln cap="rnd">
              <a:noFill/>
              <a:prstDash val="solid"/>
              <a:round/>
            </a:ln>
          </p:spPr>
        </p:sp>
        <p:sp>
          <p:nvSpPr>
            <p:cNvPr name="TextBox 5" id="5"/>
            <p:cNvSpPr txBox="true"/>
            <p:nvPr/>
          </p:nvSpPr>
          <p:spPr>
            <a:xfrm>
              <a:off x="0" y="-47625"/>
              <a:ext cx="3422006" cy="2818544"/>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585458" y="1176345"/>
            <a:ext cx="11027747" cy="8929554"/>
            <a:chOff x="0" y="0"/>
            <a:chExt cx="3422006" cy="2770919"/>
          </a:xfrm>
        </p:grpSpPr>
        <p:sp>
          <p:nvSpPr>
            <p:cNvPr name="Freeform 7" id="7"/>
            <p:cNvSpPr/>
            <p:nvPr/>
          </p:nvSpPr>
          <p:spPr>
            <a:xfrm flipH="false" flipV="false" rot="0">
              <a:off x="0" y="0"/>
              <a:ext cx="3422006" cy="2770919"/>
            </a:xfrm>
            <a:custGeom>
              <a:avLst/>
              <a:gdLst/>
              <a:ahLst/>
              <a:cxnLst/>
              <a:rect r="r" b="b" t="t" l="l"/>
              <a:pathLst>
                <a:path h="2770919" w="3422006">
                  <a:moveTo>
                    <a:pt x="36506" y="0"/>
                  </a:moveTo>
                  <a:lnTo>
                    <a:pt x="3385500" y="0"/>
                  </a:lnTo>
                  <a:cubicBezTo>
                    <a:pt x="3405662" y="0"/>
                    <a:pt x="3422006" y="16344"/>
                    <a:pt x="3422006" y="36506"/>
                  </a:cubicBezTo>
                  <a:lnTo>
                    <a:pt x="3422006" y="2734413"/>
                  </a:lnTo>
                  <a:cubicBezTo>
                    <a:pt x="3422006" y="2744095"/>
                    <a:pt x="3418160" y="2753380"/>
                    <a:pt x="3411314" y="2760226"/>
                  </a:cubicBezTo>
                  <a:cubicBezTo>
                    <a:pt x="3404468" y="2767073"/>
                    <a:pt x="3395182" y="2770919"/>
                    <a:pt x="3385500" y="2770919"/>
                  </a:cubicBezTo>
                  <a:lnTo>
                    <a:pt x="36506" y="2770919"/>
                  </a:lnTo>
                  <a:cubicBezTo>
                    <a:pt x="16344" y="2770919"/>
                    <a:pt x="0" y="2754574"/>
                    <a:pt x="0" y="2734413"/>
                  </a:cubicBezTo>
                  <a:lnTo>
                    <a:pt x="0" y="36506"/>
                  </a:lnTo>
                  <a:cubicBezTo>
                    <a:pt x="0" y="16344"/>
                    <a:pt x="16344" y="0"/>
                    <a:pt x="36506" y="0"/>
                  </a:cubicBezTo>
                  <a:close/>
                </a:path>
              </a:pathLst>
            </a:custGeom>
            <a:ln w="114300" cap="rnd">
              <a:solidFill>
                <a:srgbClr val="000000">
                  <a:alpha val="26667"/>
                </a:srgbClr>
              </a:solidFill>
              <a:prstDash val="solid"/>
              <a:round/>
            </a:ln>
          </p:spPr>
        </p:sp>
        <p:sp>
          <p:nvSpPr>
            <p:cNvPr name="TextBox 8" id="8"/>
            <p:cNvSpPr txBox="true"/>
            <p:nvPr/>
          </p:nvSpPr>
          <p:spPr>
            <a:xfrm>
              <a:off x="0" y="-47625"/>
              <a:ext cx="3422006" cy="281854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3247" y="0"/>
            <a:ext cx="5247300" cy="10287000"/>
          </a:xfrm>
          <a:custGeom>
            <a:avLst/>
            <a:gdLst/>
            <a:ahLst/>
            <a:cxnLst/>
            <a:rect r="r" b="b" t="t" l="l"/>
            <a:pathLst>
              <a:path h="10287000" w="5247300">
                <a:moveTo>
                  <a:pt x="0" y="0"/>
                </a:moveTo>
                <a:lnTo>
                  <a:pt x="5247300" y="0"/>
                </a:lnTo>
                <a:lnTo>
                  <a:pt x="5247300" y="10287000"/>
                </a:lnTo>
                <a:lnTo>
                  <a:pt x="0" y="10287000"/>
                </a:lnTo>
                <a:lnTo>
                  <a:pt x="0" y="0"/>
                </a:lnTo>
                <a:close/>
              </a:path>
            </a:pathLst>
          </a:custGeom>
          <a:blipFill>
            <a:blip r:embed="rId3"/>
            <a:stretch>
              <a:fillRect l="-123934" t="0" r="-70130" b="0"/>
            </a:stretch>
          </a:blipFill>
        </p:spPr>
      </p:sp>
      <p:sp>
        <p:nvSpPr>
          <p:cNvPr name="TextBox 10" id="10"/>
          <p:cNvSpPr txBox="true"/>
          <p:nvPr/>
        </p:nvSpPr>
        <p:spPr>
          <a:xfrm rot="0">
            <a:off x="6022461" y="1319652"/>
            <a:ext cx="10590743" cy="8519216"/>
          </a:xfrm>
          <a:prstGeom prst="rect">
            <a:avLst/>
          </a:prstGeom>
        </p:spPr>
        <p:txBody>
          <a:bodyPr anchor="t" rtlCol="false" tIns="0" lIns="0" bIns="0" rIns="0">
            <a:spAutoFit/>
          </a:bodyPr>
          <a:lstStyle/>
          <a:p>
            <a:pPr algn="l">
              <a:lnSpc>
                <a:spcPts val="5201"/>
              </a:lnSpc>
            </a:pPr>
            <a:r>
              <a:rPr lang="en-US" sz="3715">
                <a:solidFill>
                  <a:srgbClr val="FFFFFF"/>
                </a:solidFill>
                <a:latin typeface="Pridi"/>
                <a:ea typeface="Pridi"/>
                <a:cs typeface="Pridi"/>
                <a:sym typeface="Pridi"/>
              </a:rPr>
              <a:t>1.Neologizmlərin dilin inkişafında rolu</a:t>
            </a:r>
          </a:p>
          <a:p>
            <a:pPr algn="l">
              <a:lnSpc>
                <a:spcPts val="5201"/>
              </a:lnSpc>
            </a:pPr>
            <a:r>
              <a:rPr lang="en-US" sz="3715">
                <a:solidFill>
                  <a:srgbClr val="FFFFFF"/>
                </a:solidFill>
                <a:latin typeface="Pridi"/>
                <a:ea typeface="Pridi"/>
                <a:cs typeface="Pridi"/>
                <a:sym typeface="Pridi"/>
              </a:rPr>
              <a:t>  a) Neologizmlərin yaranma səbəbləri</a:t>
            </a:r>
          </a:p>
          <a:p>
            <a:pPr algn="l">
              <a:lnSpc>
                <a:spcPts val="5201"/>
              </a:lnSpc>
            </a:pPr>
            <a:r>
              <a:rPr lang="en-US" sz="3715">
                <a:solidFill>
                  <a:srgbClr val="FFFFFF"/>
                </a:solidFill>
                <a:latin typeface="Pridi"/>
                <a:ea typeface="Pridi"/>
                <a:cs typeface="Pridi"/>
                <a:sym typeface="Pridi"/>
              </a:rPr>
              <a:t>  b) Neologizmlərin yaranma yolları</a:t>
            </a:r>
          </a:p>
          <a:p>
            <a:pPr algn="l">
              <a:lnSpc>
                <a:spcPts val="5201"/>
              </a:lnSpc>
            </a:pPr>
            <a:r>
              <a:rPr lang="en-US" sz="3715">
                <a:solidFill>
                  <a:srgbClr val="FFFFFF"/>
                </a:solidFill>
                <a:latin typeface="Pridi"/>
                <a:ea typeface="Pridi"/>
                <a:cs typeface="Pridi"/>
                <a:sym typeface="Pridi"/>
              </a:rPr>
              <a:t>2.Müasir Azərbaycan</a:t>
            </a:r>
            <a:r>
              <a:rPr lang="en-US" sz="3715">
                <a:solidFill>
                  <a:srgbClr val="FFFFFF"/>
                </a:solidFill>
                <a:latin typeface="Pridi"/>
                <a:ea typeface="Pridi"/>
                <a:cs typeface="Pridi"/>
                <a:sym typeface="Pridi"/>
              </a:rPr>
              <a:t> dilində neologizmlərin leksik-semantik xüsusiyyətləri</a:t>
            </a:r>
          </a:p>
          <a:p>
            <a:pPr algn="l">
              <a:lnSpc>
                <a:spcPts val="5201"/>
              </a:lnSpc>
            </a:pPr>
            <a:r>
              <a:rPr lang="en-US" sz="3715">
                <a:solidFill>
                  <a:srgbClr val="FFFFFF"/>
                </a:solidFill>
                <a:latin typeface="Pridi"/>
                <a:ea typeface="Pridi"/>
                <a:cs typeface="Pridi"/>
                <a:sym typeface="Pridi"/>
              </a:rPr>
              <a:t>  a) Texnoloji sahə neologizmləri</a:t>
            </a:r>
          </a:p>
          <a:p>
            <a:pPr algn="l">
              <a:lnSpc>
                <a:spcPts val="5201"/>
              </a:lnSpc>
            </a:pPr>
            <a:r>
              <a:rPr lang="en-US" sz="3715">
                <a:solidFill>
                  <a:srgbClr val="FFFFFF"/>
                </a:solidFill>
                <a:latin typeface="Pridi"/>
                <a:ea typeface="Pridi"/>
                <a:cs typeface="Pridi"/>
                <a:sym typeface="Pridi"/>
              </a:rPr>
              <a:t>  b) Sosial və siyasi leksika</a:t>
            </a:r>
          </a:p>
          <a:p>
            <a:pPr algn="l">
              <a:lnSpc>
                <a:spcPts val="5201"/>
              </a:lnSpc>
            </a:pPr>
            <a:r>
              <a:rPr lang="en-US" sz="3715">
                <a:solidFill>
                  <a:srgbClr val="FFFFFF"/>
                </a:solidFill>
                <a:latin typeface="Pridi"/>
                <a:ea typeface="Pridi"/>
                <a:cs typeface="Pridi"/>
                <a:sym typeface="Pridi"/>
              </a:rPr>
              <a:t>  c) Mədəni və gündəlik leksika</a:t>
            </a:r>
          </a:p>
          <a:p>
            <a:pPr algn="l">
              <a:lnSpc>
                <a:spcPts val="5201"/>
              </a:lnSpc>
            </a:pPr>
            <a:r>
              <a:rPr lang="en-US" sz="3715">
                <a:solidFill>
                  <a:srgbClr val="FFFFFF"/>
                </a:solidFill>
                <a:latin typeface="Pridi"/>
                <a:ea typeface="Pridi"/>
                <a:cs typeface="Pridi"/>
                <a:sym typeface="Pridi"/>
              </a:rPr>
              <a:t>3.Yeni sözlərin ədəbi norma ilə uyğunlaşdırılması zərurəti</a:t>
            </a:r>
          </a:p>
          <a:p>
            <a:pPr algn="l">
              <a:lnSpc>
                <a:spcPts val="5201"/>
              </a:lnSpc>
            </a:pPr>
            <a:r>
              <a:rPr lang="en-US" sz="3715">
                <a:solidFill>
                  <a:srgbClr val="FFFFFF"/>
                </a:solidFill>
                <a:latin typeface="Pridi"/>
                <a:ea typeface="Pridi"/>
                <a:cs typeface="Pridi"/>
                <a:sym typeface="Pridi"/>
              </a:rPr>
              <a:t>  a) Azərbaycan dilində alınmaların              mənimsənilmə prosesi</a:t>
            </a:r>
          </a:p>
          <a:p>
            <a:pPr algn="l">
              <a:lnSpc>
                <a:spcPts val="5201"/>
              </a:lnSpc>
            </a:pPr>
            <a:r>
              <a:rPr lang="en-US" sz="3715">
                <a:solidFill>
                  <a:srgbClr val="FFFFFF"/>
                </a:solidFill>
                <a:latin typeface="Pridi"/>
                <a:ea typeface="Pridi"/>
                <a:cs typeface="Pridi"/>
                <a:sym typeface="Pridi"/>
              </a:rPr>
              <a:t>  b) Dildə paralel leksika</a:t>
            </a:r>
          </a:p>
        </p:txBody>
      </p:sp>
      <p:sp>
        <p:nvSpPr>
          <p:cNvPr name="TextBox 11" id="11"/>
          <p:cNvSpPr txBox="true"/>
          <p:nvPr/>
        </p:nvSpPr>
        <p:spPr>
          <a:xfrm rot="0">
            <a:off x="5581783" y="222161"/>
            <a:ext cx="1723659" cy="806539"/>
          </a:xfrm>
          <a:prstGeom prst="rect">
            <a:avLst/>
          </a:prstGeom>
        </p:spPr>
        <p:txBody>
          <a:bodyPr anchor="t" rtlCol="false" tIns="0" lIns="0" bIns="0" rIns="0">
            <a:spAutoFit/>
          </a:bodyPr>
          <a:lstStyle/>
          <a:p>
            <a:pPr algn="l">
              <a:lnSpc>
                <a:spcPts val="6502"/>
              </a:lnSpc>
              <a:spcBef>
                <a:spcPct val="0"/>
              </a:spcBef>
            </a:pPr>
            <a:r>
              <a:rPr lang="en-US" b="true" sz="4644">
                <a:solidFill>
                  <a:srgbClr val="FFFFFF"/>
                </a:solidFill>
                <a:latin typeface="Zilla Slab Bold"/>
                <a:ea typeface="Zilla Slab Bold"/>
                <a:cs typeface="Zilla Slab Bold"/>
                <a:sym typeface="Zilla Slab Bold"/>
              </a:rPr>
              <a:t>Plan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247" y="0"/>
            <a:ext cx="18294494" cy="10287000"/>
          </a:xfrm>
          <a:custGeom>
            <a:avLst/>
            <a:gdLst/>
            <a:ahLst/>
            <a:cxnLst/>
            <a:rect r="r" b="b" t="t" l="l"/>
            <a:pathLst>
              <a:path h="10287000" w="18294494">
                <a:moveTo>
                  <a:pt x="18294494" y="10287000"/>
                </a:moveTo>
                <a:lnTo>
                  <a:pt x="0" y="10287000"/>
                </a:lnTo>
                <a:lnTo>
                  <a:pt x="0" y="0"/>
                </a:lnTo>
                <a:lnTo>
                  <a:pt x="18294494" y="0"/>
                </a:lnTo>
                <a:lnTo>
                  <a:pt x="18294494" y="10287000"/>
                </a:lnTo>
                <a:close/>
              </a:path>
            </a:pathLst>
          </a:custGeom>
          <a:blipFill>
            <a:blip r:embed="rId2"/>
            <a:stretch>
              <a:fillRect l="0" t="0" r="0" b="0"/>
            </a:stretch>
          </a:blipFill>
        </p:spPr>
      </p:sp>
      <p:grpSp>
        <p:nvGrpSpPr>
          <p:cNvPr name="Group 3" id="3"/>
          <p:cNvGrpSpPr/>
          <p:nvPr/>
        </p:nvGrpSpPr>
        <p:grpSpPr>
          <a:xfrm rot="0">
            <a:off x="472736" y="1357446"/>
            <a:ext cx="8057521" cy="5029517"/>
            <a:chOff x="0" y="0"/>
            <a:chExt cx="3454916" cy="2156564"/>
          </a:xfrm>
        </p:grpSpPr>
        <p:sp>
          <p:nvSpPr>
            <p:cNvPr name="Freeform 4" id="4"/>
            <p:cNvSpPr/>
            <p:nvPr/>
          </p:nvSpPr>
          <p:spPr>
            <a:xfrm flipH="false" flipV="false" rot="0">
              <a:off x="0" y="0"/>
              <a:ext cx="3454916" cy="2156564"/>
            </a:xfrm>
            <a:custGeom>
              <a:avLst/>
              <a:gdLst/>
              <a:ahLst/>
              <a:cxnLst/>
              <a:rect r="r" b="b" t="t" l="l"/>
              <a:pathLst>
                <a:path h="2156564" w="3454916">
                  <a:moveTo>
                    <a:pt x="49963" y="0"/>
                  </a:moveTo>
                  <a:lnTo>
                    <a:pt x="3404953" y="0"/>
                  </a:lnTo>
                  <a:cubicBezTo>
                    <a:pt x="3418204" y="0"/>
                    <a:pt x="3430912" y="5264"/>
                    <a:pt x="3440282" y="14634"/>
                  </a:cubicBezTo>
                  <a:cubicBezTo>
                    <a:pt x="3449652" y="24004"/>
                    <a:pt x="3454916" y="36712"/>
                    <a:pt x="3454916" y="49963"/>
                  </a:cubicBezTo>
                  <a:lnTo>
                    <a:pt x="3454916" y="2106601"/>
                  </a:lnTo>
                  <a:cubicBezTo>
                    <a:pt x="3454916" y="2119852"/>
                    <a:pt x="3449652" y="2132560"/>
                    <a:pt x="3440282" y="2141930"/>
                  </a:cubicBezTo>
                  <a:cubicBezTo>
                    <a:pt x="3430912" y="2151300"/>
                    <a:pt x="3418204" y="2156564"/>
                    <a:pt x="3404953" y="2156564"/>
                  </a:cubicBezTo>
                  <a:lnTo>
                    <a:pt x="49963" y="2156564"/>
                  </a:lnTo>
                  <a:cubicBezTo>
                    <a:pt x="36712" y="2156564"/>
                    <a:pt x="24004" y="2151300"/>
                    <a:pt x="14634" y="2141930"/>
                  </a:cubicBezTo>
                  <a:cubicBezTo>
                    <a:pt x="5264" y="2132560"/>
                    <a:pt x="0" y="2119852"/>
                    <a:pt x="0" y="2106601"/>
                  </a:cubicBezTo>
                  <a:lnTo>
                    <a:pt x="0" y="49963"/>
                  </a:lnTo>
                  <a:cubicBezTo>
                    <a:pt x="0" y="36712"/>
                    <a:pt x="5264" y="24004"/>
                    <a:pt x="14634" y="14634"/>
                  </a:cubicBezTo>
                  <a:cubicBezTo>
                    <a:pt x="24004" y="5264"/>
                    <a:pt x="36712" y="0"/>
                    <a:pt x="49963" y="0"/>
                  </a:cubicBezTo>
                  <a:close/>
                </a:path>
              </a:pathLst>
            </a:custGeom>
            <a:solidFill>
              <a:srgbClr val="093F9A">
                <a:alpha val="81961"/>
              </a:srgbClr>
            </a:solidFill>
            <a:ln cap="rnd">
              <a:noFill/>
              <a:prstDash val="solid"/>
              <a:round/>
            </a:ln>
          </p:spPr>
        </p:sp>
        <p:sp>
          <p:nvSpPr>
            <p:cNvPr name="TextBox 5" id="5"/>
            <p:cNvSpPr txBox="true"/>
            <p:nvPr/>
          </p:nvSpPr>
          <p:spPr>
            <a:xfrm>
              <a:off x="0" y="-47625"/>
              <a:ext cx="3454916" cy="2204189"/>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475421" y="1357446"/>
            <a:ext cx="8057521" cy="5029517"/>
            <a:chOff x="0" y="0"/>
            <a:chExt cx="3454916" cy="2156564"/>
          </a:xfrm>
        </p:grpSpPr>
        <p:sp>
          <p:nvSpPr>
            <p:cNvPr name="Freeform 7" id="7"/>
            <p:cNvSpPr/>
            <p:nvPr/>
          </p:nvSpPr>
          <p:spPr>
            <a:xfrm flipH="false" flipV="false" rot="0">
              <a:off x="0" y="0"/>
              <a:ext cx="3454916" cy="2156564"/>
            </a:xfrm>
            <a:custGeom>
              <a:avLst/>
              <a:gdLst/>
              <a:ahLst/>
              <a:cxnLst/>
              <a:rect r="r" b="b" t="t" l="l"/>
              <a:pathLst>
                <a:path h="2156564" w="3454916">
                  <a:moveTo>
                    <a:pt x="49963" y="0"/>
                  </a:moveTo>
                  <a:lnTo>
                    <a:pt x="3404953" y="0"/>
                  </a:lnTo>
                  <a:cubicBezTo>
                    <a:pt x="3418204" y="0"/>
                    <a:pt x="3430912" y="5264"/>
                    <a:pt x="3440282" y="14634"/>
                  </a:cubicBezTo>
                  <a:cubicBezTo>
                    <a:pt x="3449652" y="24004"/>
                    <a:pt x="3454916" y="36712"/>
                    <a:pt x="3454916" y="49963"/>
                  </a:cubicBezTo>
                  <a:lnTo>
                    <a:pt x="3454916" y="2106601"/>
                  </a:lnTo>
                  <a:cubicBezTo>
                    <a:pt x="3454916" y="2119852"/>
                    <a:pt x="3449652" y="2132560"/>
                    <a:pt x="3440282" y="2141930"/>
                  </a:cubicBezTo>
                  <a:cubicBezTo>
                    <a:pt x="3430912" y="2151300"/>
                    <a:pt x="3418204" y="2156564"/>
                    <a:pt x="3404953" y="2156564"/>
                  </a:cubicBezTo>
                  <a:lnTo>
                    <a:pt x="49963" y="2156564"/>
                  </a:lnTo>
                  <a:cubicBezTo>
                    <a:pt x="36712" y="2156564"/>
                    <a:pt x="24004" y="2151300"/>
                    <a:pt x="14634" y="2141930"/>
                  </a:cubicBezTo>
                  <a:cubicBezTo>
                    <a:pt x="5264" y="2132560"/>
                    <a:pt x="0" y="2119852"/>
                    <a:pt x="0" y="2106601"/>
                  </a:cubicBezTo>
                  <a:lnTo>
                    <a:pt x="0" y="49963"/>
                  </a:lnTo>
                  <a:cubicBezTo>
                    <a:pt x="0" y="36712"/>
                    <a:pt x="5264" y="24004"/>
                    <a:pt x="14634" y="14634"/>
                  </a:cubicBezTo>
                  <a:cubicBezTo>
                    <a:pt x="24004" y="5264"/>
                    <a:pt x="36712" y="0"/>
                    <a:pt x="49963" y="0"/>
                  </a:cubicBezTo>
                  <a:close/>
                </a:path>
              </a:pathLst>
            </a:custGeom>
            <a:ln w="114300" cap="rnd">
              <a:solidFill>
                <a:srgbClr val="000000">
                  <a:alpha val="26667"/>
                </a:srgbClr>
              </a:solidFill>
              <a:prstDash val="solid"/>
              <a:round/>
            </a:ln>
          </p:spPr>
        </p:sp>
        <p:sp>
          <p:nvSpPr>
            <p:cNvPr name="TextBox 8" id="8"/>
            <p:cNvSpPr txBox="true"/>
            <p:nvPr/>
          </p:nvSpPr>
          <p:spPr>
            <a:xfrm>
              <a:off x="0" y="-47625"/>
              <a:ext cx="3454916" cy="2204189"/>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8750292" y="1357446"/>
            <a:ext cx="9114102" cy="5029517"/>
            <a:chOff x="0" y="0"/>
            <a:chExt cx="3161902" cy="1744861"/>
          </a:xfrm>
        </p:grpSpPr>
        <p:sp>
          <p:nvSpPr>
            <p:cNvPr name="Freeform 10" id="10"/>
            <p:cNvSpPr/>
            <p:nvPr/>
          </p:nvSpPr>
          <p:spPr>
            <a:xfrm flipH="false" flipV="false" rot="0">
              <a:off x="0" y="0"/>
              <a:ext cx="3161902" cy="1744861"/>
            </a:xfrm>
            <a:custGeom>
              <a:avLst/>
              <a:gdLst/>
              <a:ahLst/>
              <a:cxnLst/>
              <a:rect r="r" b="b" t="t" l="l"/>
              <a:pathLst>
                <a:path h="1744861" w="3161902">
                  <a:moveTo>
                    <a:pt x="44171" y="0"/>
                  </a:moveTo>
                  <a:lnTo>
                    <a:pt x="3117731" y="0"/>
                  </a:lnTo>
                  <a:cubicBezTo>
                    <a:pt x="3129446" y="0"/>
                    <a:pt x="3140681" y="4654"/>
                    <a:pt x="3148965" y="12937"/>
                  </a:cubicBezTo>
                  <a:cubicBezTo>
                    <a:pt x="3157248" y="21221"/>
                    <a:pt x="3161902" y="32456"/>
                    <a:pt x="3161902" y="44171"/>
                  </a:cubicBezTo>
                  <a:lnTo>
                    <a:pt x="3161902" y="1700690"/>
                  </a:lnTo>
                  <a:cubicBezTo>
                    <a:pt x="3161902" y="1725085"/>
                    <a:pt x="3142126" y="1744861"/>
                    <a:pt x="3117731" y="1744861"/>
                  </a:cubicBezTo>
                  <a:lnTo>
                    <a:pt x="44171" y="1744861"/>
                  </a:lnTo>
                  <a:cubicBezTo>
                    <a:pt x="32456" y="1744861"/>
                    <a:pt x="21221" y="1740207"/>
                    <a:pt x="12937" y="1731924"/>
                  </a:cubicBezTo>
                  <a:cubicBezTo>
                    <a:pt x="4654" y="1723640"/>
                    <a:pt x="0" y="1712405"/>
                    <a:pt x="0" y="1700690"/>
                  </a:cubicBezTo>
                  <a:lnTo>
                    <a:pt x="0" y="44171"/>
                  </a:lnTo>
                  <a:cubicBezTo>
                    <a:pt x="0" y="32456"/>
                    <a:pt x="4654" y="21221"/>
                    <a:pt x="12937" y="12937"/>
                  </a:cubicBezTo>
                  <a:cubicBezTo>
                    <a:pt x="21221" y="4654"/>
                    <a:pt x="32456" y="0"/>
                    <a:pt x="44171" y="0"/>
                  </a:cubicBezTo>
                  <a:close/>
                </a:path>
              </a:pathLst>
            </a:custGeom>
            <a:solidFill>
              <a:srgbClr val="093F9A">
                <a:alpha val="81961"/>
              </a:srgbClr>
            </a:solidFill>
            <a:ln cap="rnd">
              <a:noFill/>
              <a:prstDash val="solid"/>
              <a:round/>
            </a:ln>
          </p:spPr>
        </p:sp>
        <p:sp>
          <p:nvSpPr>
            <p:cNvPr name="TextBox 11" id="11"/>
            <p:cNvSpPr txBox="true"/>
            <p:nvPr/>
          </p:nvSpPr>
          <p:spPr>
            <a:xfrm>
              <a:off x="0" y="-47625"/>
              <a:ext cx="3161902" cy="1792486"/>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8753329" y="1357446"/>
            <a:ext cx="9114102" cy="5029517"/>
            <a:chOff x="0" y="0"/>
            <a:chExt cx="3161902" cy="1744861"/>
          </a:xfrm>
        </p:grpSpPr>
        <p:sp>
          <p:nvSpPr>
            <p:cNvPr name="Freeform 13" id="13"/>
            <p:cNvSpPr/>
            <p:nvPr/>
          </p:nvSpPr>
          <p:spPr>
            <a:xfrm flipH="false" flipV="false" rot="0">
              <a:off x="0" y="0"/>
              <a:ext cx="3161902" cy="1744861"/>
            </a:xfrm>
            <a:custGeom>
              <a:avLst/>
              <a:gdLst/>
              <a:ahLst/>
              <a:cxnLst/>
              <a:rect r="r" b="b" t="t" l="l"/>
              <a:pathLst>
                <a:path h="1744861" w="3161902">
                  <a:moveTo>
                    <a:pt x="44171" y="0"/>
                  </a:moveTo>
                  <a:lnTo>
                    <a:pt x="3117731" y="0"/>
                  </a:lnTo>
                  <a:cubicBezTo>
                    <a:pt x="3129446" y="0"/>
                    <a:pt x="3140681" y="4654"/>
                    <a:pt x="3148965" y="12937"/>
                  </a:cubicBezTo>
                  <a:cubicBezTo>
                    <a:pt x="3157248" y="21221"/>
                    <a:pt x="3161902" y="32456"/>
                    <a:pt x="3161902" y="44171"/>
                  </a:cubicBezTo>
                  <a:lnTo>
                    <a:pt x="3161902" y="1700690"/>
                  </a:lnTo>
                  <a:cubicBezTo>
                    <a:pt x="3161902" y="1725085"/>
                    <a:pt x="3142126" y="1744861"/>
                    <a:pt x="3117731" y="1744861"/>
                  </a:cubicBezTo>
                  <a:lnTo>
                    <a:pt x="44171" y="1744861"/>
                  </a:lnTo>
                  <a:cubicBezTo>
                    <a:pt x="32456" y="1744861"/>
                    <a:pt x="21221" y="1740207"/>
                    <a:pt x="12937" y="1731924"/>
                  </a:cubicBezTo>
                  <a:cubicBezTo>
                    <a:pt x="4654" y="1723640"/>
                    <a:pt x="0" y="1712405"/>
                    <a:pt x="0" y="1700690"/>
                  </a:cubicBezTo>
                  <a:lnTo>
                    <a:pt x="0" y="44171"/>
                  </a:lnTo>
                  <a:cubicBezTo>
                    <a:pt x="0" y="32456"/>
                    <a:pt x="4654" y="21221"/>
                    <a:pt x="12937" y="12937"/>
                  </a:cubicBezTo>
                  <a:cubicBezTo>
                    <a:pt x="21221" y="4654"/>
                    <a:pt x="32456" y="0"/>
                    <a:pt x="44171" y="0"/>
                  </a:cubicBezTo>
                  <a:close/>
                </a:path>
              </a:pathLst>
            </a:custGeom>
            <a:ln w="114300" cap="rnd">
              <a:solidFill>
                <a:srgbClr val="000000">
                  <a:alpha val="26667"/>
                </a:srgbClr>
              </a:solidFill>
              <a:prstDash val="solid"/>
              <a:round/>
            </a:ln>
          </p:spPr>
        </p:sp>
        <p:sp>
          <p:nvSpPr>
            <p:cNvPr name="TextBox 14" id="14"/>
            <p:cNvSpPr txBox="true"/>
            <p:nvPr/>
          </p:nvSpPr>
          <p:spPr>
            <a:xfrm>
              <a:off x="0" y="-47625"/>
              <a:ext cx="3161902" cy="1792486"/>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0" y="6720338"/>
            <a:ext cx="18291247" cy="3566662"/>
            <a:chOff x="0" y="0"/>
            <a:chExt cx="6345675" cy="1237361"/>
          </a:xfrm>
        </p:grpSpPr>
        <p:sp>
          <p:nvSpPr>
            <p:cNvPr name="Freeform 16" id="16"/>
            <p:cNvSpPr/>
            <p:nvPr/>
          </p:nvSpPr>
          <p:spPr>
            <a:xfrm flipH="false" flipV="false" rot="0">
              <a:off x="0" y="0"/>
              <a:ext cx="6345675" cy="1237361"/>
            </a:xfrm>
            <a:custGeom>
              <a:avLst/>
              <a:gdLst/>
              <a:ahLst/>
              <a:cxnLst/>
              <a:rect r="r" b="b" t="t" l="l"/>
              <a:pathLst>
                <a:path h="1237361" w="6345675">
                  <a:moveTo>
                    <a:pt x="0" y="0"/>
                  </a:moveTo>
                  <a:lnTo>
                    <a:pt x="6345675" y="0"/>
                  </a:lnTo>
                  <a:lnTo>
                    <a:pt x="6345675" y="1237361"/>
                  </a:lnTo>
                  <a:lnTo>
                    <a:pt x="0" y="1237361"/>
                  </a:lnTo>
                  <a:close/>
                </a:path>
              </a:pathLst>
            </a:custGeom>
            <a:solidFill>
              <a:srgbClr val="093F9A">
                <a:alpha val="32941"/>
              </a:srgbClr>
            </a:solidFill>
            <a:ln cap="sq">
              <a:noFill/>
              <a:prstDash val="solid"/>
              <a:miter/>
            </a:ln>
          </p:spPr>
        </p:sp>
        <p:sp>
          <p:nvSpPr>
            <p:cNvPr name="TextBox 17" id="17"/>
            <p:cNvSpPr txBox="true"/>
            <p:nvPr/>
          </p:nvSpPr>
          <p:spPr>
            <a:xfrm>
              <a:off x="0" y="-47625"/>
              <a:ext cx="6345675" cy="1284986"/>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3513553" y="7331811"/>
            <a:ext cx="2530402" cy="2530402"/>
          </a:xfrm>
          <a:custGeom>
            <a:avLst/>
            <a:gdLst/>
            <a:ahLst/>
            <a:cxnLst/>
            <a:rect r="r" b="b" t="t" l="l"/>
            <a:pathLst>
              <a:path h="2530402" w="2530402">
                <a:moveTo>
                  <a:pt x="0" y="0"/>
                </a:moveTo>
                <a:lnTo>
                  <a:pt x="2530403" y="0"/>
                </a:lnTo>
                <a:lnTo>
                  <a:pt x="2530403" y="2530403"/>
                </a:lnTo>
                <a:lnTo>
                  <a:pt x="0" y="2530403"/>
                </a:lnTo>
                <a:lnTo>
                  <a:pt x="0" y="0"/>
                </a:lnTo>
                <a:close/>
              </a:path>
            </a:pathLst>
          </a:custGeom>
          <a:blipFill>
            <a:blip r:embed="rId3"/>
            <a:stretch>
              <a:fillRect l="0" t="0" r="0" b="0"/>
            </a:stretch>
          </a:blipFill>
        </p:spPr>
      </p:sp>
      <p:sp>
        <p:nvSpPr>
          <p:cNvPr name="Freeform 19" id="19"/>
          <p:cNvSpPr/>
          <p:nvPr/>
        </p:nvSpPr>
        <p:spPr>
          <a:xfrm flipH="false" flipV="false" rot="0">
            <a:off x="7072656" y="7331811"/>
            <a:ext cx="3293116" cy="2343715"/>
          </a:xfrm>
          <a:custGeom>
            <a:avLst/>
            <a:gdLst/>
            <a:ahLst/>
            <a:cxnLst/>
            <a:rect r="r" b="b" t="t" l="l"/>
            <a:pathLst>
              <a:path h="2343715" w="3293116">
                <a:moveTo>
                  <a:pt x="0" y="0"/>
                </a:moveTo>
                <a:lnTo>
                  <a:pt x="3293116" y="0"/>
                </a:lnTo>
                <a:lnTo>
                  <a:pt x="3293116" y="2343715"/>
                </a:lnTo>
                <a:lnTo>
                  <a:pt x="0" y="2343715"/>
                </a:lnTo>
                <a:lnTo>
                  <a:pt x="0" y="0"/>
                </a:lnTo>
                <a:close/>
              </a:path>
            </a:pathLst>
          </a:custGeom>
          <a:blipFill>
            <a:blip r:embed="rId4"/>
            <a:stretch>
              <a:fillRect l="0" t="-16610" r="0" b="-23898"/>
            </a:stretch>
          </a:blipFill>
        </p:spPr>
      </p:sp>
      <p:sp>
        <p:nvSpPr>
          <p:cNvPr name="Freeform 20" id="20"/>
          <p:cNvSpPr/>
          <p:nvPr/>
        </p:nvSpPr>
        <p:spPr>
          <a:xfrm flipH="false" flipV="false" rot="0">
            <a:off x="11389757" y="6720338"/>
            <a:ext cx="3566662" cy="3566662"/>
          </a:xfrm>
          <a:custGeom>
            <a:avLst/>
            <a:gdLst/>
            <a:ahLst/>
            <a:cxnLst/>
            <a:rect r="r" b="b" t="t" l="l"/>
            <a:pathLst>
              <a:path h="3566662" w="3566662">
                <a:moveTo>
                  <a:pt x="0" y="0"/>
                </a:moveTo>
                <a:lnTo>
                  <a:pt x="3566662" y="0"/>
                </a:lnTo>
                <a:lnTo>
                  <a:pt x="3566662" y="3566662"/>
                </a:lnTo>
                <a:lnTo>
                  <a:pt x="0" y="3566662"/>
                </a:lnTo>
                <a:lnTo>
                  <a:pt x="0" y="0"/>
                </a:lnTo>
                <a:close/>
              </a:path>
            </a:pathLst>
          </a:custGeom>
          <a:blipFill>
            <a:blip r:embed="rId5"/>
            <a:stretch>
              <a:fillRect l="0" t="0" r="0" b="0"/>
            </a:stretch>
          </a:blipFill>
        </p:spPr>
      </p:sp>
      <p:sp>
        <p:nvSpPr>
          <p:cNvPr name="TextBox 21" id="21"/>
          <p:cNvSpPr txBox="true"/>
          <p:nvPr/>
        </p:nvSpPr>
        <p:spPr>
          <a:xfrm rot="0">
            <a:off x="808396" y="1579968"/>
            <a:ext cx="7391572" cy="4540248"/>
          </a:xfrm>
          <a:prstGeom prst="rect">
            <a:avLst/>
          </a:prstGeom>
        </p:spPr>
        <p:txBody>
          <a:bodyPr anchor="t" rtlCol="false" tIns="0" lIns="0" bIns="0" rIns="0">
            <a:spAutoFit/>
          </a:bodyPr>
          <a:lstStyle/>
          <a:p>
            <a:pPr algn="ctr">
              <a:lnSpc>
                <a:spcPts val="4010"/>
              </a:lnSpc>
            </a:pPr>
            <a:r>
              <a:rPr lang="en-US" sz="2864">
                <a:solidFill>
                  <a:srgbClr val="FFFFFF"/>
                </a:solidFill>
                <a:latin typeface="Zilla Slab"/>
                <a:ea typeface="Zilla Slab"/>
                <a:cs typeface="Zilla Slab"/>
                <a:sym typeface="Zilla Slab"/>
              </a:rPr>
              <a:t>Neologizmlər dilin inkişafında əsas yeniləşmə mexanizmlərindən biridir. Onlar yeni anlayışları adlandırmaqla</a:t>
            </a:r>
            <a:r>
              <a:rPr lang="en-US" sz="2864">
                <a:solidFill>
                  <a:srgbClr val="FFFFFF"/>
                </a:solidFill>
                <a:latin typeface="Zilla Slab"/>
                <a:ea typeface="Zilla Slab"/>
                <a:cs typeface="Zilla Slab"/>
                <a:sym typeface="Zilla Slab"/>
              </a:rPr>
              <a:t> lüğət tərkibini zənginləşdirir və dilin ifadə imkanlarını genişləndirir. Bu yalnız “yeni söz” deyil, dilin dövrə uyğunlaşma mexanizmidir və cəmiyyətin dəyişən həyat tərzini, elmi-texniki tərəqqini və siyasi-mədəni yenilikləri dildə əks etdirir.</a:t>
            </a:r>
          </a:p>
        </p:txBody>
      </p:sp>
      <p:sp>
        <p:nvSpPr>
          <p:cNvPr name="TextBox 22" id="22"/>
          <p:cNvSpPr txBox="true"/>
          <p:nvPr/>
        </p:nvSpPr>
        <p:spPr>
          <a:xfrm rot="0">
            <a:off x="4327966" y="222161"/>
            <a:ext cx="10140413" cy="806539"/>
          </a:xfrm>
          <a:prstGeom prst="rect">
            <a:avLst/>
          </a:prstGeom>
        </p:spPr>
        <p:txBody>
          <a:bodyPr anchor="t" rtlCol="false" tIns="0" lIns="0" bIns="0" rIns="0">
            <a:spAutoFit/>
          </a:bodyPr>
          <a:lstStyle/>
          <a:p>
            <a:pPr algn="l">
              <a:lnSpc>
                <a:spcPts val="6502"/>
              </a:lnSpc>
              <a:spcBef>
                <a:spcPct val="0"/>
              </a:spcBef>
            </a:pPr>
            <a:r>
              <a:rPr lang="en-US" b="true" sz="4644">
                <a:solidFill>
                  <a:srgbClr val="FFFFFF"/>
                </a:solidFill>
                <a:latin typeface="Zilla Slab Bold"/>
                <a:ea typeface="Zilla Slab Bold"/>
                <a:cs typeface="Zilla Slab Bold"/>
                <a:sym typeface="Zilla Slab Bold"/>
              </a:rPr>
              <a:t>Neologizmlərin di</a:t>
            </a:r>
            <a:r>
              <a:rPr lang="en-US" b="true" sz="4644">
                <a:solidFill>
                  <a:srgbClr val="FFFFFF"/>
                </a:solidFill>
                <a:latin typeface="Zilla Slab Bold"/>
                <a:ea typeface="Zilla Slab Bold"/>
                <a:cs typeface="Zilla Slab Bold"/>
                <a:sym typeface="Zilla Slab Bold"/>
              </a:rPr>
              <a:t>lin inkişafında rolu</a:t>
            </a:r>
          </a:p>
        </p:txBody>
      </p:sp>
      <p:sp>
        <p:nvSpPr>
          <p:cNvPr name="TextBox 23" id="23"/>
          <p:cNvSpPr txBox="true"/>
          <p:nvPr/>
        </p:nvSpPr>
        <p:spPr>
          <a:xfrm rot="0">
            <a:off x="9110546" y="1604338"/>
            <a:ext cx="8393593" cy="4481983"/>
          </a:xfrm>
          <a:prstGeom prst="rect">
            <a:avLst/>
          </a:prstGeom>
        </p:spPr>
        <p:txBody>
          <a:bodyPr anchor="t" rtlCol="false" tIns="0" lIns="0" bIns="0" rIns="0">
            <a:spAutoFit/>
          </a:bodyPr>
          <a:lstStyle/>
          <a:p>
            <a:pPr algn="ctr">
              <a:lnSpc>
                <a:spcPts val="4436"/>
              </a:lnSpc>
            </a:pPr>
            <a:r>
              <a:rPr lang="en-US" sz="3168">
                <a:solidFill>
                  <a:srgbClr val="FFFFFF"/>
                </a:solidFill>
                <a:latin typeface="Zilla Slab"/>
                <a:ea typeface="Zilla Slab"/>
                <a:cs typeface="Zilla Slab"/>
                <a:sym typeface="Zilla Slab"/>
              </a:rPr>
              <a:t>Müasir dövrdə baş verən dəyişikliklər dilə birbaşa</a:t>
            </a:r>
            <a:r>
              <a:rPr lang="en-US" sz="3168">
                <a:solidFill>
                  <a:srgbClr val="FFFFFF"/>
                </a:solidFill>
                <a:latin typeface="Zilla Slab"/>
                <a:ea typeface="Zilla Slab"/>
                <a:cs typeface="Zilla Slab"/>
                <a:sym typeface="Zilla Slab"/>
              </a:rPr>
              <a:t> təsir göstərir. Xüsusilə kompyuter və informasiya texnologiyalarının inkişafı ilə bağlı kompüter, internet, smartfon, noutbuk, fayl, printer, proqram, onlayn, platforma kimi sözlər yaranmış və ya dilə daxil olmuşdur. Bu sözlər yeni texnoloji anlayışları ifadə edərək dilin yenilənməsinə xidmət edir.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247" y="0"/>
            <a:ext cx="18294494" cy="10287000"/>
          </a:xfrm>
          <a:custGeom>
            <a:avLst/>
            <a:gdLst/>
            <a:ahLst/>
            <a:cxnLst/>
            <a:rect r="r" b="b" t="t" l="l"/>
            <a:pathLst>
              <a:path h="10287000" w="18294494">
                <a:moveTo>
                  <a:pt x="18294494" y="10287000"/>
                </a:moveTo>
                <a:lnTo>
                  <a:pt x="0" y="10287000"/>
                </a:lnTo>
                <a:lnTo>
                  <a:pt x="0" y="0"/>
                </a:lnTo>
                <a:lnTo>
                  <a:pt x="18294494" y="0"/>
                </a:lnTo>
                <a:lnTo>
                  <a:pt x="18294494" y="10287000"/>
                </a:lnTo>
                <a:close/>
              </a:path>
            </a:pathLst>
          </a:custGeom>
          <a:blipFill>
            <a:blip r:embed="rId2"/>
            <a:stretch>
              <a:fillRect l="0" t="0" r="0" b="0"/>
            </a:stretch>
          </a:blipFill>
        </p:spPr>
      </p:sp>
      <p:grpSp>
        <p:nvGrpSpPr>
          <p:cNvPr name="Group 3" id="3"/>
          <p:cNvGrpSpPr/>
          <p:nvPr/>
        </p:nvGrpSpPr>
        <p:grpSpPr>
          <a:xfrm rot="0">
            <a:off x="0" y="0"/>
            <a:ext cx="18291247" cy="10287000"/>
            <a:chOff x="0" y="0"/>
            <a:chExt cx="6345675" cy="3568809"/>
          </a:xfrm>
        </p:grpSpPr>
        <p:sp>
          <p:nvSpPr>
            <p:cNvPr name="Freeform 4" id="4"/>
            <p:cNvSpPr/>
            <p:nvPr/>
          </p:nvSpPr>
          <p:spPr>
            <a:xfrm flipH="false" flipV="false" rot="0">
              <a:off x="0" y="0"/>
              <a:ext cx="6345675" cy="3568809"/>
            </a:xfrm>
            <a:custGeom>
              <a:avLst/>
              <a:gdLst/>
              <a:ahLst/>
              <a:cxnLst/>
              <a:rect r="r" b="b" t="t" l="l"/>
              <a:pathLst>
                <a:path h="3568809" w="6345675">
                  <a:moveTo>
                    <a:pt x="0" y="0"/>
                  </a:moveTo>
                  <a:lnTo>
                    <a:pt x="6345675" y="0"/>
                  </a:lnTo>
                  <a:lnTo>
                    <a:pt x="6345675" y="3568809"/>
                  </a:lnTo>
                  <a:lnTo>
                    <a:pt x="0" y="3568809"/>
                  </a:lnTo>
                  <a:close/>
                </a:path>
              </a:pathLst>
            </a:custGeom>
            <a:solidFill>
              <a:srgbClr val="093F9A">
                <a:alpha val="21961"/>
              </a:srgbClr>
            </a:solidFill>
            <a:ln cap="sq">
              <a:noFill/>
              <a:prstDash val="solid"/>
              <a:miter/>
            </a:ln>
          </p:spPr>
        </p:sp>
        <p:sp>
          <p:nvSpPr>
            <p:cNvPr name="TextBox 5" id="5"/>
            <p:cNvSpPr txBox="true"/>
            <p:nvPr/>
          </p:nvSpPr>
          <p:spPr>
            <a:xfrm>
              <a:off x="0" y="-47625"/>
              <a:ext cx="6345675" cy="3616434"/>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472736" y="1357446"/>
            <a:ext cx="8057521" cy="5029517"/>
            <a:chOff x="0" y="0"/>
            <a:chExt cx="3454916" cy="2156564"/>
          </a:xfrm>
        </p:grpSpPr>
        <p:sp>
          <p:nvSpPr>
            <p:cNvPr name="Freeform 7" id="7"/>
            <p:cNvSpPr/>
            <p:nvPr/>
          </p:nvSpPr>
          <p:spPr>
            <a:xfrm flipH="false" flipV="false" rot="0">
              <a:off x="0" y="0"/>
              <a:ext cx="3454916" cy="2156564"/>
            </a:xfrm>
            <a:custGeom>
              <a:avLst/>
              <a:gdLst/>
              <a:ahLst/>
              <a:cxnLst/>
              <a:rect r="r" b="b" t="t" l="l"/>
              <a:pathLst>
                <a:path h="2156564" w="3454916">
                  <a:moveTo>
                    <a:pt x="49963" y="0"/>
                  </a:moveTo>
                  <a:lnTo>
                    <a:pt x="3404953" y="0"/>
                  </a:lnTo>
                  <a:cubicBezTo>
                    <a:pt x="3418204" y="0"/>
                    <a:pt x="3430912" y="5264"/>
                    <a:pt x="3440282" y="14634"/>
                  </a:cubicBezTo>
                  <a:cubicBezTo>
                    <a:pt x="3449652" y="24004"/>
                    <a:pt x="3454916" y="36712"/>
                    <a:pt x="3454916" y="49963"/>
                  </a:cubicBezTo>
                  <a:lnTo>
                    <a:pt x="3454916" y="2106601"/>
                  </a:lnTo>
                  <a:cubicBezTo>
                    <a:pt x="3454916" y="2119852"/>
                    <a:pt x="3449652" y="2132560"/>
                    <a:pt x="3440282" y="2141930"/>
                  </a:cubicBezTo>
                  <a:cubicBezTo>
                    <a:pt x="3430912" y="2151300"/>
                    <a:pt x="3418204" y="2156564"/>
                    <a:pt x="3404953" y="2156564"/>
                  </a:cubicBezTo>
                  <a:lnTo>
                    <a:pt x="49963" y="2156564"/>
                  </a:lnTo>
                  <a:cubicBezTo>
                    <a:pt x="36712" y="2156564"/>
                    <a:pt x="24004" y="2151300"/>
                    <a:pt x="14634" y="2141930"/>
                  </a:cubicBezTo>
                  <a:cubicBezTo>
                    <a:pt x="5264" y="2132560"/>
                    <a:pt x="0" y="2119852"/>
                    <a:pt x="0" y="2106601"/>
                  </a:cubicBezTo>
                  <a:lnTo>
                    <a:pt x="0" y="49963"/>
                  </a:lnTo>
                  <a:cubicBezTo>
                    <a:pt x="0" y="36712"/>
                    <a:pt x="5264" y="24004"/>
                    <a:pt x="14634" y="14634"/>
                  </a:cubicBezTo>
                  <a:cubicBezTo>
                    <a:pt x="24004" y="5264"/>
                    <a:pt x="36712" y="0"/>
                    <a:pt x="49963" y="0"/>
                  </a:cubicBezTo>
                  <a:close/>
                </a:path>
              </a:pathLst>
            </a:custGeom>
            <a:solidFill>
              <a:srgbClr val="093F9A">
                <a:alpha val="81961"/>
              </a:srgbClr>
            </a:solidFill>
            <a:ln cap="rnd">
              <a:noFill/>
              <a:prstDash val="solid"/>
              <a:round/>
            </a:ln>
          </p:spPr>
        </p:sp>
        <p:sp>
          <p:nvSpPr>
            <p:cNvPr name="TextBox 8" id="8"/>
            <p:cNvSpPr txBox="true"/>
            <p:nvPr/>
          </p:nvSpPr>
          <p:spPr>
            <a:xfrm>
              <a:off x="0" y="-47625"/>
              <a:ext cx="3454916" cy="2204189"/>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475421" y="1357446"/>
            <a:ext cx="8057521" cy="5029517"/>
            <a:chOff x="0" y="0"/>
            <a:chExt cx="3454916" cy="2156564"/>
          </a:xfrm>
        </p:grpSpPr>
        <p:sp>
          <p:nvSpPr>
            <p:cNvPr name="Freeform 10" id="10"/>
            <p:cNvSpPr/>
            <p:nvPr/>
          </p:nvSpPr>
          <p:spPr>
            <a:xfrm flipH="false" flipV="false" rot="0">
              <a:off x="0" y="0"/>
              <a:ext cx="3454916" cy="2156564"/>
            </a:xfrm>
            <a:custGeom>
              <a:avLst/>
              <a:gdLst/>
              <a:ahLst/>
              <a:cxnLst/>
              <a:rect r="r" b="b" t="t" l="l"/>
              <a:pathLst>
                <a:path h="2156564" w="3454916">
                  <a:moveTo>
                    <a:pt x="49963" y="0"/>
                  </a:moveTo>
                  <a:lnTo>
                    <a:pt x="3404953" y="0"/>
                  </a:lnTo>
                  <a:cubicBezTo>
                    <a:pt x="3418204" y="0"/>
                    <a:pt x="3430912" y="5264"/>
                    <a:pt x="3440282" y="14634"/>
                  </a:cubicBezTo>
                  <a:cubicBezTo>
                    <a:pt x="3449652" y="24004"/>
                    <a:pt x="3454916" y="36712"/>
                    <a:pt x="3454916" y="49963"/>
                  </a:cubicBezTo>
                  <a:lnTo>
                    <a:pt x="3454916" y="2106601"/>
                  </a:lnTo>
                  <a:cubicBezTo>
                    <a:pt x="3454916" y="2119852"/>
                    <a:pt x="3449652" y="2132560"/>
                    <a:pt x="3440282" y="2141930"/>
                  </a:cubicBezTo>
                  <a:cubicBezTo>
                    <a:pt x="3430912" y="2151300"/>
                    <a:pt x="3418204" y="2156564"/>
                    <a:pt x="3404953" y="2156564"/>
                  </a:cubicBezTo>
                  <a:lnTo>
                    <a:pt x="49963" y="2156564"/>
                  </a:lnTo>
                  <a:cubicBezTo>
                    <a:pt x="36712" y="2156564"/>
                    <a:pt x="24004" y="2151300"/>
                    <a:pt x="14634" y="2141930"/>
                  </a:cubicBezTo>
                  <a:cubicBezTo>
                    <a:pt x="5264" y="2132560"/>
                    <a:pt x="0" y="2119852"/>
                    <a:pt x="0" y="2106601"/>
                  </a:cubicBezTo>
                  <a:lnTo>
                    <a:pt x="0" y="49963"/>
                  </a:lnTo>
                  <a:cubicBezTo>
                    <a:pt x="0" y="36712"/>
                    <a:pt x="5264" y="24004"/>
                    <a:pt x="14634" y="14634"/>
                  </a:cubicBezTo>
                  <a:cubicBezTo>
                    <a:pt x="24004" y="5264"/>
                    <a:pt x="36712" y="0"/>
                    <a:pt x="49963" y="0"/>
                  </a:cubicBezTo>
                  <a:close/>
                </a:path>
              </a:pathLst>
            </a:custGeom>
            <a:ln w="114300" cap="rnd">
              <a:solidFill>
                <a:srgbClr val="000000">
                  <a:alpha val="26667"/>
                </a:srgbClr>
              </a:solidFill>
              <a:prstDash val="solid"/>
              <a:round/>
            </a:ln>
          </p:spPr>
        </p:sp>
        <p:sp>
          <p:nvSpPr>
            <p:cNvPr name="TextBox 11" id="11"/>
            <p:cNvSpPr txBox="true"/>
            <p:nvPr/>
          </p:nvSpPr>
          <p:spPr>
            <a:xfrm>
              <a:off x="0" y="-47625"/>
              <a:ext cx="3454916" cy="220418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472736" y="6472688"/>
            <a:ext cx="8057521" cy="3480937"/>
            <a:chOff x="0" y="0"/>
            <a:chExt cx="3161902" cy="1365976"/>
          </a:xfrm>
        </p:grpSpPr>
        <p:sp>
          <p:nvSpPr>
            <p:cNvPr name="Freeform 13" id="13"/>
            <p:cNvSpPr/>
            <p:nvPr/>
          </p:nvSpPr>
          <p:spPr>
            <a:xfrm flipH="false" flipV="false" rot="0">
              <a:off x="0" y="0"/>
              <a:ext cx="3161902" cy="1365976"/>
            </a:xfrm>
            <a:custGeom>
              <a:avLst/>
              <a:gdLst/>
              <a:ahLst/>
              <a:cxnLst/>
              <a:rect r="r" b="b" t="t" l="l"/>
              <a:pathLst>
                <a:path h="1365976" w="3161902">
                  <a:moveTo>
                    <a:pt x="49963" y="0"/>
                  </a:moveTo>
                  <a:lnTo>
                    <a:pt x="3111939" y="0"/>
                  </a:lnTo>
                  <a:cubicBezTo>
                    <a:pt x="3125190" y="0"/>
                    <a:pt x="3137898" y="5264"/>
                    <a:pt x="3147268" y="14634"/>
                  </a:cubicBezTo>
                  <a:cubicBezTo>
                    <a:pt x="3156638" y="24004"/>
                    <a:pt x="3161902" y="36712"/>
                    <a:pt x="3161902" y="49963"/>
                  </a:cubicBezTo>
                  <a:lnTo>
                    <a:pt x="3161902" y="1316013"/>
                  </a:lnTo>
                  <a:cubicBezTo>
                    <a:pt x="3161902" y="1329264"/>
                    <a:pt x="3156638" y="1341972"/>
                    <a:pt x="3147268" y="1351342"/>
                  </a:cubicBezTo>
                  <a:cubicBezTo>
                    <a:pt x="3137898" y="1360712"/>
                    <a:pt x="3125190" y="1365976"/>
                    <a:pt x="3111939" y="1365976"/>
                  </a:cubicBezTo>
                  <a:lnTo>
                    <a:pt x="49963" y="1365976"/>
                  </a:lnTo>
                  <a:cubicBezTo>
                    <a:pt x="36712" y="1365976"/>
                    <a:pt x="24004" y="1360712"/>
                    <a:pt x="14634" y="1351342"/>
                  </a:cubicBezTo>
                  <a:cubicBezTo>
                    <a:pt x="5264" y="1341972"/>
                    <a:pt x="0" y="1329264"/>
                    <a:pt x="0" y="1316013"/>
                  </a:cubicBezTo>
                  <a:lnTo>
                    <a:pt x="0" y="49963"/>
                  </a:lnTo>
                  <a:cubicBezTo>
                    <a:pt x="0" y="36712"/>
                    <a:pt x="5264" y="24004"/>
                    <a:pt x="14634" y="14634"/>
                  </a:cubicBezTo>
                  <a:cubicBezTo>
                    <a:pt x="24004" y="5264"/>
                    <a:pt x="36712" y="0"/>
                    <a:pt x="49963" y="0"/>
                  </a:cubicBezTo>
                  <a:close/>
                </a:path>
              </a:pathLst>
            </a:custGeom>
            <a:solidFill>
              <a:srgbClr val="093F9A">
                <a:alpha val="68627"/>
              </a:srgbClr>
            </a:solidFill>
            <a:ln cap="rnd">
              <a:noFill/>
              <a:prstDash val="solid"/>
              <a:round/>
            </a:ln>
          </p:spPr>
        </p:sp>
        <p:sp>
          <p:nvSpPr>
            <p:cNvPr name="TextBox 14" id="14"/>
            <p:cNvSpPr txBox="true"/>
            <p:nvPr/>
          </p:nvSpPr>
          <p:spPr>
            <a:xfrm>
              <a:off x="0" y="-47625"/>
              <a:ext cx="3161902" cy="1413601"/>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475421" y="6472688"/>
            <a:ext cx="8057521" cy="3480937"/>
            <a:chOff x="0" y="0"/>
            <a:chExt cx="3161902" cy="1365976"/>
          </a:xfrm>
        </p:grpSpPr>
        <p:sp>
          <p:nvSpPr>
            <p:cNvPr name="Freeform 16" id="16"/>
            <p:cNvSpPr/>
            <p:nvPr/>
          </p:nvSpPr>
          <p:spPr>
            <a:xfrm flipH="false" flipV="false" rot="0">
              <a:off x="0" y="0"/>
              <a:ext cx="3161902" cy="1365976"/>
            </a:xfrm>
            <a:custGeom>
              <a:avLst/>
              <a:gdLst/>
              <a:ahLst/>
              <a:cxnLst/>
              <a:rect r="r" b="b" t="t" l="l"/>
              <a:pathLst>
                <a:path h="1365976" w="3161902">
                  <a:moveTo>
                    <a:pt x="49963" y="0"/>
                  </a:moveTo>
                  <a:lnTo>
                    <a:pt x="3111939" y="0"/>
                  </a:lnTo>
                  <a:cubicBezTo>
                    <a:pt x="3125190" y="0"/>
                    <a:pt x="3137898" y="5264"/>
                    <a:pt x="3147268" y="14634"/>
                  </a:cubicBezTo>
                  <a:cubicBezTo>
                    <a:pt x="3156638" y="24004"/>
                    <a:pt x="3161902" y="36712"/>
                    <a:pt x="3161902" y="49963"/>
                  </a:cubicBezTo>
                  <a:lnTo>
                    <a:pt x="3161902" y="1316013"/>
                  </a:lnTo>
                  <a:cubicBezTo>
                    <a:pt x="3161902" y="1329264"/>
                    <a:pt x="3156638" y="1341972"/>
                    <a:pt x="3147268" y="1351342"/>
                  </a:cubicBezTo>
                  <a:cubicBezTo>
                    <a:pt x="3137898" y="1360712"/>
                    <a:pt x="3125190" y="1365976"/>
                    <a:pt x="3111939" y="1365976"/>
                  </a:cubicBezTo>
                  <a:lnTo>
                    <a:pt x="49963" y="1365976"/>
                  </a:lnTo>
                  <a:cubicBezTo>
                    <a:pt x="36712" y="1365976"/>
                    <a:pt x="24004" y="1360712"/>
                    <a:pt x="14634" y="1351342"/>
                  </a:cubicBezTo>
                  <a:cubicBezTo>
                    <a:pt x="5264" y="1341972"/>
                    <a:pt x="0" y="1329264"/>
                    <a:pt x="0" y="1316013"/>
                  </a:cubicBezTo>
                  <a:lnTo>
                    <a:pt x="0" y="49963"/>
                  </a:lnTo>
                  <a:cubicBezTo>
                    <a:pt x="0" y="36712"/>
                    <a:pt x="5264" y="24004"/>
                    <a:pt x="14634" y="14634"/>
                  </a:cubicBezTo>
                  <a:cubicBezTo>
                    <a:pt x="24004" y="5264"/>
                    <a:pt x="36712" y="0"/>
                    <a:pt x="49963" y="0"/>
                  </a:cubicBezTo>
                  <a:close/>
                </a:path>
              </a:pathLst>
            </a:custGeom>
            <a:ln w="85725" cap="rnd">
              <a:solidFill>
                <a:srgbClr val="000000">
                  <a:alpha val="27843"/>
                </a:srgbClr>
              </a:solidFill>
              <a:prstDash val="solid"/>
              <a:round/>
            </a:ln>
          </p:spPr>
        </p:sp>
        <p:sp>
          <p:nvSpPr>
            <p:cNvPr name="TextBox 17" id="17"/>
            <p:cNvSpPr txBox="true"/>
            <p:nvPr/>
          </p:nvSpPr>
          <p:spPr>
            <a:xfrm>
              <a:off x="0" y="-47625"/>
              <a:ext cx="3161902" cy="1413601"/>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808396" y="1579968"/>
            <a:ext cx="7391572" cy="4527814"/>
          </a:xfrm>
          <a:prstGeom prst="rect">
            <a:avLst/>
          </a:prstGeom>
        </p:spPr>
        <p:txBody>
          <a:bodyPr anchor="t" rtlCol="false" tIns="0" lIns="0" bIns="0" rIns="0">
            <a:spAutoFit/>
          </a:bodyPr>
          <a:lstStyle/>
          <a:p>
            <a:pPr algn="l">
              <a:lnSpc>
                <a:spcPts val="4010"/>
              </a:lnSpc>
            </a:pPr>
            <a:r>
              <a:rPr lang="en-US" sz="2864">
                <a:solidFill>
                  <a:srgbClr val="FFFFFF"/>
                </a:solidFill>
                <a:latin typeface="Zilla Slab"/>
                <a:ea typeface="Zilla Slab"/>
                <a:cs typeface="Zilla Slab"/>
                <a:sym typeface="Zilla Slab"/>
              </a:rPr>
              <a:t>Neologizmlərin əsas yaranma səbəbi cəmiyyətdə baş verən yeni hadisə və anlayışların meydana çıxmasıdır.</a:t>
            </a:r>
          </a:p>
          <a:p>
            <a:pPr algn="l">
              <a:lnSpc>
                <a:spcPts val="4010"/>
              </a:lnSpc>
            </a:pPr>
            <a:r>
              <a:rPr lang="en-US" sz="2864">
                <a:solidFill>
                  <a:srgbClr val="FFFFFF"/>
                </a:solidFill>
                <a:latin typeface="Zilla Slab"/>
                <a:ea typeface="Zilla Slab"/>
                <a:cs typeface="Zilla Slab"/>
                <a:sym typeface="Zilla Slab"/>
              </a:rPr>
              <a:t> Xüsusilə:</a:t>
            </a:r>
          </a:p>
          <a:p>
            <a:pPr algn="l" marL="618469" indent="-309235" lvl="1">
              <a:lnSpc>
                <a:spcPts val="4010"/>
              </a:lnSpc>
              <a:buFont typeface="Arial"/>
              <a:buChar char="•"/>
            </a:pPr>
            <a:r>
              <a:rPr lang="en-US" sz="2864">
                <a:solidFill>
                  <a:srgbClr val="FFFFFF"/>
                </a:solidFill>
                <a:latin typeface="Zilla Slab"/>
                <a:ea typeface="Zilla Slab"/>
                <a:cs typeface="Zilla Slab"/>
                <a:sym typeface="Zilla Slab"/>
              </a:rPr>
              <a:t>E</a:t>
            </a:r>
            <a:r>
              <a:rPr lang="en-US" sz="2864">
                <a:solidFill>
                  <a:srgbClr val="FFFFFF"/>
                </a:solidFill>
                <a:latin typeface="Zilla Slab"/>
                <a:ea typeface="Zilla Slab"/>
                <a:cs typeface="Zilla Slab"/>
                <a:sym typeface="Zilla Slab"/>
              </a:rPr>
              <a:t>lm və texnikanın inkişafı</a:t>
            </a:r>
          </a:p>
          <a:p>
            <a:pPr algn="l" marL="618469" indent="-309235" lvl="1">
              <a:lnSpc>
                <a:spcPts val="4010"/>
              </a:lnSpc>
              <a:buFont typeface="Arial"/>
              <a:buChar char="•"/>
            </a:pPr>
            <a:r>
              <a:rPr lang="en-US" sz="2864">
                <a:solidFill>
                  <a:srgbClr val="FFFFFF"/>
                </a:solidFill>
                <a:latin typeface="Zilla Slab"/>
                <a:ea typeface="Zilla Slab"/>
                <a:cs typeface="Zilla Slab"/>
                <a:sym typeface="Zilla Slab"/>
              </a:rPr>
              <a:t>S</a:t>
            </a:r>
            <a:r>
              <a:rPr lang="en-US" sz="2864">
                <a:solidFill>
                  <a:srgbClr val="FFFFFF"/>
                </a:solidFill>
                <a:latin typeface="Zilla Slab"/>
                <a:ea typeface="Zilla Slab"/>
                <a:cs typeface="Zilla Slab"/>
                <a:sym typeface="Zilla Slab"/>
              </a:rPr>
              <a:t>iyasi dəyişikliklər</a:t>
            </a:r>
          </a:p>
          <a:p>
            <a:pPr algn="l" marL="618469" indent="-309235" lvl="1">
              <a:lnSpc>
                <a:spcPts val="4010"/>
              </a:lnSpc>
              <a:buFont typeface="Arial"/>
              <a:buChar char="•"/>
            </a:pPr>
            <a:r>
              <a:rPr lang="en-US" sz="2864">
                <a:solidFill>
                  <a:srgbClr val="FFFFFF"/>
                </a:solidFill>
                <a:latin typeface="Zilla Slab"/>
                <a:ea typeface="Zilla Slab"/>
                <a:cs typeface="Zilla Slab"/>
                <a:sym typeface="Zilla Slab"/>
              </a:rPr>
              <a:t>S</a:t>
            </a:r>
            <a:r>
              <a:rPr lang="en-US" sz="2864">
                <a:solidFill>
                  <a:srgbClr val="FFFFFF"/>
                </a:solidFill>
                <a:latin typeface="Zilla Slab"/>
                <a:ea typeface="Zilla Slab"/>
                <a:cs typeface="Zilla Slab"/>
                <a:sym typeface="Zilla Slab"/>
              </a:rPr>
              <a:t>osial münasibətlərin yenilənməsi</a:t>
            </a:r>
          </a:p>
          <a:p>
            <a:pPr algn="l" marL="618469" indent="-309235" lvl="1">
              <a:lnSpc>
                <a:spcPts val="4010"/>
              </a:lnSpc>
              <a:buFont typeface="Arial"/>
              <a:buChar char="•"/>
            </a:pPr>
            <a:r>
              <a:rPr lang="en-US" sz="2864">
                <a:solidFill>
                  <a:srgbClr val="FFFFFF"/>
                </a:solidFill>
                <a:latin typeface="Zilla Slab"/>
                <a:ea typeface="Zilla Slab"/>
                <a:cs typeface="Zilla Slab"/>
                <a:sym typeface="Zilla Slab"/>
              </a:rPr>
              <a:t>M</a:t>
            </a:r>
            <a:r>
              <a:rPr lang="en-US" sz="2864">
                <a:solidFill>
                  <a:srgbClr val="FFFFFF"/>
                </a:solidFill>
                <a:latin typeface="Zilla Slab"/>
                <a:ea typeface="Zilla Slab"/>
                <a:cs typeface="Zilla Slab"/>
                <a:sym typeface="Zilla Slab"/>
              </a:rPr>
              <a:t>ədəni həyatın sürətlənməsi</a:t>
            </a:r>
          </a:p>
          <a:p>
            <a:pPr algn="l">
              <a:lnSpc>
                <a:spcPts val="4010"/>
              </a:lnSpc>
            </a:pPr>
            <a:r>
              <a:rPr lang="en-US" sz="2864">
                <a:solidFill>
                  <a:srgbClr val="FFFFFF"/>
                </a:solidFill>
                <a:latin typeface="Zilla Slab"/>
                <a:ea typeface="Zilla Slab"/>
                <a:cs typeface="Zilla Slab"/>
                <a:sym typeface="Zilla Slab"/>
              </a:rPr>
              <a:t>yeni sözlərə ehtiyac yaradır.</a:t>
            </a:r>
          </a:p>
        </p:txBody>
      </p:sp>
      <p:grpSp>
        <p:nvGrpSpPr>
          <p:cNvPr name="Group 19" id="19"/>
          <p:cNvGrpSpPr/>
          <p:nvPr/>
        </p:nvGrpSpPr>
        <p:grpSpPr>
          <a:xfrm rot="0">
            <a:off x="964797" y="3676861"/>
            <a:ext cx="403612" cy="1870251"/>
            <a:chOff x="0" y="0"/>
            <a:chExt cx="140023" cy="648835"/>
          </a:xfrm>
        </p:grpSpPr>
        <p:sp>
          <p:nvSpPr>
            <p:cNvPr name="Freeform 20" id="20"/>
            <p:cNvSpPr/>
            <p:nvPr/>
          </p:nvSpPr>
          <p:spPr>
            <a:xfrm flipH="false" flipV="false" rot="0">
              <a:off x="0" y="0"/>
              <a:ext cx="140023" cy="648835"/>
            </a:xfrm>
            <a:custGeom>
              <a:avLst/>
              <a:gdLst/>
              <a:ahLst/>
              <a:cxnLst/>
              <a:rect r="r" b="b" t="t" l="l"/>
              <a:pathLst>
                <a:path h="648835" w="140023">
                  <a:moveTo>
                    <a:pt x="70011" y="0"/>
                  </a:moveTo>
                  <a:lnTo>
                    <a:pt x="70011" y="0"/>
                  </a:lnTo>
                  <a:cubicBezTo>
                    <a:pt x="88580" y="0"/>
                    <a:pt x="106387" y="7376"/>
                    <a:pt x="119517" y="20506"/>
                  </a:cubicBezTo>
                  <a:cubicBezTo>
                    <a:pt x="132647" y="33636"/>
                    <a:pt x="140023" y="51443"/>
                    <a:pt x="140023" y="70011"/>
                  </a:cubicBezTo>
                  <a:lnTo>
                    <a:pt x="140023" y="578824"/>
                  </a:lnTo>
                  <a:cubicBezTo>
                    <a:pt x="140023" y="597392"/>
                    <a:pt x="132647" y="615200"/>
                    <a:pt x="119517" y="628330"/>
                  </a:cubicBezTo>
                  <a:cubicBezTo>
                    <a:pt x="106387" y="641459"/>
                    <a:pt x="88580" y="648835"/>
                    <a:pt x="70011" y="648835"/>
                  </a:cubicBezTo>
                  <a:lnTo>
                    <a:pt x="70011" y="648835"/>
                  </a:lnTo>
                  <a:cubicBezTo>
                    <a:pt x="51443" y="648835"/>
                    <a:pt x="33636" y="641459"/>
                    <a:pt x="20506" y="628330"/>
                  </a:cubicBezTo>
                  <a:cubicBezTo>
                    <a:pt x="7376" y="615200"/>
                    <a:pt x="0" y="597392"/>
                    <a:pt x="0" y="578824"/>
                  </a:cubicBezTo>
                  <a:lnTo>
                    <a:pt x="0" y="70011"/>
                  </a:lnTo>
                  <a:cubicBezTo>
                    <a:pt x="0" y="51443"/>
                    <a:pt x="7376" y="33636"/>
                    <a:pt x="20506" y="20506"/>
                  </a:cubicBezTo>
                  <a:cubicBezTo>
                    <a:pt x="33636" y="7376"/>
                    <a:pt x="51443" y="0"/>
                    <a:pt x="70011" y="0"/>
                  </a:cubicBezTo>
                  <a:close/>
                </a:path>
              </a:pathLst>
            </a:custGeom>
            <a:solidFill>
              <a:srgbClr val="093F9A"/>
            </a:solidFill>
            <a:ln cap="rnd">
              <a:noFill/>
              <a:prstDash val="solid"/>
              <a:round/>
            </a:ln>
          </p:spPr>
        </p:sp>
        <p:sp>
          <p:nvSpPr>
            <p:cNvPr name="TextBox 21" id="21"/>
            <p:cNvSpPr txBox="true"/>
            <p:nvPr/>
          </p:nvSpPr>
          <p:spPr>
            <a:xfrm>
              <a:off x="0" y="-47625"/>
              <a:ext cx="140023" cy="696460"/>
            </a:xfrm>
            <a:prstGeom prst="rect">
              <a:avLst/>
            </a:prstGeom>
          </p:spPr>
          <p:txBody>
            <a:bodyPr anchor="ctr" rtlCol="false" tIns="50800" lIns="50800" bIns="50800" rIns="50800"/>
            <a:lstStyle/>
            <a:p>
              <a:pPr algn="ctr">
                <a:lnSpc>
                  <a:spcPts val="2659"/>
                </a:lnSpc>
                <a:spcBef>
                  <a:spcPct val="0"/>
                </a:spcBef>
              </a:pPr>
            </a:p>
          </p:txBody>
        </p:sp>
      </p:grpSp>
      <p:sp>
        <p:nvSpPr>
          <p:cNvPr name="Freeform 22" id="22"/>
          <p:cNvSpPr/>
          <p:nvPr/>
        </p:nvSpPr>
        <p:spPr>
          <a:xfrm flipH="false" flipV="false" rot="0">
            <a:off x="964797" y="3676861"/>
            <a:ext cx="403612" cy="403612"/>
          </a:xfrm>
          <a:custGeom>
            <a:avLst/>
            <a:gdLst/>
            <a:ahLst/>
            <a:cxnLst/>
            <a:rect r="r" b="b" t="t" l="l"/>
            <a:pathLst>
              <a:path h="403612" w="403612">
                <a:moveTo>
                  <a:pt x="0" y="0"/>
                </a:moveTo>
                <a:lnTo>
                  <a:pt x="403612" y="0"/>
                </a:lnTo>
                <a:lnTo>
                  <a:pt x="403612" y="403612"/>
                </a:lnTo>
                <a:lnTo>
                  <a:pt x="0" y="403612"/>
                </a:lnTo>
                <a:lnTo>
                  <a:pt x="0" y="0"/>
                </a:lnTo>
                <a:close/>
              </a:path>
            </a:pathLst>
          </a:custGeom>
          <a:blipFill>
            <a:blip r:embed="rId3"/>
            <a:stretch>
              <a:fillRect l="0" t="0" r="0" b="0"/>
            </a:stretch>
          </a:blipFill>
        </p:spPr>
      </p:sp>
      <p:sp>
        <p:nvSpPr>
          <p:cNvPr name="Freeform 23" id="23"/>
          <p:cNvSpPr/>
          <p:nvPr/>
        </p:nvSpPr>
        <p:spPr>
          <a:xfrm flipH="false" flipV="false" rot="0">
            <a:off x="964797" y="4170433"/>
            <a:ext cx="403612" cy="403612"/>
          </a:xfrm>
          <a:custGeom>
            <a:avLst/>
            <a:gdLst/>
            <a:ahLst/>
            <a:cxnLst/>
            <a:rect r="r" b="b" t="t" l="l"/>
            <a:pathLst>
              <a:path h="403612" w="403612">
                <a:moveTo>
                  <a:pt x="0" y="0"/>
                </a:moveTo>
                <a:lnTo>
                  <a:pt x="403612" y="0"/>
                </a:lnTo>
                <a:lnTo>
                  <a:pt x="403612" y="403612"/>
                </a:lnTo>
                <a:lnTo>
                  <a:pt x="0" y="403612"/>
                </a:lnTo>
                <a:lnTo>
                  <a:pt x="0" y="0"/>
                </a:lnTo>
                <a:close/>
              </a:path>
            </a:pathLst>
          </a:custGeom>
          <a:blipFill>
            <a:blip r:embed="rId3"/>
            <a:stretch>
              <a:fillRect l="0" t="0" r="0" b="0"/>
            </a:stretch>
          </a:blipFill>
        </p:spPr>
      </p:sp>
      <p:sp>
        <p:nvSpPr>
          <p:cNvPr name="Freeform 24" id="24"/>
          <p:cNvSpPr/>
          <p:nvPr/>
        </p:nvSpPr>
        <p:spPr>
          <a:xfrm flipH="false" flipV="false" rot="0">
            <a:off x="964797" y="4659770"/>
            <a:ext cx="403612" cy="403612"/>
          </a:xfrm>
          <a:custGeom>
            <a:avLst/>
            <a:gdLst/>
            <a:ahLst/>
            <a:cxnLst/>
            <a:rect r="r" b="b" t="t" l="l"/>
            <a:pathLst>
              <a:path h="403612" w="403612">
                <a:moveTo>
                  <a:pt x="0" y="0"/>
                </a:moveTo>
                <a:lnTo>
                  <a:pt x="403612" y="0"/>
                </a:lnTo>
                <a:lnTo>
                  <a:pt x="403612" y="403612"/>
                </a:lnTo>
                <a:lnTo>
                  <a:pt x="0" y="403612"/>
                </a:lnTo>
                <a:lnTo>
                  <a:pt x="0" y="0"/>
                </a:lnTo>
                <a:close/>
              </a:path>
            </a:pathLst>
          </a:custGeom>
          <a:blipFill>
            <a:blip r:embed="rId3"/>
            <a:stretch>
              <a:fillRect l="0" t="0" r="0" b="0"/>
            </a:stretch>
          </a:blipFill>
        </p:spPr>
      </p:sp>
      <p:sp>
        <p:nvSpPr>
          <p:cNvPr name="Freeform 25" id="25"/>
          <p:cNvSpPr/>
          <p:nvPr/>
        </p:nvSpPr>
        <p:spPr>
          <a:xfrm flipH="false" flipV="false" rot="0">
            <a:off x="964797" y="5143500"/>
            <a:ext cx="403612" cy="403612"/>
          </a:xfrm>
          <a:custGeom>
            <a:avLst/>
            <a:gdLst/>
            <a:ahLst/>
            <a:cxnLst/>
            <a:rect r="r" b="b" t="t" l="l"/>
            <a:pathLst>
              <a:path h="403612" w="403612">
                <a:moveTo>
                  <a:pt x="0" y="0"/>
                </a:moveTo>
                <a:lnTo>
                  <a:pt x="403612" y="0"/>
                </a:lnTo>
                <a:lnTo>
                  <a:pt x="403612" y="403612"/>
                </a:lnTo>
                <a:lnTo>
                  <a:pt x="0" y="403612"/>
                </a:lnTo>
                <a:lnTo>
                  <a:pt x="0" y="0"/>
                </a:lnTo>
                <a:close/>
              </a:path>
            </a:pathLst>
          </a:custGeom>
          <a:blipFill>
            <a:blip r:embed="rId3"/>
            <a:stretch>
              <a:fillRect l="0" t="0" r="0" b="0"/>
            </a:stretch>
          </a:blipFill>
        </p:spPr>
      </p:sp>
      <p:sp>
        <p:nvSpPr>
          <p:cNvPr name="Freeform 26" id="26"/>
          <p:cNvSpPr/>
          <p:nvPr/>
        </p:nvSpPr>
        <p:spPr>
          <a:xfrm flipH="false" flipV="false" rot="0">
            <a:off x="9319124" y="2739874"/>
            <a:ext cx="8335118" cy="5614476"/>
          </a:xfrm>
          <a:custGeom>
            <a:avLst/>
            <a:gdLst/>
            <a:ahLst/>
            <a:cxnLst/>
            <a:rect r="r" b="b" t="t" l="l"/>
            <a:pathLst>
              <a:path h="5614476" w="8335118">
                <a:moveTo>
                  <a:pt x="0" y="0"/>
                </a:moveTo>
                <a:lnTo>
                  <a:pt x="8335118" y="0"/>
                </a:lnTo>
                <a:lnTo>
                  <a:pt x="8335118" y="5614477"/>
                </a:lnTo>
                <a:lnTo>
                  <a:pt x="0" y="5614477"/>
                </a:lnTo>
                <a:lnTo>
                  <a:pt x="0" y="0"/>
                </a:lnTo>
                <a:close/>
              </a:path>
            </a:pathLst>
          </a:custGeom>
          <a:blipFill>
            <a:blip r:embed="rId4"/>
            <a:stretch>
              <a:fillRect l="-5208" t="-4120" r="-5208" b="-5073"/>
            </a:stretch>
          </a:blipFill>
        </p:spPr>
      </p:sp>
      <p:sp>
        <p:nvSpPr>
          <p:cNvPr name="TextBox 27" id="27"/>
          <p:cNvSpPr txBox="true"/>
          <p:nvPr/>
        </p:nvSpPr>
        <p:spPr>
          <a:xfrm rot="0">
            <a:off x="4327966" y="222161"/>
            <a:ext cx="13960034" cy="806539"/>
          </a:xfrm>
          <a:prstGeom prst="rect">
            <a:avLst/>
          </a:prstGeom>
        </p:spPr>
        <p:txBody>
          <a:bodyPr anchor="t" rtlCol="false" tIns="0" lIns="0" bIns="0" rIns="0">
            <a:spAutoFit/>
          </a:bodyPr>
          <a:lstStyle/>
          <a:p>
            <a:pPr algn="l">
              <a:lnSpc>
                <a:spcPts val="6502"/>
              </a:lnSpc>
              <a:spcBef>
                <a:spcPct val="0"/>
              </a:spcBef>
            </a:pPr>
            <a:r>
              <a:rPr lang="en-US" b="true" sz="4644">
                <a:solidFill>
                  <a:srgbClr val="FFFFFF"/>
                </a:solidFill>
                <a:latin typeface="Zilla Slab Bold"/>
                <a:ea typeface="Zilla Slab Bold"/>
                <a:cs typeface="Zilla Slab Bold"/>
                <a:sym typeface="Zilla Slab Bold"/>
              </a:rPr>
              <a:t>Neologizmlərin yar</a:t>
            </a:r>
            <a:r>
              <a:rPr lang="en-US" b="true" sz="4644">
                <a:solidFill>
                  <a:srgbClr val="FFFFFF"/>
                </a:solidFill>
                <a:latin typeface="Zilla Slab Bold"/>
                <a:ea typeface="Zilla Slab Bold"/>
                <a:cs typeface="Zilla Slab Bold"/>
                <a:sym typeface="Zilla Slab Bold"/>
              </a:rPr>
              <a:t>anma səbəbləri</a:t>
            </a:r>
          </a:p>
        </p:txBody>
      </p:sp>
      <p:sp>
        <p:nvSpPr>
          <p:cNvPr name="TextBox 28" id="28"/>
          <p:cNvSpPr txBox="true"/>
          <p:nvPr/>
        </p:nvSpPr>
        <p:spPr>
          <a:xfrm rot="0">
            <a:off x="808396" y="6602780"/>
            <a:ext cx="7391572" cy="2870488"/>
          </a:xfrm>
          <a:prstGeom prst="rect">
            <a:avLst/>
          </a:prstGeom>
        </p:spPr>
        <p:txBody>
          <a:bodyPr anchor="t" rtlCol="false" tIns="0" lIns="0" bIns="0" rIns="0">
            <a:spAutoFit/>
          </a:bodyPr>
          <a:lstStyle/>
          <a:p>
            <a:pPr algn="l">
              <a:lnSpc>
                <a:spcPts val="3792"/>
              </a:lnSpc>
            </a:pPr>
            <a:r>
              <a:rPr lang="en-US" sz="2708">
                <a:solidFill>
                  <a:srgbClr val="FFFFFF"/>
                </a:solidFill>
                <a:latin typeface="Zilla Slab"/>
                <a:ea typeface="Zilla Slab"/>
                <a:cs typeface="Zilla Slab"/>
                <a:sym typeface="Zilla Slab"/>
              </a:rPr>
              <a:t>K</a:t>
            </a:r>
            <a:r>
              <a:rPr lang="en-US" sz="2708">
                <a:solidFill>
                  <a:srgbClr val="FFFFFF"/>
                </a:solidFill>
                <a:latin typeface="Zilla Slab"/>
                <a:ea typeface="Zilla Slab"/>
                <a:cs typeface="Zilla Slab"/>
                <a:sym typeface="Zilla Slab"/>
              </a:rPr>
              <a:t>ompyuter və informasiya texnologiyalarının yayılması ilə monitor, adapter, modem, noutbuk, fayl, printer kimi sözlər dilə daxil olmuşdur.</a:t>
            </a:r>
          </a:p>
          <a:p>
            <a:pPr algn="l">
              <a:lnSpc>
                <a:spcPts val="3792"/>
              </a:lnSpc>
            </a:pPr>
            <a:r>
              <a:rPr lang="en-US" sz="2708">
                <a:solidFill>
                  <a:srgbClr val="FFFFFF"/>
                </a:solidFill>
                <a:latin typeface="Zilla Slab"/>
                <a:ea typeface="Zilla Slab"/>
                <a:cs typeface="Zilla Slab"/>
                <a:sym typeface="Zilla Slab"/>
              </a:rPr>
              <a:t> Eyni zamanda müstəqillik dövrü ilə bağlı sivilizasiya, mentalitet, referendum, plüralizm kimi siyasi leksika da fəallaşmışdır.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247" y="0"/>
            <a:ext cx="18294494" cy="10287000"/>
          </a:xfrm>
          <a:custGeom>
            <a:avLst/>
            <a:gdLst/>
            <a:ahLst/>
            <a:cxnLst/>
            <a:rect r="r" b="b" t="t" l="l"/>
            <a:pathLst>
              <a:path h="10287000" w="18294494">
                <a:moveTo>
                  <a:pt x="18294494" y="10287000"/>
                </a:moveTo>
                <a:lnTo>
                  <a:pt x="0" y="10287000"/>
                </a:lnTo>
                <a:lnTo>
                  <a:pt x="0" y="0"/>
                </a:lnTo>
                <a:lnTo>
                  <a:pt x="18294494" y="0"/>
                </a:lnTo>
                <a:lnTo>
                  <a:pt x="18294494" y="10287000"/>
                </a:lnTo>
                <a:close/>
              </a:path>
            </a:pathLst>
          </a:custGeom>
          <a:blipFill>
            <a:blip r:embed="rId2"/>
            <a:stretch>
              <a:fillRect l="0" t="0" r="0" b="0"/>
            </a:stretch>
          </a:blipFill>
        </p:spPr>
      </p:sp>
      <p:grpSp>
        <p:nvGrpSpPr>
          <p:cNvPr name="Group 3" id="3"/>
          <p:cNvGrpSpPr/>
          <p:nvPr/>
        </p:nvGrpSpPr>
        <p:grpSpPr>
          <a:xfrm rot="0">
            <a:off x="9621607" y="1433620"/>
            <a:ext cx="7905040" cy="3211083"/>
            <a:chOff x="0" y="0"/>
            <a:chExt cx="3389535" cy="1376853"/>
          </a:xfrm>
        </p:grpSpPr>
        <p:sp>
          <p:nvSpPr>
            <p:cNvPr name="Freeform 4" id="4"/>
            <p:cNvSpPr/>
            <p:nvPr/>
          </p:nvSpPr>
          <p:spPr>
            <a:xfrm flipH="false" flipV="false" rot="0">
              <a:off x="0" y="0"/>
              <a:ext cx="3389535" cy="1376853"/>
            </a:xfrm>
            <a:custGeom>
              <a:avLst/>
              <a:gdLst/>
              <a:ahLst/>
              <a:cxnLst/>
              <a:rect r="r" b="b" t="t" l="l"/>
              <a:pathLst>
                <a:path h="1376853" w="3389535">
                  <a:moveTo>
                    <a:pt x="50927" y="0"/>
                  </a:moveTo>
                  <a:lnTo>
                    <a:pt x="3338608" y="0"/>
                  </a:lnTo>
                  <a:cubicBezTo>
                    <a:pt x="3366734" y="0"/>
                    <a:pt x="3389535" y="22801"/>
                    <a:pt x="3389535" y="50927"/>
                  </a:cubicBezTo>
                  <a:lnTo>
                    <a:pt x="3389535" y="1325926"/>
                  </a:lnTo>
                  <a:cubicBezTo>
                    <a:pt x="3389535" y="1354053"/>
                    <a:pt x="3366734" y="1376853"/>
                    <a:pt x="3338608" y="1376853"/>
                  </a:cubicBezTo>
                  <a:lnTo>
                    <a:pt x="50927" y="1376853"/>
                  </a:lnTo>
                  <a:cubicBezTo>
                    <a:pt x="22801" y="1376853"/>
                    <a:pt x="0" y="1354053"/>
                    <a:pt x="0" y="1325926"/>
                  </a:cubicBezTo>
                  <a:lnTo>
                    <a:pt x="0" y="50927"/>
                  </a:lnTo>
                  <a:cubicBezTo>
                    <a:pt x="0" y="22801"/>
                    <a:pt x="22801" y="0"/>
                    <a:pt x="50927" y="0"/>
                  </a:cubicBezTo>
                  <a:close/>
                </a:path>
              </a:pathLst>
            </a:custGeom>
            <a:solidFill>
              <a:srgbClr val="000000">
                <a:alpha val="81961"/>
              </a:srgbClr>
            </a:solidFill>
            <a:ln cap="rnd">
              <a:noFill/>
              <a:prstDash val="solid"/>
              <a:round/>
            </a:ln>
          </p:spPr>
        </p:sp>
        <p:sp>
          <p:nvSpPr>
            <p:cNvPr name="TextBox 5" id="5"/>
            <p:cNvSpPr txBox="true"/>
            <p:nvPr/>
          </p:nvSpPr>
          <p:spPr>
            <a:xfrm>
              <a:off x="0" y="-47625"/>
              <a:ext cx="3389535" cy="142447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3247" y="5143500"/>
            <a:ext cx="18291247" cy="5143500"/>
            <a:chOff x="0" y="0"/>
            <a:chExt cx="7842949" cy="2205438"/>
          </a:xfrm>
        </p:grpSpPr>
        <p:sp>
          <p:nvSpPr>
            <p:cNvPr name="Freeform 7" id="7"/>
            <p:cNvSpPr/>
            <p:nvPr/>
          </p:nvSpPr>
          <p:spPr>
            <a:xfrm flipH="false" flipV="false" rot="0">
              <a:off x="0" y="0"/>
              <a:ext cx="7842949" cy="2205438"/>
            </a:xfrm>
            <a:custGeom>
              <a:avLst/>
              <a:gdLst/>
              <a:ahLst/>
              <a:cxnLst/>
              <a:rect r="r" b="b" t="t" l="l"/>
              <a:pathLst>
                <a:path h="2205438" w="7842949">
                  <a:moveTo>
                    <a:pt x="0" y="0"/>
                  </a:moveTo>
                  <a:lnTo>
                    <a:pt x="7842949" y="0"/>
                  </a:lnTo>
                  <a:lnTo>
                    <a:pt x="7842949" y="2205438"/>
                  </a:lnTo>
                  <a:lnTo>
                    <a:pt x="0" y="2205438"/>
                  </a:lnTo>
                  <a:close/>
                </a:path>
              </a:pathLst>
            </a:custGeom>
            <a:solidFill>
              <a:srgbClr val="000000">
                <a:alpha val="81961"/>
              </a:srgbClr>
            </a:solidFill>
            <a:ln cap="sq">
              <a:noFill/>
              <a:prstDash val="solid"/>
              <a:miter/>
            </a:ln>
          </p:spPr>
        </p:sp>
        <p:sp>
          <p:nvSpPr>
            <p:cNvPr name="TextBox 8" id="8"/>
            <p:cNvSpPr txBox="true"/>
            <p:nvPr/>
          </p:nvSpPr>
          <p:spPr>
            <a:xfrm>
              <a:off x="0" y="-47625"/>
              <a:ext cx="7842949" cy="225306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271245" y="1433620"/>
            <a:ext cx="8669640" cy="2401507"/>
            <a:chOff x="0" y="0"/>
            <a:chExt cx="3717382" cy="1029722"/>
          </a:xfrm>
        </p:grpSpPr>
        <p:sp>
          <p:nvSpPr>
            <p:cNvPr name="Freeform 10" id="10"/>
            <p:cNvSpPr/>
            <p:nvPr/>
          </p:nvSpPr>
          <p:spPr>
            <a:xfrm flipH="false" flipV="false" rot="0">
              <a:off x="0" y="0"/>
              <a:ext cx="3717382" cy="1029722"/>
            </a:xfrm>
            <a:custGeom>
              <a:avLst/>
              <a:gdLst/>
              <a:ahLst/>
              <a:cxnLst/>
              <a:rect r="r" b="b" t="t" l="l"/>
              <a:pathLst>
                <a:path h="1029722" w="3717382">
                  <a:moveTo>
                    <a:pt x="46436" y="0"/>
                  </a:moveTo>
                  <a:lnTo>
                    <a:pt x="3670946" y="0"/>
                  </a:lnTo>
                  <a:cubicBezTo>
                    <a:pt x="3683262" y="0"/>
                    <a:pt x="3695073" y="4892"/>
                    <a:pt x="3703781" y="13601"/>
                  </a:cubicBezTo>
                  <a:cubicBezTo>
                    <a:pt x="3712489" y="22309"/>
                    <a:pt x="3717382" y="34120"/>
                    <a:pt x="3717382" y="46436"/>
                  </a:cubicBezTo>
                  <a:lnTo>
                    <a:pt x="3717382" y="983286"/>
                  </a:lnTo>
                  <a:cubicBezTo>
                    <a:pt x="3717382" y="1008932"/>
                    <a:pt x="3696592" y="1029722"/>
                    <a:pt x="3670946" y="1029722"/>
                  </a:cubicBezTo>
                  <a:lnTo>
                    <a:pt x="46436" y="1029722"/>
                  </a:lnTo>
                  <a:cubicBezTo>
                    <a:pt x="20790" y="1029722"/>
                    <a:pt x="0" y="1008932"/>
                    <a:pt x="0" y="983286"/>
                  </a:cubicBezTo>
                  <a:lnTo>
                    <a:pt x="0" y="46436"/>
                  </a:lnTo>
                  <a:cubicBezTo>
                    <a:pt x="0" y="20790"/>
                    <a:pt x="20790" y="0"/>
                    <a:pt x="46436" y="0"/>
                  </a:cubicBezTo>
                  <a:close/>
                </a:path>
              </a:pathLst>
            </a:custGeom>
            <a:solidFill>
              <a:srgbClr val="00173D">
                <a:alpha val="81961"/>
              </a:srgbClr>
            </a:solidFill>
            <a:ln cap="rnd">
              <a:noFill/>
              <a:prstDash val="solid"/>
              <a:round/>
            </a:ln>
          </p:spPr>
        </p:sp>
        <p:sp>
          <p:nvSpPr>
            <p:cNvPr name="TextBox 11" id="11"/>
            <p:cNvSpPr txBox="true"/>
            <p:nvPr/>
          </p:nvSpPr>
          <p:spPr>
            <a:xfrm>
              <a:off x="0" y="-47625"/>
              <a:ext cx="3717382" cy="1077347"/>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520682" y="1603954"/>
            <a:ext cx="8301134" cy="2003689"/>
          </a:xfrm>
          <a:prstGeom prst="rect">
            <a:avLst/>
          </a:prstGeom>
        </p:spPr>
        <p:txBody>
          <a:bodyPr anchor="t" rtlCol="false" tIns="0" lIns="0" bIns="0" rIns="0">
            <a:spAutoFit/>
          </a:bodyPr>
          <a:lstStyle/>
          <a:p>
            <a:pPr algn="l">
              <a:lnSpc>
                <a:spcPts val="4010"/>
              </a:lnSpc>
            </a:pPr>
            <a:r>
              <a:rPr lang="en-US" sz="2864">
                <a:solidFill>
                  <a:srgbClr val="FFFFFF"/>
                </a:solidFill>
                <a:latin typeface="Zilla Slab"/>
                <a:ea typeface="Zilla Slab"/>
                <a:cs typeface="Zilla Slab"/>
                <a:sym typeface="Zilla Slab"/>
              </a:rPr>
              <a:t>Azərbaycan dilində neologizmlər əsasən dilin daxili imkanları və başqa dillərdən sözalma yolu ilə yaranır. Daxili imkanlar hesabına yarananlar leksik, semantik və morfoloji yollarla formalaşa bilər.</a:t>
            </a:r>
          </a:p>
        </p:txBody>
      </p:sp>
      <p:graphicFrame>
        <p:nvGraphicFramePr>
          <p:cNvPr name="Table 13" id="13"/>
          <p:cNvGraphicFramePr>
            <a:graphicFrameLocks noGrp="true"/>
          </p:cNvGraphicFramePr>
          <p:nvPr/>
        </p:nvGraphicFramePr>
        <p:xfrm>
          <a:off x="-6494" y="5143500"/>
          <a:ext cx="18297741" cy="5101660"/>
        </p:xfrm>
        <a:graphic>
          <a:graphicData uri="http://schemas.openxmlformats.org/drawingml/2006/table">
            <a:tbl>
              <a:tblPr/>
              <a:tblGrid>
                <a:gridCol w="1747121"/>
                <a:gridCol w="7937876"/>
                <a:gridCol w="8612745"/>
              </a:tblGrid>
              <a:tr h="785988">
                <a:tc>
                  <a:txBody>
                    <a:bodyPr anchor="t" rtlCol="false"/>
                    <a:lstStyle/>
                    <a:p>
                      <a:pPr algn="l">
                        <a:lnSpc>
                          <a:spcPts val="3079"/>
                        </a:lnSpc>
                        <a:defRPr/>
                      </a:pPr>
                      <a:r>
                        <a:rPr lang="en-US" sz="2199" b="true">
                          <a:solidFill>
                            <a:srgbClr val="FFFFFF"/>
                          </a:solidFill>
                          <a:latin typeface="Arimo Bold"/>
                          <a:ea typeface="Arimo Bold"/>
                          <a:cs typeface="Arimo Bold"/>
                          <a:sym typeface="Arimo Bold"/>
                        </a:rPr>
                        <a:t>Yol</a:t>
                      </a:r>
                      <a:endParaRPr lang="en-US" sz="1100"/>
                    </a:p>
                  </a:txBody>
                  <a:tcPr marL="57150" marR="57150" marT="57150" marB="5715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079"/>
                        </a:lnSpc>
                        <a:defRPr/>
                      </a:pPr>
                      <a:r>
                        <a:rPr lang="en-US" sz="2199" b="true">
                          <a:solidFill>
                            <a:srgbClr val="FFFFFF"/>
                          </a:solidFill>
                          <a:latin typeface="Arimo Bold"/>
                          <a:ea typeface="Arimo Bold"/>
                          <a:cs typeface="Arimo Bold"/>
                          <a:sym typeface="Arimo Bold"/>
                        </a:rPr>
                        <a:t>Izah</a:t>
                      </a:r>
                      <a:endParaRPr lang="en-US" sz="1100"/>
                    </a:p>
                  </a:txBody>
                  <a:tcPr marL="57150" marR="57150" marT="57150" marB="5715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079"/>
                        </a:lnSpc>
                        <a:defRPr/>
                      </a:pPr>
                      <a:r>
                        <a:rPr lang="en-US" sz="2199" b="true">
                          <a:solidFill>
                            <a:srgbClr val="FFFFFF"/>
                          </a:solidFill>
                          <a:latin typeface="Arimo Bold"/>
                          <a:ea typeface="Arimo Bold"/>
                          <a:cs typeface="Arimo Bold"/>
                          <a:sym typeface="Arimo Bold"/>
                        </a:rPr>
                        <a:t>Numune</a:t>
                      </a:r>
                      <a:endParaRPr lang="en-US" sz="1100"/>
                    </a:p>
                  </a:txBody>
                  <a:tcPr marL="57150" marR="57150" marT="57150" marB="5715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438557">
                <a:tc>
                  <a:txBody>
                    <a:bodyPr anchor="t" rtlCol="false"/>
                    <a:lstStyle/>
                    <a:p>
                      <a:pPr algn="l">
                        <a:lnSpc>
                          <a:spcPts val="3079"/>
                        </a:lnSpc>
                        <a:defRPr/>
                      </a:pPr>
                      <a:r>
                        <a:rPr lang="en-US" sz="2199">
                          <a:solidFill>
                            <a:srgbClr val="FFFFFF"/>
                          </a:solidFill>
                          <a:latin typeface="Arimo"/>
                          <a:ea typeface="Arimo"/>
                          <a:cs typeface="Arimo"/>
                          <a:sym typeface="Arimo"/>
                        </a:rPr>
                        <a:t>Leksik Yol</a:t>
                      </a:r>
                      <a:endParaRPr lang="en-US" sz="1100"/>
                    </a:p>
                  </a:txBody>
                  <a:tcPr marL="57150" marR="57150" marT="57150" marB="5715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079"/>
                        </a:lnSpc>
                        <a:defRPr/>
                      </a:pPr>
                      <a:r>
                        <a:rPr lang="en-US" sz="2199">
                          <a:solidFill>
                            <a:srgbClr val="FFFFFF"/>
                          </a:solidFill>
                          <a:latin typeface="Arimo"/>
                          <a:ea typeface="Arimo"/>
                          <a:cs typeface="Arimo"/>
                          <a:sym typeface="Arimo"/>
                        </a:rPr>
                        <a:t>Yeni sözün birbaşa yaranması və ya dilə daxil olması deməkdir</a:t>
                      </a:r>
                      <a:endParaRPr lang="en-US" sz="1100"/>
                    </a:p>
                  </a:txBody>
                  <a:tcPr marL="57150" marR="57150" marT="57150" marB="5715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079"/>
                        </a:lnSpc>
                        <a:defRPr/>
                      </a:pPr>
                      <a:r>
                        <a:rPr lang="en-US" sz="2199">
                          <a:solidFill>
                            <a:srgbClr val="FFFFFF"/>
                          </a:solidFill>
                          <a:latin typeface="Arimo"/>
                          <a:ea typeface="Arimo"/>
                          <a:cs typeface="Arimo"/>
                          <a:sym typeface="Arimo"/>
                        </a:rPr>
                        <a:t>Kompüter - dilə yeni anlayış kimi daxil olmuşdur.</a:t>
                      </a:r>
                      <a:endParaRPr lang="en-US" sz="1100"/>
                    </a:p>
                  </a:txBody>
                  <a:tcPr marL="57150" marR="57150" marT="57150" marB="5715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438557">
                <a:tc>
                  <a:txBody>
                    <a:bodyPr anchor="t" rtlCol="false"/>
                    <a:lstStyle/>
                    <a:p>
                      <a:pPr algn="l">
                        <a:lnSpc>
                          <a:spcPts val="3079"/>
                        </a:lnSpc>
                        <a:defRPr/>
                      </a:pPr>
                      <a:r>
                        <a:rPr lang="en-US" sz="2199">
                          <a:solidFill>
                            <a:srgbClr val="FFFFFF"/>
                          </a:solidFill>
                          <a:latin typeface="Arimo"/>
                          <a:ea typeface="Arimo"/>
                          <a:cs typeface="Arimo"/>
                          <a:sym typeface="Arimo"/>
                        </a:rPr>
                        <a:t>Semantik yol</a:t>
                      </a:r>
                      <a:endParaRPr lang="en-US" sz="1100"/>
                    </a:p>
                  </a:txBody>
                  <a:tcPr marL="57150" marR="57150" marT="57150" marB="5715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079"/>
                        </a:lnSpc>
                        <a:defRPr/>
                      </a:pPr>
                      <a:r>
                        <a:rPr lang="en-US" sz="2199">
                          <a:solidFill>
                            <a:srgbClr val="FFFFFF"/>
                          </a:solidFill>
                          <a:latin typeface="Arimo"/>
                          <a:ea typeface="Arimo"/>
                          <a:cs typeface="Arimo"/>
                          <a:sym typeface="Arimo"/>
                        </a:rPr>
                        <a:t>Mövcud sözün yeni məna qazanması ilə yaranır</a:t>
                      </a:r>
                      <a:endParaRPr lang="en-US" sz="1100"/>
                    </a:p>
                  </a:txBody>
                  <a:tcPr marL="57150" marR="57150" marT="57150" marB="5715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079"/>
                        </a:lnSpc>
                        <a:defRPr/>
                      </a:pPr>
                      <a:r>
                        <a:rPr lang="en-US" sz="2199">
                          <a:solidFill>
                            <a:srgbClr val="FFFFFF"/>
                          </a:solidFill>
                          <a:latin typeface="Arimo"/>
                          <a:ea typeface="Arimo"/>
                          <a:cs typeface="Arimo"/>
                          <a:sym typeface="Arimo"/>
                        </a:rPr>
                        <a:t>Platforma - əvvəlki mənasından əlavə yeni texnoloji məna qazanmışdır</a:t>
                      </a:r>
                      <a:endParaRPr lang="en-US" sz="1100"/>
                    </a:p>
                  </a:txBody>
                  <a:tcPr marL="57150" marR="57150" marT="57150" marB="5715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438557">
                <a:tc>
                  <a:txBody>
                    <a:bodyPr anchor="t" rtlCol="false"/>
                    <a:lstStyle/>
                    <a:p>
                      <a:pPr algn="l">
                        <a:lnSpc>
                          <a:spcPts val="3079"/>
                        </a:lnSpc>
                        <a:defRPr/>
                      </a:pPr>
                      <a:r>
                        <a:rPr lang="en-US" sz="2199">
                          <a:solidFill>
                            <a:srgbClr val="FFFFFF"/>
                          </a:solidFill>
                          <a:latin typeface="Arimo"/>
                          <a:ea typeface="Arimo"/>
                          <a:cs typeface="Arimo"/>
                          <a:sym typeface="Arimo"/>
                        </a:rPr>
                        <a:t>Morfoloji yol</a:t>
                      </a:r>
                      <a:endParaRPr lang="en-US" sz="1100"/>
                    </a:p>
                  </a:txBody>
                  <a:tcPr marL="57150" marR="57150" marT="57150" marB="5715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079"/>
                        </a:lnSpc>
                        <a:defRPr/>
                      </a:pPr>
                      <a:r>
                        <a:rPr lang="en-US" sz="2199">
                          <a:solidFill>
                            <a:srgbClr val="FFFFFF"/>
                          </a:solidFill>
                          <a:latin typeface="Arimo"/>
                          <a:ea typeface="Arimo"/>
                          <a:cs typeface="Arimo"/>
                          <a:sym typeface="Arimo"/>
                        </a:rPr>
                        <a:t>Söz düzəltmə vasitələri ilə yeni sözlərin yaradılmasıdır</a:t>
                      </a:r>
                      <a:endParaRPr lang="en-US" sz="1100"/>
                    </a:p>
                  </a:txBody>
                  <a:tcPr marL="57150" marR="57150" marT="57150" marB="5715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079"/>
                        </a:lnSpc>
                        <a:defRPr/>
                      </a:pPr>
                      <a:r>
                        <a:rPr lang="en-US" sz="2199">
                          <a:solidFill>
                            <a:srgbClr val="FFFFFF"/>
                          </a:solidFill>
                          <a:latin typeface="Arimo"/>
                          <a:ea typeface="Arimo"/>
                          <a:cs typeface="Arimo"/>
                          <a:sym typeface="Arimo"/>
                        </a:rPr>
                        <a:t>Yenilənmə - “yenilə” sözünə şəkilçi artırılaraq düzəlmişdir.</a:t>
                      </a:r>
                      <a:endParaRPr lang="en-US" sz="1100"/>
                    </a:p>
                  </a:txBody>
                  <a:tcPr marL="57150" marR="57150" marT="57150" marB="5715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14" id="14"/>
          <p:cNvSpPr txBox="true"/>
          <p:nvPr/>
        </p:nvSpPr>
        <p:spPr>
          <a:xfrm rot="0">
            <a:off x="475421" y="222161"/>
            <a:ext cx="9000698" cy="806539"/>
          </a:xfrm>
          <a:prstGeom prst="rect">
            <a:avLst/>
          </a:prstGeom>
        </p:spPr>
        <p:txBody>
          <a:bodyPr anchor="t" rtlCol="false" tIns="0" lIns="0" bIns="0" rIns="0">
            <a:spAutoFit/>
          </a:bodyPr>
          <a:lstStyle/>
          <a:p>
            <a:pPr algn="l">
              <a:lnSpc>
                <a:spcPts val="6502"/>
              </a:lnSpc>
              <a:spcBef>
                <a:spcPct val="0"/>
              </a:spcBef>
            </a:pPr>
            <a:r>
              <a:rPr lang="en-US" b="true" sz="4644">
                <a:solidFill>
                  <a:srgbClr val="FFFFFF"/>
                </a:solidFill>
                <a:latin typeface="Zilla Slab Bold"/>
                <a:ea typeface="Zilla Slab Bold"/>
                <a:cs typeface="Zilla Slab Bold"/>
                <a:sym typeface="Zilla Slab Bold"/>
              </a:rPr>
              <a:t>Neologizmlərin yar</a:t>
            </a:r>
            <a:r>
              <a:rPr lang="en-US" b="true" sz="4644">
                <a:solidFill>
                  <a:srgbClr val="FFFFFF"/>
                </a:solidFill>
                <a:latin typeface="Zilla Slab Bold"/>
                <a:ea typeface="Zilla Slab Bold"/>
                <a:cs typeface="Zilla Slab Bold"/>
                <a:sym typeface="Zilla Slab Bold"/>
              </a:rPr>
              <a:t>anma yolları</a:t>
            </a:r>
          </a:p>
        </p:txBody>
      </p:sp>
      <p:grpSp>
        <p:nvGrpSpPr>
          <p:cNvPr name="Group 15" id="15"/>
          <p:cNvGrpSpPr/>
          <p:nvPr/>
        </p:nvGrpSpPr>
        <p:grpSpPr>
          <a:xfrm rot="0">
            <a:off x="4134380" y="3835127"/>
            <a:ext cx="943369" cy="1315566"/>
            <a:chOff x="0" y="0"/>
            <a:chExt cx="582844" cy="812800"/>
          </a:xfrm>
        </p:grpSpPr>
        <p:sp>
          <p:nvSpPr>
            <p:cNvPr name="Freeform 16" id="16"/>
            <p:cNvSpPr/>
            <p:nvPr/>
          </p:nvSpPr>
          <p:spPr>
            <a:xfrm flipH="false" flipV="false" rot="0">
              <a:off x="0" y="0"/>
              <a:ext cx="582844" cy="812800"/>
            </a:xfrm>
            <a:custGeom>
              <a:avLst/>
              <a:gdLst/>
              <a:ahLst/>
              <a:cxnLst/>
              <a:rect r="r" b="b" t="t" l="l"/>
              <a:pathLst>
                <a:path h="812800" w="582844">
                  <a:moveTo>
                    <a:pt x="291422" y="812800"/>
                  </a:moveTo>
                  <a:lnTo>
                    <a:pt x="0" y="406400"/>
                  </a:lnTo>
                  <a:lnTo>
                    <a:pt x="203200" y="406400"/>
                  </a:lnTo>
                  <a:lnTo>
                    <a:pt x="203200" y="0"/>
                  </a:lnTo>
                  <a:lnTo>
                    <a:pt x="379644" y="0"/>
                  </a:lnTo>
                  <a:lnTo>
                    <a:pt x="379644" y="406400"/>
                  </a:lnTo>
                  <a:lnTo>
                    <a:pt x="582844" y="406400"/>
                  </a:lnTo>
                  <a:lnTo>
                    <a:pt x="291422" y="812800"/>
                  </a:lnTo>
                  <a:close/>
                </a:path>
              </a:pathLst>
            </a:custGeom>
            <a:solidFill>
              <a:srgbClr val="093F9A"/>
            </a:solidFill>
          </p:spPr>
        </p:sp>
        <p:sp>
          <p:nvSpPr>
            <p:cNvPr name="TextBox 17" id="17"/>
            <p:cNvSpPr txBox="true"/>
            <p:nvPr/>
          </p:nvSpPr>
          <p:spPr>
            <a:xfrm>
              <a:off x="203200" y="-47625"/>
              <a:ext cx="176444" cy="75882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0126374" y="1524451"/>
            <a:ext cx="6895507" cy="2968458"/>
          </a:xfrm>
          <a:prstGeom prst="rect">
            <a:avLst/>
          </a:prstGeom>
        </p:spPr>
        <p:txBody>
          <a:bodyPr anchor="t" rtlCol="false" tIns="0" lIns="0" bIns="0" rIns="0">
            <a:spAutoFit/>
          </a:bodyPr>
          <a:lstStyle/>
          <a:p>
            <a:pPr algn="l" marL="521941" indent="-260971" lvl="1">
              <a:lnSpc>
                <a:spcPts val="3384"/>
              </a:lnSpc>
              <a:buFont typeface="Arial"/>
              <a:buChar char="•"/>
            </a:pPr>
            <a:r>
              <a:rPr lang="en-US" sz="2417">
                <a:solidFill>
                  <a:srgbClr val="FFFFFF"/>
                </a:solidFill>
                <a:latin typeface="Zilla Slab"/>
                <a:ea typeface="Zilla Slab"/>
                <a:cs typeface="Zilla Slab"/>
                <a:sym typeface="Zilla Slab"/>
              </a:rPr>
              <a:t>Sözə yeni məna verilməsi,</a:t>
            </a:r>
          </a:p>
          <a:p>
            <a:pPr algn="l" marL="521941" indent="-260971" lvl="1">
              <a:lnSpc>
                <a:spcPts val="3384"/>
              </a:lnSpc>
              <a:buFont typeface="Arial"/>
              <a:buChar char="•"/>
            </a:pPr>
            <a:r>
              <a:rPr lang="en-US" sz="2417">
                <a:solidFill>
                  <a:srgbClr val="FFFFFF"/>
                </a:solidFill>
                <a:latin typeface="Zilla Slab"/>
                <a:ea typeface="Zilla Slab"/>
                <a:cs typeface="Zilla Slab"/>
                <a:sym typeface="Zilla Slab"/>
              </a:rPr>
              <a:t>Y</a:t>
            </a:r>
            <a:r>
              <a:rPr lang="en-US" sz="2417">
                <a:solidFill>
                  <a:srgbClr val="FFFFFF"/>
                </a:solidFill>
                <a:latin typeface="Zilla Slab"/>
                <a:ea typeface="Zilla Slab"/>
                <a:cs typeface="Zilla Slab"/>
                <a:sym typeface="Zilla Slab"/>
              </a:rPr>
              <a:t>eni söz düzəltmə modelləri,</a:t>
            </a:r>
          </a:p>
          <a:p>
            <a:pPr algn="l" marL="521941" indent="-260971" lvl="1">
              <a:lnSpc>
                <a:spcPts val="3384"/>
              </a:lnSpc>
              <a:buFont typeface="Arial"/>
              <a:buChar char="•"/>
            </a:pPr>
            <a:r>
              <a:rPr lang="en-US" sz="2417">
                <a:solidFill>
                  <a:srgbClr val="FFFFFF"/>
                </a:solidFill>
                <a:latin typeface="Zilla Slab"/>
                <a:ea typeface="Zilla Slab"/>
                <a:cs typeface="Zilla Slab"/>
                <a:sym typeface="Zilla Slab"/>
              </a:rPr>
              <a:t>S</a:t>
            </a:r>
            <a:r>
              <a:rPr lang="en-US" sz="2417">
                <a:solidFill>
                  <a:srgbClr val="FFFFFF"/>
                </a:solidFill>
                <a:latin typeface="Zilla Slab"/>
                <a:ea typeface="Zilla Slab"/>
                <a:cs typeface="Zilla Slab"/>
                <a:sym typeface="Zilla Slab"/>
              </a:rPr>
              <a:t>öz birləşmələri</a:t>
            </a:r>
          </a:p>
          <a:p>
            <a:pPr algn="l">
              <a:lnSpc>
                <a:spcPts val="3384"/>
              </a:lnSpc>
            </a:pPr>
            <a:r>
              <a:rPr lang="en-US" sz="2417">
                <a:solidFill>
                  <a:srgbClr val="FFFFFF"/>
                </a:solidFill>
                <a:latin typeface="Zilla Slab"/>
                <a:ea typeface="Zilla Slab"/>
                <a:cs typeface="Zilla Slab"/>
                <a:sym typeface="Zilla Slab"/>
              </a:rPr>
              <a:t>N</a:t>
            </a:r>
            <a:r>
              <a:rPr lang="en-US" sz="2417">
                <a:solidFill>
                  <a:srgbClr val="FFFFFF"/>
                </a:solidFill>
                <a:latin typeface="Zilla Slab"/>
                <a:ea typeface="Zilla Slab"/>
                <a:cs typeface="Zilla Slab"/>
                <a:sym typeface="Zilla Slab"/>
              </a:rPr>
              <a:t>eologizmin yaranma yollarındandır.</a:t>
            </a:r>
          </a:p>
          <a:p>
            <a:pPr algn="l">
              <a:lnSpc>
                <a:spcPts val="3384"/>
              </a:lnSpc>
            </a:pPr>
            <a:r>
              <a:rPr lang="en-US" sz="2417">
                <a:solidFill>
                  <a:srgbClr val="FFFFFF"/>
                </a:solidFill>
                <a:latin typeface="Zilla Slab"/>
                <a:ea typeface="Zilla Slab"/>
                <a:cs typeface="Zilla Slab"/>
                <a:sym typeface="Zilla Slab"/>
              </a:rPr>
              <a:t> Başqa dildən alınan sözlər isə Azərbaycan dilinin fonetik və qrammatik sisteminə uyğunlaşdırılaraq mənimsənilir.</a:t>
            </a:r>
          </a:p>
        </p:txBody>
      </p:sp>
      <p:grpSp>
        <p:nvGrpSpPr>
          <p:cNvPr name="Group 19" id="19"/>
          <p:cNvGrpSpPr/>
          <p:nvPr/>
        </p:nvGrpSpPr>
        <p:grpSpPr>
          <a:xfrm rot="0">
            <a:off x="10245198" y="1618303"/>
            <a:ext cx="353184" cy="1192662"/>
            <a:chOff x="0" y="0"/>
            <a:chExt cx="151439" cy="511392"/>
          </a:xfrm>
        </p:grpSpPr>
        <p:sp>
          <p:nvSpPr>
            <p:cNvPr name="Freeform 20" id="20"/>
            <p:cNvSpPr/>
            <p:nvPr/>
          </p:nvSpPr>
          <p:spPr>
            <a:xfrm flipH="false" flipV="false" rot="0">
              <a:off x="0" y="0"/>
              <a:ext cx="151439" cy="511392"/>
            </a:xfrm>
            <a:custGeom>
              <a:avLst/>
              <a:gdLst/>
              <a:ahLst/>
              <a:cxnLst/>
              <a:rect r="r" b="b" t="t" l="l"/>
              <a:pathLst>
                <a:path h="511392" w="151439">
                  <a:moveTo>
                    <a:pt x="75719" y="0"/>
                  </a:moveTo>
                  <a:lnTo>
                    <a:pt x="75719" y="0"/>
                  </a:lnTo>
                  <a:cubicBezTo>
                    <a:pt x="95801" y="0"/>
                    <a:pt x="115061" y="7978"/>
                    <a:pt x="129261" y="22178"/>
                  </a:cubicBezTo>
                  <a:cubicBezTo>
                    <a:pt x="143461" y="36378"/>
                    <a:pt x="151439" y="55637"/>
                    <a:pt x="151439" y="75719"/>
                  </a:cubicBezTo>
                  <a:lnTo>
                    <a:pt x="151439" y="435672"/>
                  </a:lnTo>
                  <a:cubicBezTo>
                    <a:pt x="151439" y="455754"/>
                    <a:pt x="143461" y="475014"/>
                    <a:pt x="129261" y="489214"/>
                  </a:cubicBezTo>
                  <a:cubicBezTo>
                    <a:pt x="115061" y="503414"/>
                    <a:pt x="95801" y="511392"/>
                    <a:pt x="75719" y="511392"/>
                  </a:cubicBezTo>
                  <a:lnTo>
                    <a:pt x="75719" y="511392"/>
                  </a:lnTo>
                  <a:cubicBezTo>
                    <a:pt x="55637" y="511392"/>
                    <a:pt x="36378" y="503414"/>
                    <a:pt x="22178" y="489214"/>
                  </a:cubicBezTo>
                  <a:cubicBezTo>
                    <a:pt x="7978" y="475014"/>
                    <a:pt x="0" y="455754"/>
                    <a:pt x="0" y="435672"/>
                  </a:cubicBezTo>
                  <a:lnTo>
                    <a:pt x="0" y="75719"/>
                  </a:lnTo>
                  <a:cubicBezTo>
                    <a:pt x="0" y="55637"/>
                    <a:pt x="7978" y="36378"/>
                    <a:pt x="22178" y="22178"/>
                  </a:cubicBezTo>
                  <a:cubicBezTo>
                    <a:pt x="36378" y="7978"/>
                    <a:pt x="55637" y="0"/>
                    <a:pt x="75719" y="0"/>
                  </a:cubicBezTo>
                  <a:close/>
                </a:path>
              </a:pathLst>
            </a:custGeom>
            <a:solidFill>
              <a:srgbClr val="00173D"/>
            </a:solidFill>
            <a:ln cap="rnd">
              <a:noFill/>
              <a:prstDash val="solid"/>
              <a:round/>
            </a:ln>
          </p:spPr>
        </p:sp>
        <p:sp>
          <p:nvSpPr>
            <p:cNvPr name="TextBox 21" id="21"/>
            <p:cNvSpPr txBox="true"/>
            <p:nvPr/>
          </p:nvSpPr>
          <p:spPr>
            <a:xfrm>
              <a:off x="0" y="-47625"/>
              <a:ext cx="151439" cy="559017"/>
            </a:xfrm>
            <a:prstGeom prst="rect">
              <a:avLst/>
            </a:prstGeom>
          </p:spPr>
          <p:txBody>
            <a:bodyPr anchor="ctr" rtlCol="false" tIns="50800" lIns="50800" bIns="50800" rIns="50800"/>
            <a:lstStyle/>
            <a:p>
              <a:pPr algn="ctr">
                <a:lnSpc>
                  <a:spcPts val="2659"/>
                </a:lnSpc>
                <a:spcBef>
                  <a:spcPct val="0"/>
                </a:spcBef>
              </a:pPr>
            </a:p>
          </p:txBody>
        </p:sp>
      </p:grpSp>
      <p:sp>
        <p:nvSpPr>
          <p:cNvPr name="Freeform 22" id="22"/>
          <p:cNvSpPr/>
          <p:nvPr/>
        </p:nvSpPr>
        <p:spPr>
          <a:xfrm flipH="false" flipV="false" rot="0">
            <a:off x="10245198" y="1618303"/>
            <a:ext cx="353184" cy="353184"/>
          </a:xfrm>
          <a:custGeom>
            <a:avLst/>
            <a:gdLst/>
            <a:ahLst/>
            <a:cxnLst/>
            <a:rect r="r" b="b" t="t" l="l"/>
            <a:pathLst>
              <a:path h="353184" w="353184">
                <a:moveTo>
                  <a:pt x="0" y="0"/>
                </a:moveTo>
                <a:lnTo>
                  <a:pt x="353184" y="0"/>
                </a:lnTo>
                <a:lnTo>
                  <a:pt x="353184" y="353183"/>
                </a:lnTo>
                <a:lnTo>
                  <a:pt x="0" y="353183"/>
                </a:lnTo>
                <a:lnTo>
                  <a:pt x="0" y="0"/>
                </a:lnTo>
                <a:close/>
              </a:path>
            </a:pathLst>
          </a:custGeom>
          <a:blipFill>
            <a:blip r:embed="rId3"/>
            <a:stretch>
              <a:fillRect l="0" t="0" r="0" b="0"/>
            </a:stretch>
          </a:blipFill>
        </p:spPr>
      </p:sp>
      <p:sp>
        <p:nvSpPr>
          <p:cNvPr name="Freeform 23" id="23"/>
          <p:cNvSpPr/>
          <p:nvPr/>
        </p:nvSpPr>
        <p:spPr>
          <a:xfrm flipH="false" flipV="false" rot="0">
            <a:off x="10245198" y="2038042"/>
            <a:ext cx="353184" cy="353184"/>
          </a:xfrm>
          <a:custGeom>
            <a:avLst/>
            <a:gdLst/>
            <a:ahLst/>
            <a:cxnLst/>
            <a:rect r="r" b="b" t="t" l="l"/>
            <a:pathLst>
              <a:path h="353184" w="353184">
                <a:moveTo>
                  <a:pt x="0" y="0"/>
                </a:moveTo>
                <a:lnTo>
                  <a:pt x="353184" y="0"/>
                </a:lnTo>
                <a:lnTo>
                  <a:pt x="353184" y="353184"/>
                </a:lnTo>
                <a:lnTo>
                  <a:pt x="0" y="353184"/>
                </a:lnTo>
                <a:lnTo>
                  <a:pt x="0" y="0"/>
                </a:lnTo>
                <a:close/>
              </a:path>
            </a:pathLst>
          </a:custGeom>
          <a:blipFill>
            <a:blip r:embed="rId3"/>
            <a:stretch>
              <a:fillRect l="0" t="0" r="0" b="0"/>
            </a:stretch>
          </a:blipFill>
        </p:spPr>
      </p:sp>
      <p:sp>
        <p:nvSpPr>
          <p:cNvPr name="Freeform 24" id="24"/>
          <p:cNvSpPr/>
          <p:nvPr/>
        </p:nvSpPr>
        <p:spPr>
          <a:xfrm flipH="false" flipV="false" rot="0">
            <a:off x="10245198" y="2457782"/>
            <a:ext cx="353184" cy="353184"/>
          </a:xfrm>
          <a:custGeom>
            <a:avLst/>
            <a:gdLst/>
            <a:ahLst/>
            <a:cxnLst/>
            <a:rect r="r" b="b" t="t" l="l"/>
            <a:pathLst>
              <a:path h="353184" w="353184">
                <a:moveTo>
                  <a:pt x="0" y="0"/>
                </a:moveTo>
                <a:lnTo>
                  <a:pt x="353184" y="0"/>
                </a:lnTo>
                <a:lnTo>
                  <a:pt x="353184" y="353183"/>
                </a:lnTo>
                <a:lnTo>
                  <a:pt x="0" y="353183"/>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247" y="0"/>
            <a:ext cx="18294494" cy="10287000"/>
          </a:xfrm>
          <a:custGeom>
            <a:avLst/>
            <a:gdLst/>
            <a:ahLst/>
            <a:cxnLst/>
            <a:rect r="r" b="b" t="t" l="l"/>
            <a:pathLst>
              <a:path h="10287000" w="18294494">
                <a:moveTo>
                  <a:pt x="18294494" y="10287000"/>
                </a:moveTo>
                <a:lnTo>
                  <a:pt x="0" y="10287000"/>
                </a:lnTo>
                <a:lnTo>
                  <a:pt x="0" y="0"/>
                </a:lnTo>
                <a:lnTo>
                  <a:pt x="18294494" y="0"/>
                </a:lnTo>
                <a:lnTo>
                  <a:pt x="18294494" y="10287000"/>
                </a:lnTo>
                <a:close/>
              </a:path>
            </a:pathLst>
          </a:custGeom>
          <a:blipFill>
            <a:blip r:embed="rId2"/>
            <a:stretch>
              <a:fillRect l="0" t="0" r="0" b="0"/>
            </a:stretch>
          </a:blipFill>
        </p:spPr>
      </p:sp>
      <p:grpSp>
        <p:nvGrpSpPr>
          <p:cNvPr name="Group 3" id="3"/>
          <p:cNvGrpSpPr/>
          <p:nvPr/>
        </p:nvGrpSpPr>
        <p:grpSpPr>
          <a:xfrm rot="0">
            <a:off x="173322" y="4249289"/>
            <a:ext cx="8740684" cy="4065885"/>
            <a:chOff x="0" y="0"/>
            <a:chExt cx="3747844" cy="1743376"/>
          </a:xfrm>
        </p:grpSpPr>
        <p:sp>
          <p:nvSpPr>
            <p:cNvPr name="Freeform 4" id="4"/>
            <p:cNvSpPr/>
            <p:nvPr/>
          </p:nvSpPr>
          <p:spPr>
            <a:xfrm flipH="false" flipV="false" rot="0">
              <a:off x="0" y="0"/>
              <a:ext cx="3747844" cy="1743376"/>
            </a:xfrm>
            <a:custGeom>
              <a:avLst/>
              <a:gdLst/>
              <a:ahLst/>
              <a:cxnLst/>
              <a:rect r="r" b="b" t="t" l="l"/>
              <a:pathLst>
                <a:path h="1743376" w="3747844">
                  <a:moveTo>
                    <a:pt x="46058" y="0"/>
                  </a:moveTo>
                  <a:lnTo>
                    <a:pt x="3701786" y="0"/>
                  </a:lnTo>
                  <a:cubicBezTo>
                    <a:pt x="3727223" y="0"/>
                    <a:pt x="3747844" y="20621"/>
                    <a:pt x="3747844" y="46058"/>
                  </a:cubicBezTo>
                  <a:lnTo>
                    <a:pt x="3747844" y="1697318"/>
                  </a:lnTo>
                  <a:cubicBezTo>
                    <a:pt x="3747844" y="1709533"/>
                    <a:pt x="3742991" y="1721248"/>
                    <a:pt x="3734353" y="1729886"/>
                  </a:cubicBezTo>
                  <a:cubicBezTo>
                    <a:pt x="3725716" y="1738524"/>
                    <a:pt x="3714001" y="1743376"/>
                    <a:pt x="3701786" y="1743376"/>
                  </a:cubicBezTo>
                  <a:lnTo>
                    <a:pt x="46058" y="1743376"/>
                  </a:lnTo>
                  <a:cubicBezTo>
                    <a:pt x="20621" y="1743376"/>
                    <a:pt x="0" y="1722755"/>
                    <a:pt x="0" y="1697318"/>
                  </a:cubicBezTo>
                  <a:lnTo>
                    <a:pt x="0" y="46058"/>
                  </a:lnTo>
                  <a:cubicBezTo>
                    <a:pt x="0" y="20621"/>
                    <a:pt x="20621" y="0"/>
                    <a:pt x="46058" y="0"/>
                  </a:cubicBezTo>
                  <a:close/>
                </a:path>
              </a:pathLst>
            </a:custGeom>
            <a:solidFill>
              <a:srgbClr val="000000">
                <a:alpha val="56863"/>
              </a:srgbClr>
            </a:solidFill>
            <a:ln cap="rnd">
              <a:noFill/>
              <a:prstDash val="solid"/>
              <a:round/>
            </a:ln>
          </p:spPr>
        </p:sp>
        <p:sp>
          <p:nvSpPr>
            <p:cNvPr name="TextBox 5" id="5"/>
            <p:cNvSpPr txBox="true"/>
            <p:nvPr/>
          </p:nvSpPr>
          <p:spPr>
            <a:xfrm>
              <a:off x="0" y="-47625"/>
              <a:ext cx="3747844" cy="179100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3322" y="2435600"/>
            <a:ext cx="11859928" cy="1623189"/>
            <a:chOff x="0" y="0"/>
            <a:chExt cx="5085318" cy="695993"/>
          </a:xfrm>
        </p:grpSpPr>
        <p:sp>
          <p:nvSpPr>
            <p:cNvPr name="Freeform 7" id="7"/>
            <p:cNvSpPr/>
            <p:nvPr/>
          </p:nvSpPr>
          <p:spPr>
            <a:xfrm flipH="false" flipV="false" rot="0">
              <a:off x="0" y="0"/>
              <a:ext cx="5085318" cy="695993"/>
            </a:xfrm>
            <a:custGeom>
              <a:avLst/>
              <a:gdLst/>
              <a:ahLst/>
              <a:cxnLst/>
              <a:rect r="r" b="b" t="t" l="l"/>
              <a:pathLst>
                <a:path h="695993" w="5085318">
                  <a:moveTo>
                    <a:pt x="33945" y="0"/>
                  </a:moveTo>
                  <a:lnTo>
                    <a:pt x="5051373" y="0"/>
                  </a:lnTo>
                  <a:cubicBezTo>
                    <a:pt x="5070120" y="0"/>
                    <a:pt x="5085318" y="15197"/>
                    <a:pt x="5085318" y="33945"/>
                  </a:cubicBezTo>
                  <a:lnTo>
                    <a:pt x="5085318" y="662049"/>
                  </a:lnTo>
                  <a:cubicBezTo>
                    <a:pt x="5085318" y="680796"/>
                    <a:pt x="5070120" y="695993"/>
                    <a:pt x="5051373" y="695993"/>
                  </a:cubicBezTo>
                  <a:lnTo>
                    <a:pt x="33945" y="695993"/>
                  </a:lnTo>
                  <a:cubicBezTo>
                    <a:pt x="15197" y="695993"/>
                    <a:pt x="0" y="680796"/>
                    <a:pt x="0" y="662049"/>
                  </a:cubicBezTo>
                  <a:lnTo>
                    <a:pt x="0" y="33945"/>
                  </a:lnTo>
                  <a:cubicBezTo>
                    <a:pt x="0" y="15197"/>
                    <a:pt x="15197" y="0"/>
                    <a:pt x="33945" y="0"/>
                  </a:cubicBezTo>
                  <a:close/>
                </a:path>
              </a:pathLst>
            </a:custGeom>
            <a:solidFill>
              <a:srgbClr val="00173D">
                <a:alpha val="81961"/>
              </a:srgbClr>
            </a:solidFill>
            <a:ln cap="rnd">
              <a:noFill/>
              <a:prstDash val="solid"/>
              <a:round/>
            </a:ln>
          </p:spPr>
        </p:sp>
        <p:sp>
          <p:nvSpPr>
            <p:cNvPr name="TextBox 8" id="8"/>
            <p:cNvSpPr txBox="true"/>
            <p:nvPr/>
          </p:nvSpPr>
          <p:spPr>
            <a:xfrm>
              <a:off x="0" y="-47625"/>
              <a:ext cx="5085318" cy="74361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144000" y="4249289"/>
            <a:ext cx="8740684" cy="4065885"/>
            <a:chOff x="0" y="0"/>
            <a:chExt cx="3747844" cy="1743376"/>
          </a:xfrm>
        </p:grpSpPr>
        <p:sp>
          <p:nvSpPr>
            <p:cNvPr name="Freeform 10" id="10"/>
            <p:cNvSpPr/>
            <p:nvPr/>
          </p:nvSpPr>
          <p:spPr>
            <a:xfrm flipH="false" flipV="false" rot="0">
              <a:off x="0" y="0"/>
              <a:ext cx="3747844" cy="1743376"/>
            </a:xfrm>
            <a:custGeom>
              <a:avLst/>
              <a:gdLst/>
              <a:ahLst/>
              <a:cxnLst/>
              <a:rect r="r" b="b" t="t" l="l"/>
              <a:pathLst>
                <a:path h="1743376" w="3747844">
                  <a:moveTo>
                    <a:pt x="46058" y="0"/>
                  </a:moveTo>
                  <a:lnTo>
                    <a:pt x="3701786" y="0"/>
                  </a:lnTo>
                  <a:cubicBezTo>
                    <a:pt x="3727223" y="0"/>
                    <a:pt x="3747844" y="20621"/>
                    <a:pt x="3747844" y="46058"/>
                  </a:cubicBezTo>
                  <a:lnTo>
                    <a:pt x="3747844" y="1697318"/>
                  </a:lnTo>
                  <a:cubicBezTo>
                    <a:pt x="3747844" y="1709533"/>
                    <a:pt x="3742991" y="1721248"/>
                    <a:pt x="3734353" y="1729886"/>
                  </a:cubicBezTo>
                  <a:cubicBezTo>
                    <a:pt x="3725716" y="1738524"/>
                    <a:pt x="3714001" y="1743376"/>
                    <a:pt x="3701786" y="1743376"/>
                  </a:cubicBezTo>
                  <a:lnTo>
                    <a:pt x="46058" y="1743376"/>
                  </a:lnTo>
                  <a:cubicBezTo>
                    <a:pt x="20621" y="1743376"/>
                    <a:pt x="0" y="1722755"/>
                    <a:pt x="0" y="1697318"/>
                  </a:cubicBezTo>
                  <a:lnTo>
                    <a:pt x="0" y="46058"/>
                  </a:lnTo>
                  <a:cubicBezTo>
                    <a:pt x="0" y="20621"/>
                    <a:pt x="20621" y="0"/>
                    <a:pt x="46058" y="0"/>
                  </a:cubicBezTo>
                  <a:close/>
                </a:path>
              </a:pathLst>
            </a:custGeom>
            <a:solidFill>
              <a:srgbClr val="000000">
                <a:alpha val="56863"/>
              </a:srgbClr>
            </a:solidFill>
            <a:ln cap="rnd">
              <a:noFill/>
              <a:prstDash val="solid"/>
              <a:round/>
            </a:ln>
          </p:spPr>
        </p:sp>
        <p:sp>
          <p:nvSpPr>
            <p:cNvPr name="TextBox 11" id="11"/>
            <p:cNvSpPr txBox="true"/>
            <p:nvPr/>
          </p:nvSpPr>
          <p:spPr>
            <a:xfrm>
              <a:off x="0" y="-47625"/>
              <a:ext cx="3747844" cy="1791001"/>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5107786" y="326936"/>
            <a:ext cx="2375782" cy="2375782"/>
          </a:xfrm>
          <a:custGeom>
            <a:avLst/>
            <a:gdLst/>
            <a:ahLst/>
            <a:cxnLst/>
            <a:rect r="r" b="b" t="t" l="l"/>
            <a:pathLst>
              <a:path h="2375782" w="2375782">
                <a:moveTo>
                  <a:pt x="0" y="0"/>
                </a:moveTo>
                <a:lnTo>
                  <a:pt x="2375781" y="0"/>
                </a:lnTo>
                <a:lnTo>
                  <a:pt x="2375781" y="2375782"/>
                </a:lnTo>
                <a:lnTo>
                  <a:pt x="0" y="2375782"/>
                </a:lnTo>
                <a:lnTo>
                  <a:pt x="0" y="0"/>
                </a:lnTo>
                <a:close/>
              </a:path>
            </a:pathLst>
          </a:custGeom>
          <a:blipFill>
            <a:blip r:embed="rId3"/>
            <a:stretch>
              <a:fillRect l="0" t="0" r="0" b="0"/>
            </a:stretch>
          </a:blipFill>
        </p:spPr>
      </p:sp>
      <p:sp>
        <p:nvSpPr>
          <p:cNvPr name="TextBox 13" id="13"/>
          <p:cNvSpPr txBox="true"/>
          <p:nvPr/>
        </p:nvSpPr>
        <p:spPr>
          <a:xfrm rot="0">
            <a:off x="475421" y="2668475"/>
            <a:ext cx="11146284" cy="994039"/>
          </a:xfrm>
          <a:prstGeom prst="rect">
            <a:avLst/>
          </a:prstGeom>
        </p:spPr>
        <p:txBody>
          <a:bodyPr anchor="t" rtlCol="false" tIns="0" lIns="0" bIns="0" rIns="0">
            <a:spAutoFit/>
          </a:bodyPr>
          <a:lstStyle/>
          <a:p>
            <a:pPr algn="l">
              <a:lnSpc>
                <a:spcPts val="4010"/>
              </a:lnSpc>
            </a:pPr>
            <a:r>
              <a:rPr lang="en-US" sz="2864">
                <a:solidFill>
                  <a:srgbClr val="FFFFFF"/>
                </a:solidFill>
                <a:latin typeface="Zilla Slab"/>
                <a:ea typeface="Zilla Slab"/>
                <a:cs typeface="Zilla Slab"/>
                <a:sym typeface="Zilla Slab"/>
              </a:rPr>
              <a:t>Müasir Azərbaycan dilində neologizmlər əsasən cəmiyyətin texnoloji və sosial inkişafı ilə bağlı yaranır və iki əsas istiqamətdə qruplaşır</a:t>
            </a:r>
          </a:p>
        </p:txBody>
      </p:sp>
      <p:sp>
        <p:nvSpPr>
          <p:cNvPr name="TextBox 14" id="14"/>
          <p:cNvSpPr txBox="true"/>
          <p:nvPr/>
        </p:nvSpPr>
        <p:spPr>
          <a:xfrm rot="0">
            <a:off x="475421" y="342599"/>
            <a:ext cx="12350018" cy="1678724"/>
          </a:xfrm>
          <a:prstGeom prst="rect">
            <a:avLst/>
          </a:prstGeom>
        </p:spPr>
        <p:txBody>
          <a:bodyPr anchor="t" rtlCol="false" tIns="0" lIns="0" bIns="0" rIns="0">
            <a:spAutoFit/>
          </a:bodyPr>
          <a:lstStyle/>
          <a:p>
            <a:pPr algn="l">
              <a:lnSpc>
                <a:spcPts val="6767"/>
              </a:lnSpc>
              <a:spcBef>
                <a:spcPct val="0"/>
              </a:spcBef>
            </a:pPr>
            <a:r>
              <a:rPr lang="en-US" b="true" sz="4833">
                <a:solidFill>
                  <a:srgbClr val="FFFFFF"/>
                </a:solidFill>
                <a:latin typeface="Zilla Slab Bold"/>
                <a:ea typeface="Zilla Slab Bold"/>
                <a:cs typeface="Zilla Slab Bold"/>
                <a:sym typeface="Zilla Slab Bold"/>
              </a:rPr>
              <a:t>Müasir Azərbaycan dilində neologizmlərin leksik-sem</a:t>
            </a:r>
            <a:r>
              <a:rPr lang="en-US" b="true" sz="4833">
                <a:solidFill>
                  <a:srgbClr val="FFFFFF"/>
                </a:solidFill>
                <a:latin typeface="Zilla Slab Bold"/>
                <a:ea typeface="Zilla Slab Bold"/>
                <a:cs typeface="Zilla Slab Bold"/>
                <a:sym typeface="Zilla Slab Bold"/>
              </a:rPr>
              <a:t>antik xüsusiyyətləri</a:t>
            </a:r>
          </a:p>
        </p:txBody>
      </p:sp>
      <p:sp>
        <p:nvSpPr>
          <p:cNvPr name="TextBox 15" id="15"/>
          <p:cNvSpPr txBox="true"/>
          <p:nvPr/>
        </p:nvSpPr>
        <p:spPr>
          <a:xfrm rot="0">
            <a:off x="475421" y="4477889"/>
            <a:ext cx="8311778" cy="3518164"/>
          </a:xfrm>
          <a:prstGeom prst="rect">
            <a:avLst/>
          </a:prstGeom>
        </p:spPr>
        <p:txBody>
          <a:bodyPr anchor="t" rtlCol="false" tIns="0" lIns="0" bIns="0" rIns="0">
            <a:spAutoFit/>
          </a:bodyPr>
          <a:lstStyle/>
          <a:p>
            <a:pPr algn="l">
              <a:lnSpc>
                <a:spcPts val="4010"/>
              </a:lnSpc>
            </a:pPr>
            <a:r>
              <a:rPr lang="en-US" sz="2864" i="true" b="true">
                <a:solidFill>
                  <a:srgbClr val="FFFFFF"/>
                </a:solidFill>
                <a:latin typeface="Zilla Slab Bold Italics"/>
                <a:ea typeface="Zilla Slab Bold Italics"/>
                <a:cs typeface="Zilla Slab Bold Italics"/>
                <a:sym typeface="Zilla Slab Bold Italics"/>
              </a:rPr>
              <a:t>Leksik xüsusiyyətlər</a:t>
            </a:r>
            <a:r>
              <a:rPr lang="en-US" sz="2864">
                <a:solidFill>
                  <a:srgbClr val="FFFFFF"/>
                </a:solidFill>
                <a:latin typeface="Zilla Slab"/>
                <a:ea typeface="Zilla Slab"/>
                <a:cs typeface="Zilla Slab"/>
                <a:sym typeface="Zilla Slab"/>
              </a:rPr>
              <a:t>: Dilin lüğət tərkibinə yeni söz köklərinin daxil olmasıdır. Bu, əsasən alınma sözlər məsələn: instaqram, provayder, startap - və ya dilin daxili imkanları ilə düzələn yeni sözlər </a:t>
            </a:r>
          </a:p>
          <a:p>
            <a:pPr algn="l">
              <a:lnSpc>
                <a:spcPts val="4010"/>
              </a:lnSpc>
            </a:pPr>
            <a:r>
              <a:rPr lang="en-US" sz="2864">
                <a:solidFill>
                  <a:srgbClr val="FFFFFF"/>
                </a:solidFill>
                <a:latin typeface="Zilla Slab"/>
                <a:ea typeface="Zilla Slab"/>
                <a:cs typeface="Zilla Slab"/>
                <a:sym typeface="Zilla Slab"/>
              </a:rPr>
              <a:t>məsələn: görüntü, dönərgə, soyuducu - hesabına baş verir. Burada əsas məqsəd dildəki adlandırma boşluğunu doldurmaqdır.</a:t>
            </a:r>
          </a:p>
        </p:txBody>
      </p:sp>
      <p:sp>
        <p:nvSpPr>
          <p:cNvPr name="TextBox 16" id="16"/>
          <p:cNvSpPr txBox="true"/>
          <p:nvPr/>
        </p:nvSpPr>
        <p:spPr>
          <a:xfrm rot="0">
            <a:off x="9446099" y="4477889"/>
            <a:ext cx="8037468" cy="3518164"/>
          </a:xfrm>
          <a:prstGeom prst="rect">
            <a:avLst/>
          </a:prstGeom>
        </p:spPr>
        <p:txBody>
          <a:bodyPr anchor="t" rtlCol="false" tIns="0" lIns="0" bIns="0" rIns="0">
            <a:spAutoFit/>
          </a:bodyPr>
          <a:lstStyle/>
          <a:p>
            <a:pPr algn="l" marL="0" indent="0" lvl="0">
              <a:lnSpc>
                <a:spcPts val="4010"/>
              </a:lnSpc>
              <a:spcBef>
                <a:spcPct val="0"/>
              </a:spcBef>
            </a:pPr>
            <a:r>
              <a:rPr lang="en-US" b="true" sz="2864" i="true" strike="noStrike" u="none">
                <a:solidFill>
                  <a:srgbClr val="FFFFFF"/>
                </a:solidFill>
                <a:latin typeface="Zilla Slab Bold Italics"/>
                <a:ea typeface="Zilla Slab Bold Italics"/>
                <a:cs typeface="Zilla Slab Bold Italics"/>
                <a:sym typeface="Zilla Slab Bold Italics"/>
              </a:rPr>
              <a:t>Semantik xüsusiyyətlər</a:t>
            </a:r>
            <a:r>
              <a:rPr lang="en-US" sz="2864" strike="noStrike" u="none">
                <a:solidFill>
                  <a:srgbClr val="FFFFFF"/>
                </a:solidFill>
                <a:latin typeface="Zilla Slab"/>
                <a:ea typeface="Zilla Slab"/>
                <a:cs typeface="Zilla Slab"/>
                <a:sym typeface="Zilla Slab"/>
              </a:rPr>
              <a:t>: Dildə olan mövcud sözlərin köhnə mənasını saxlayaraq yeni məna çalarları qazanmasıdır. Məsələn, əvvəllər yalnız fiziki əşyaları bildirən "yaddaş" sözü indi həm də rəqəmsal saxlama vahidi (GB) kimi işlənir, yaxud "səhifə" sözü artıq kitabla yanaşı sosial şəbəkə profilini ifadə edir.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247" y="0"/>
            <a:ext cx="18294494" cy="10287000"/>
          </a:xfrm>
          <a:custGeom>
            <a:avLst/>
            <a:gdLst/>
            <a:ahLst/>
            <a:cxnLst/>
            <a:rect r="r" b="b" t="t" l="l"/>
            <a:pathLst>
              <a:path h="10287000" w="18294494">
                <a:moveTo>
                  <a:pt x="18294494" y="10287000"/>
                </a:moveTo>
                <a:lnTo>
                  <a:pt x="0" y="10287000"/>
                </a:lnTo>
                <a:lnTo>
                  <a:pt x="0" y="0"/>
                </a:lnTo>
                <a:lnTo>
                  <a:pt x="18294494" y="0"/>
                </a:lnTo>
                <a:lnTo>
                  <a:pt x="18294494" y="10287000"/>
                </a:lnTo>
                <a:close/>
              </a:path>
            </a:pathLst>
          </a:custGeom>
          <a:blipFill>
            <a:blip r:embed="rId2"/>
            <a:stretch>
              <a:fillRect l="0" t="0" r="0" b="0"/>
            </a:stretch>
          </a:blipFill>
        </p:spPr>
      </p:sp>
      <p:grpSp>
        <p:nvGrpSpPr>
          <p:cNvPr name="Group 3" id="3"/>
          <p:cNvGrpSpPr/>
          <p:nvPr/>
        </p:nvGrpSpPr>
        <p:grpSpPr>
          <a:xfrm rot="0">
            <a:off x="3214036" y="1396364"/>
            <a:ext cx="11859928" cy="1297737"/>
            <a:chOff x="0" y="0"/>
            <a:chExt cx="5085318" cy="556446"/>
          </a:xfrm>
        </p:grpSpPr>
        <p:sp>
          <p:nvSpPr>
            <p:cNvPr name="Freeform 4" id="4"/>
            <p:cNvSpPr/>
            <p:nvPr/>
          </p:nvSpPr>
          <p:spPr>
            <a:xfrm flipH="false" flipV="false" rot="0">
              <a:off x="0" y="0"/>
              <a:ext cx="5085318" cy="556446"/>
            </a:xfrm>
            <a:custGeom>
              <a:avLst/>
              <a:gdLst/>
              <a:ahLst/>
              <a:cxnLst/>
              <a:rect r="r" b="b" t="t" l="l"/>
              <a:pathLst>
                <a:path h="556446" w="5085318">
                  <a:moveTo>
                    <a:pt x="33945" y="0"/>
                  </a:moveTo>
                  <a:lnTo>
                    <a:pt x="5051373" y="0"/>
                  </a:lnTo>
                  <a:cubicBezTo>
                    <a:pt x="5070120" y="0"/>
                    <a:pt x="5085318" y="15197"/>
                    <a:pt x="5085318" y="33945"/>
                  </a:cubicBezTo>
                  <a:lnTo>
                    <a:pt x="5085318" y="522501"/>
                  </a:lnTo>
                  <a:cubicBezTo>
                    <a:pt x="5085318" y="541248"/>
                    <a:pt x="5070120" y="556446"/>
                    <a:pt x="5051373" y="556446"/>
                  </a:cubicBezTo>
                  <a:lnTo>
                    <a:pt x="33945" y="556446"/>
                  </a:lnTo>
                  <a:cubicBezTo>
                    <a:pt x="15197" y="556446"/>
                    <a:pt x="0" y="541248"/>
                    <a:pt x="0" y="522501"/>
                  </a:cubicBezTo>
                  <a:lnTo>
                    <a:pt x="0" y="33945"/>
                  </a:lnTo>
                  <a:cubicBezTo>
                    <a:pt x="0" y="15197"/>
                    <a:pt x="15197" y="0"/>
                    <a:pt x="33945" y="0"/>
                  </a:cubicBezTo>
                  <a:close/>
                </a:path>
              </a:pathLst>
            </a:custGeom>
            <a:solidFill>
              <a:srgbClr val="00173D">
                <a:alpha val="81961"/>
              </a:srgbClr>
            </a:solidFill>
            <a:ln cap="rnd">
              <a:noFill/>
              <a:prstDash val="solid"/>
              <a:round/>
            </a:ln>
          </p:spPr>
        </p:sp>
        <p:sp>
          <p:nvSpPr>
            <p:cNvPr name="TextBox 5" id="5"/>
            <p:cNvSpPr txBox="true"/>
            <p:nvPr/>
          </p:nvSpPr>
          <p:spPr>
            <a:xfrm>
              <a:off x="0" y="-47625"/>
              <a:ext cx="5085318" cy="60407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3214036" y="2694102"/>
            <a:ext cx="11859928" cy="5704243"/>
            <a:chOff x="0" y="0"/>
            <a:chExt cx="5085318" cy="2445874"/>
          </a:xfrm>
        </p:grpSpPr>
        <p:sp>
          <p:nvSpPr>
            <p:cNvPr name="Freeform 7" id="7"/>
            <p:cNvSpPr/>
            <p:nvPr/>
          </p:nvSpPr>
          <p:spPr>
            <a:xfrm flipH="false" flipV="false" rot="0">
              <a:off x="0" y="0"/>
              <a:ext cx="5085318" cy="2445874"/>
            </a:xfrm>
            <a:custGeom>
              <a:avLst/>
              <a:gdLst/>
              <a:ahLst/>
              <a:cxnLst/>
              <a:rect r="r" b="b" t="t" l="l"/>
              <a:pathLst>
                <a:path h="2445874" w="5085318">
                  <a:moveTo>
                    <a:pt x="33945" y="0"/>
                  </a:moveTo>
                  <a:lnTo>
                    <a:pt x="5051373" y="0"/>
                  </a:lnTo>
                  <a:cubicBezTo>
                    <a:pt x="5070120" y="0"/>
                    <a:pt x="5085318" y="15197"/>
                    <a:pt x="5085318" y="33945"/>
                  </a:cubicBezTo>
                  <a:lnTo>
                    <a:pt x="5085318" y="2411929"/>
                  </a:lnTo>
                  <a:cubicBezTo>
                    <a:pt x="5085318" y="2430676"/>
                    <a:pt x="5070120" y="2445874"/>
                    <a:pt x="5051373" y="2445874"/>
                  </a:cubicBezTo>
                  <a:lnTo>
                    <a:pt x="33945" y="2445874"/>
                  </a:lnTo>
                  <a:cubicBezTo>
                    <a:pt x="15197" y="2445874"/>
                    <a:pt x="0" y="2430676"/>
                    <a:pt x="0" y="2411929"/>
                  </a:cubicBezTo>
                  <a:lnTo>
                    <a:pt x="0" y="33945"/>
                  </a:lnTo>
                  <a:cubicBezTo>
                    <a:pt x="0" y="15197"/>
                    <a:pt x="15197" y="0"/>
                    <a:pt x="33945" y="0"/>
                  </a:cubicBezTo>
                  <a:close/>
                </a:path>
              </a:pathLst>
            </a:custGeom>
            <a:solidFill>
              <a:srgbClr val="00173D">
                <a:alpha val="81961"/>
              </a:srgbClr>
            </a:solidFill>
            <a:ln cap="rnd">
              <a:noFill/>
              <a:prstDash val="solid"/>
              <a:round/>
            </a:ln>
          </p:spPr>
        </p:sp>
        <p:sp>
          <p:nvSpPr>
            <p:cNvPr name="TextBox 8" id="8"/>
            <p:cNvSpPr txBox="true"/>
            <p:nvPr/>
          </p:nvSpPr>
          <p:spPr>
            <a:xfrm>
              <a:off x="0" y="-47625"/>
              <a:ext cx="5085318" cy="2493499"/>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3214036" y="3026095"/>
            <a:ext cx="11422976" cy="5372249"/>
          </a:xfrm>
          <a:prstGeom prst="rect">
            <a:avLst/>
          </a:prstGeom>
        </p:spPr>
        <p:txBody>
          <a:bodyPr anchor="t" rtlCol="false" tIns="0" lIns="0" bIns="0" rIns="0">
            <a:spAutoFit/>
          </a:bodyPr>
          <a:lstStyle/>
          <a:p>
            <a:pPr algn="l" marL="439890" indent="-219945" lvl="1">
              <a:lnSpc>
                <a:spcPts val="2852"/>
              </a:lnSpc>
              <a:buFont typeface="Arial"/>
              <a:buChar char="•"/>
            </a:pPr>
            <a:r>
              <a:rPr lang="en-US" sz="2037">
                <a:solidFill>
                  <a:srgbClr val="FFFFFF"/>
                </a:solidFill>
                <a:latin typeface="Zilla Slab"/>
                <a:ea typeface="Zilla Slab"/>
                <a:cs typeface="Zilla Slab"/>
                <a:sym typeface="Zilla Slab"/>
              </a:rPr>
              <a:t>Süni intellekt (AI): Maşın tərəfindən insan zəkasının simulyasiyası.</a:t>
            </a:r>
          </a:p>
          <a:p>
            <a:pPr algn="l" marL="439890" indent="-219945" lvl="1">
              <a:lnSpc>
                <a:spcPts val="2852"/>
              </a:lnSpc>
              <a:buFont typeface="Arial"/>
              <a:buChar char="•"/>
            </a:pPr>
            <a:r>
              <a:rPr lang="en-US" sz="2037">
                <a:solidFill>
                  <a:srgbClr val="FFFFFF"/>
                </a:solidFill>
                <a:latin typeface="Zilla Slab"/>
                <a:ea typeface="Zilla Slab"/>
                <a:cs typeface="Zilla Slab"/>
                <a:sym typeface="Zilla Slab"/>
              </a:rPr>
              <a:t>Çatbot (Chatbot): İstifadəçi ilə mətn və ya səs vasitəsilə ünsiyyət quran proqram.</a:t>
            </a:r>
          </a:p>
          <a:p>
            <a:pPr algn="l" marL="439890" indent="-219945" lvl="1">
              <a:lnSpc>
                <a:spcPts val="2852"/>
              </a:lnSpc>
              <a:buFont typeface="Arial"/>
              <a:buChar char="•"/>
            </a:pPr>
            <a:r>
              <a:rPr lang="en-US" sz="2037">
                <a:solidFill>
                  <a:srgbClr val="FFFFFF"/>
                </a:solidFill>
                <a:latin typeface="Zilla Slab"/>
                <a:ea typeface="Zilla Slab"/>
                <a:cs typeface="Zilla Slab"/>
                <a:sym typeface="Zilla Slab"/>
              </a:rPr>
              <a:t>Blokçeyn (Blockch</a:t>
            </a:r>
            <a:r>
              <a:rPr lang="en-US" sz="2037">
                <a:solidFill>
                  <a:srgbClr val="FFFFFF"/>
                </a:solidFill>
                <a:latin typeface="Zilla Slab"/>
                <a:ea typeface="Zilla Slab"/>
                <a:cs typeface="Zilla Slab"/>
                <a:sym typeface="Zilla Slab"/>
              </a:rPr>
              <a:t>ain): Şifrələnmiş məlumatların paylanmış reyestr texnologiyası.</a:t>
            </a:r>
          </a:p>
          <a:p>
            <a:pPr algn="l" marL="439890" indent="-219945" lvl="1">
              <a:lnSpc>
                <a:spcPts val="2852"/>
              </a:lnSpc>
              <a:buFont typeface="Arial"/>
              <a:buChar char="•"/>
            </a:pPr>
            <a:r>
              <a:rPr lang="en-US" sz="2037">
                <a:solidFill>
                  <a:srgbClr val="FFFFFF"/>
                </a:solidFill>
                <a:latin typeface="Zilla Slab"/>
                <a:ea typeface="Zilla Slab"/>
                <a:cs typeface="Zilla Slab"/>
                <a:sym typeface="Zilla Slab"/>
              </a:rPr>
              <a:t>Kriptovalyuta: Rəqə</a:t>
            </a:r>
            <a:r>
              <a:rPr lang="en-US" sz="2037">
                <a:solidFill>
                  <a:srgbClr val="FFFFFF"/>
                </a:solidFill>
                <a:latin typeface="Zilla Slab"/>
                <a:ea typeface="Zilla Slab"/>
                <a:cs typeface="Zilla Slab"/>
                <a:sym typeface="Zilla Slab"/>
              </a:rPr>
              <a:t>msal və ya virtual valyuta növü (məs: Bitkoin).</a:t>
            </a:r>
          </a:p>
          <a:p>
            <a:pPr algn="l" marL="439890" indent="-219945" lvl="1">
              <a:lnSpc>
                <a:spcPts val="2852"/>
              </a:lnSpc>
              <a:buFont typeface="Arial"/>
              <a:buChar char="•"/>
            </a:pPr>
            <a:r>
              <a:rPr lang="en-US" sz="2037">
                <a:solidFill>
                  <a:srgbClr val="FFFFFF"/>
                </a:solidFill>
                <a:latin typeface="Zilla Slab"/>
                <a:ea typeface="Zilla Slab"/>
                <a:cs typeface="Zilla Slab"/>
                <a:sym typeface="Zilla Slab"/>
              </a:rPr>
              <a:t>Bulud texnologiyası (Cloud computing): Məlumatların uzaq serverlərdə saxlanması və emalı.</a:t>
            </a:r>
          </a:p>
          <a:p>
            <a:pPr algn="l" marL="439890" indent="-219945" lvl="1">
              <a:lnSpc>
                <a:spcPts val="2852"/>
              </a:lnSpc>
              <a:buFont typeface="Arial"/>
              <a:buChar char="•"/>
            </a:pPr>
            <a:r>
              <a:rPr lang="en-US" sz="2037">
                <a:solidFill>
                  <a:srgbClr val="FFFFFF"/>
                </a:solidFill>
                <a:latin typeface="Zilla Slab"/>
                <a:ea typeface="Zilla Slab"/>
                <a:cs typeface="Zilla Slab"/>
                <a:sym typeface="Zilla Slab"/>
              </a:rPr>
              <a:t>Kibe</a:t>
            </a:r>
            <a:r>
              <a:rPr lang="en-US" sz="2037">
                <a:solidFill>
                  <a:srgbClr val="FFFFFF"/>
                </a:solidFill>
                <a:latin typeface="Zilla Slab"/>
                <a:ea typeface="Zilla Slab"/>
                <a:cs typeface="Zilla Slab"/>
                <a:sym typeface="Zilla Slab"/>
              </a:rPr>
              <a:t>rtəhlükəsizlik: Rəqəmsal sistemlərin və şəbəkələrin hücumlardan qorunması.</a:t>
            </a:r>
          </a:p>
          <a:p>
            <a:pPr algn="l" marL="439890" indent="-219945" lvl="1">
              <a:lnSpc>
                <a:spcPts val="2852"/>
              </a:lnSpc>
              <a:buFont typeface="Arial"/>
              <a:buChar char="•"/>
            </a:pPr>
            <a:r>
              <a:rPr lang="en-US" sz="2037">
                <a:solidFill>
                  <a:srgbClr val="FFFFFF"/>
                </a:solidFill>
                <a:latin typeface="Zilla Slab"/>
                <a:ea typeface="Zilla Slab"/>
                <a:cs typeface="Zilla Slab"/>
                <a:sym typeface="Zilla Slab"/>
              </a:rPr>
              <a:t>Artırılmış reallıq (AR): Real dünyaya rəqəmsal elementlərin əlavə edilməsi.</a:t>
            </a:r>
          </a:p>
          <a:p>
            <a:pPr algn="l" marL="439890" indent="-219945" lvl="1">
              <a:lnSpc>
                <a:spcPts val="2852"/>
              </a:lnSpc>
              <a:buFont typeface="Arial"/>
              <a:buChar char="•"/>
            </a:pPr>
            <a:r>
              <a:rPr lang="en-US" sz="2037">
                <a:solidFill>
                  <a:srgbClr val="FFFFFF"/>
                </a:solidFill>
                <a:latin typeface="Zilla Slab"/>
                <a:ea typeface="Zilla Slab"/>
                <a:cs typeface="Zilla Slab"/>
                <a:sym typeface="Zilla Slab"/>
              </a:rPr>
              <a:t>Virtual reallıq (VR): Tamamilə süni, rəqəmsal mühit.</a:t>
            </a:r>
          </a:p>
          <a:p>
            <a:pPr algn="l" marL="439890" indent="-219945" lvl="1">
              <a:lnSpc>
                <a:spcPts val="2852"/>
              </a:lnSpc>
              <a:buFont typeface="Arial"/>
              <a:buChar char="•"/>
            </a:pPr>
            <a:r>
              <a:rPr lang="en-US" sz="2037">
                <a:solidFill>
                  <a:srgbClr val="FFFFFF"/>
                </a:solidFill>
                <a:latin typeface="Zilla Slab"/>
                <a:ea typeface="Zilla Slab"/>
                <a:cs typeface="Zilla Slab"/>
                <a:sym typeface="Zilla Slab"/>
              </a:rPr>
              <a:t>Metakainat (Metaverse): Paylaşılan virtual məkanların birləşməsindən yaranan rəqəmsal dünya.</a:t>
            </a:r>
          </a:p>
          <a:p>
            <a:pPr algn="l" marL="439890" indent="-219945" lvl="1">
              <a:lnSpc>
                <a:spcPts val="2852"/>
              </a:lnSpc>
              <a:buFont typeface="Arial"/>
              <a:buChar char="•"/>
            </a:pPr>
            <a:r>
              <a:rPr lang="en-US" sz="2037">
                <a:solidFill>
                  <a:srgbClr val="FFFFFF"/>
                </a:solidFill>
                <a:latin typeface="Zilla Slab"/>
                <a:ea typeface="Zilla Slab"/>
                <a:cs typeface="Zilla Slab"/>
                <a:sym typeface="Zilla Slab"/>
              </a:rPr>
              <a:t>Maşın öyrənmə</a:t>
            </a:r>
            <a:r>
              <a:rPr lang="en-US" sz="2037">
                <a:solidFill>
                  <a:srgbClr val="FFFFFF"/>
                </a:solidFill>
                <a:latin typeface="Zilla Slab"/>
                <a:ea typeface="Zilla Slab"/>
                <a:cs typeface="Zilla Slab"/>
                <a:sym typeface="Zilla Slab"/>
              </a:rPr>
              <a:t>si (Machine learning): Kompüterlərin təcrübə vasitəsilə avtomatik təkmilləşməsi.</a:t>
            </a:r>
          </a:p>
          <a:p>
            <a:pPr algn="l" marL="439890" indent="-219945" lvl="1">
              <a:lnSpc>
                <a:spcPts val="2852"/>
              </a:lnSpc>
              <a:buFont typeface="Arial"/>
              <a:buChar char="•"/>
            </a:pPr>
            <a:r>
              <a:rPr lang="en-US" sz="2037">
                <a:solidFill>
                  <a:srgbClr val="FFFFFF"/>
                </a:solidFill>
                <a:latin typeface="Zilla Slab"/>
                <a:ea typeface="Zilla Slab"/>
                <a:cs typeface="Zilla Slab"/>
                <a:sym typeface="Zilla Slab"/>
              </a:rPr>
              <a:t>Biometriy</a:t>
            </a:r>
            <a:r>
              <a:rPr lang="en-US" sz="2037">
                <a:solidFill>
                  <a:srgbClr val="FFFFFF"/>
                </a:solidFill>
                <a:latin typeface="Zilla Slab"/>
                <a:ea typeface="Zilla Slab"/>
                <a:cs typeface="Zilla Slab"/>
                <a:sym typeface="Zilla Slab"/>
              </a:rPr>
              <a:t>a: İnsanın fiziki xüsusiyyətləri (barmaq izi, üz tanıma) ilə identifikasiya.</a:t>
            </a:r>
          </a:p>
          <a:p>
            <a:pPr algn="l" marL="439890" indent="-219945" lvl="1">
              <a:lnSpc>
                <a:spcPts val="2852"/>
              </a:lnSpc>
              <a:buFont typeface="Arial"/>
              <a:buChar char="•"/>
            </a:pPr>
            <a:r>
              <a:rPr lang="en-US" sz="2037">
                <a:solidFill>
                  <a:srgbClr val="FFFFFF"/>
                </a:solidFill>
                <a:latin typeface="Zilla Slab"/>
                <a:ea typeface="Zilla Slab"/>
                <a:cs typeface="Zilla Slab"/>
                <a:sym typeface="Zilla Slab"/>
              </a:rPr>
              <a:t>Sintezat</a:t>
            </a:r>
            <a:r>
              <a:rPr lang="en-US" sz="2037">
                <a:solidFill>
                  <a:srgbClr val="FFFFFF"/>
                </a:solidFill>
                <a:latin typeface="Zilla Slab"/>
                <a:ea typeface="Zilla Slab"/>
                <a:cs typeface="Zilla Slab"/>
                <a:sym typeface="Zilla Slab"/>
              </a:rPr>
              <a:t>or: Səsin rəqəmsal yolla yaradılması və ya dəyişdirilməsi.</a:t>
            </a:r>
          </a:p>
          <a:p>
            <a:pPr algn="l" marL="439890" indent="-219945" lvl="1">
              <a:lnSpc>
                <a:spcPts val="2852"/>
              </a:lnSpc>
              <a:buFont typeface="Arial"/>
              <a:buChar char="•"/>
            </a:pPr>
            <a:r>
              <a:rPr lang="en-US" sz="2037">
                <a:solidFill>
                  <a:srgbClr val="FFFFFF"/>
                </a:solidFill>
                <a:latin typeface="Zilla Slab"/>
                <a:ea typeface="Zilla Slab"/>
                <a:cs typeface="Zilla Slab"/>
                <a:sym typeface="Zilla Slab"/>
              </a:rPr>
              <a:t>Frilans (Freelance): Məsafədən və sərbəst qrafiklə işləmə forması.</a:t>
            </a:r>
          </a:p>
          <a:p>
            <a:pPr algn="l" marL="439890" indent="-219945" lvl="1">
              <a:lnSpc>
                <a:spcPts val="2852"/>
              </a:lnSpc>
              <a:buFont typeface="Arial"/>
              <a:buChar char="•"/>
            </a:pPr>
            <a:r>
              <a:rPr lang="en-US" sz="2037">
                <a:solidFill>
                  <a:srgbClr val="FFFFFF"/>
                </a:solidFill>
                <a:latin typeface="Zilla Slab"/>
                <a:ea typeface="Zilla Slab"/>
                <a:cs typeface="Zilla Slab"/>
                <a:sym typeface="Zilla Slab"/>
              </a:rPr>
              <a:t>Geyim </a:t>
            </a:r>
            <a:r>
              <a:rPr lang="en-US" sz="2037">
                <a:solidFill>
                  <a:srgbClr val="FFFFFF"/>
                </a:solidFill>
                <a:latin typeface="Zilla Slab"/>
                <a:ea typeface="Zilla Slab"/>
                <a:cs typeface="Zilla Slab"/>
                <a:sym typeface="Zilla Slab"/>
              </a:rPr>
              <a:t>texnologiyaları (Wearables): Ağıllı saatlar və digər taxıla bilən cihazlar.</a:t>
            </a:r>
          </a:p>
          <a:p>
            <a:pPr algn="l">
              <a:lnSpc>
                <a:spcPts val="2852"/>
              </a:lnSpc>
            </a:pPr>
          </a:p>
        </p:txBody>
      </p:sp>
      <p:grpSp>
        <p:nvGrpSpPr>
          <p:cNvPr name="Group 10" id="10"/>
          <p:cNvGrpSpPr/>
          <p:nvPr/>
        </p:nvGrpSpPr>
        <p:grpSpPr>
          <a:xfrm rot="0">
            <a:off x="4598908" y="8398344"/>
            <a:ext cx="8653231" cy="1671622"/>
            <a:chOff x="0" y="0"/>
            <a:chExt cx="4087421" cy="789604"/>
          </a:xfrm>
        </p:grpSpPr>
        <p:sp>
          <p:nvSpPr>
            <p:cNvPr name="Freeform 11" id="11"/>
            <p:cNvSpPr/>
            <p:nvPr/>
          </p:nvSpPr>
          <p:spPr>
            <a:xfrm flipH="false" flipV="false" rot="0">
              <a:off x="0" y="0"/>
              <a:ext cx="4087421" cy="789604"/>
            </a:xfrm>
            <a:custGeom>
              <a:avLst/>
              <a:gdLst/>
              <a:ahLst/>
              <a:cxnLst/>
              <a:rect r="r" b="b" t="t" l="l"/>
              <a:pathLst>
                <a:path h="789604" w="4087421">
                  <a:moveTo>
                    <a:pt x="46524" y="0"/>
                  </a:moveTo>
                  <a:lnTo>
                    <a:pt x="4040898" y="0"/>
                  </a:lnTo>
                  <a:cubicBezTo>
                    <a:pt x="4053236" y="0"/>
                    <a:pt x="4065070" y="4902"/>
                    <a:pt x="4073795" y="13626"/>
                  </a:cubicBezTo>
                  <a:cubicBezTo>
                    <a:pt x="4082519" y="22351"/>
                    <a:pt x="4087421" y="34185"/>
                    <a:pt x="4087421" y="46524"/>
                  </a:cubicBezTo>
                  <a:lnTo>
                    <a:pt x="4087421" y="743080"/>
                  </a:lnTo>
                  <a:cubicBezTo>
                    <a:pt x="4087421" y="768774"/>
                    <a:pt x="4066592" y="789604"/>
                    <a:pt x="4040898" y="789604"/>
                  </a:cubicBezTo>
                  <a:lnTo>
                    <a:pt x="46524" y="789604"/>
                  </a:lnTo>
                  <a:cubicBezTo>
                    <a:pt x="20829" y="789604"/>
                    <a:pt x="0" y="768774"/>
                    <a:pt x="0" y="743080"/>
                  </a:cubicBezTo>
                  <a:lnTo>
                    <a:pt x="0" y="46524"/>
                  </a:lnTo>
                  <a:cubicBezTo>
                    <a:pt x="0" y="34185"/>
                    <a:pt x="4902" y="22351"/>
                    <a:pt x="13626" y="13626"/>
                  </a:cubicBezTo>
                  <a:cubicBezTo>
                    <a:pt x="22351" y="4902"/>
                    <a:pt x="34185" y="0"/>
                    <a:pt x="46524" y="0"/>
                  </a:cubicBezTo>
                  <a:close/>
                </a:path>
              </a:pathLst>
            </a:custGeom>
            <a:solidFill>
              <a:srgbClr val="00173D">
                <a:alpha val="81961"/>
              </a:srgbClr>
            </a:solidFill>
            <a:ln cap="rnd">
              <a:noFill/>
              <a:prstDash val="solid"/>
              <a:round/>
            </a:ln>
          </p:spPr>
        </p:sp>
        <p:sp>
          <p:nvSpPr>
            <p:cNvPr name="TextBox 12" id="12"/>
            <p:cNvSpPr txBox="true"/>
            <p:nvPr/>
          </p:nvSpPr>
          <p:spPr>
            <a:xfrm>
              <a:off x="0" y="-47625"/>
              <a:ext cx="4087421" cy="837229"/>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695228" y="620204"/>
            <a:ext cx="1299911" cy="1552321"/>
          </a:xfrm>
          <a:custGeom>
            <a:avLst/>
            <a:gdLst/>
            <a:ahLst/>
            <a:cxnLst/>
            <a:rect r="r" b="b" t="t" l="l"/>
            <a:pathLst>
              <a:path h="1552321" w="1299911">
                <a:moveTo>
                  <a:pt x="0" y="0"/>
                </a:moveTo>
                <a:lnTo>
                  <a:pt x="1299911" y="0"/>
                </a:lnTo>
                <a:lnTo>
                  <a:pt x="1299911" y="1552321"/>
                </a:lnTo>
                <a:lnTo>
                  <a:pt x="0" y="15523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6302070" y="610172"/>
            <a:ext cx="1562353" cy="1562353"/>
          </a:xfrm>
          <a:custGeom>
            <a:avLst/>
            <a:gdLst/>
            <a:ahLst/>
            <a:cxnLst/>
            <a:rect r="r" b="b" t="t" l="l"/>
            <a:pathLst>
              <a:path h="1562353" w="1562353">
                <a:moveTo>
                  <a:pt x="0" y="0"/>
                </a:moveTo>
                <a:lnTo>
                  <a:pt x="1562353" y="0"/>
                </a:lnTo>
                <a:lnTo>
                  <a:pt x="1562353" y="1562353"/>
                </a:lnTo>
                <a:lnTo>
                  <a:pt x="0" y="1562353"/>
                </a:lnTo>
                <a:lnTo>
                  <a:pt x="0" y="0"/>
                </a:lnTo>
                <a:close/>
              </a:path>
            </a:pathLst>
          </a:custGeom>
          <a:blipFill>
            <a:blip r:embed="rId5"/>
            <a:stretch>
              <a:fillRect l="0" t="0" r="0" b="0"/>
            </a:stretch>
          </a:blipFill>
        </p:spPr>
      </p:sp>
      <p:sp>
        <p:nvSpPr>
          <p:cNvPr name="TextBox 15" id="15"/>
          <p:cNvSpPr txBox="true"/>
          <p:nvPr/>
        </p:nvSpPr>
        <p:spPr>
          <a:xfrm rot="0">
            <a:off x="3432512" y="1546761"/>
            <a:ext cx="11422976" cy="949319"/>
          </a:xfrm>
          <a:prstGeom prst="rect">
            <a:avLst/>
          </a:prstGeom>
        </p:spPr>
        <p:txBody>
          <a:bodyPr anchor="t" rtlCol="false" tIns="0" lIns="0" bIns="0" rIns="0">
            <a:spAutoFit/>
          </a:bodyPr>
          <a:lstStyle/>
          <a:p>
            <a:pPr algn="ctr">
              <a:lnSpc>
                <a:spcPts val="3859"/>
              </a:lnSpc>
            </a:pPr>
            <a:r>
              <a:rPr lang="en-US" sz="2756">
                <a:solidFill>
                  <a:srgbClr val="FFFFFF"/>
                </a:solidFill>
                <a:latin typeface="Zilla Slab"/>
                <a:ea typeface="Zilla Slab"/>
                <a:cs typeface="Zilla Slab"/>
                <a:sym typeface="Zilla Slab"/>
              </a:rPr>
              <a:t>Texnoloji sahədə neologizmlərin yaranması ən sürətli proseslərdən biridir.</a:t>
            </a:r>
          </a:p>
          <a:p>
            <a:pPr algn="ctr">
              <a:lnSpc>
                <a:spcPts val="3859"/>
              </a:lnSpc>
            </a:pPr>
            <a:r>
              <a:rPr lang="en-US" sz="2756">
                <a:solidFill>
                  <a:srgbClr val="FFFFFF"/>
                </a:solidFill>
                <a:latin typeface="Zilla Slab"/>
                <a:ea typeface="Zilla Slab"/>
                <a:cs typeface="Zilla Slab"/>
                <a:sym typeface="Zilla Slab"/>
              </a:rPr>
              <a:t> Kompyuter texnologiyaları ilə bağlı aşağıdakı sözlər dilə keçmişdir:</a:t>
            </a:r>
          </a:p>
        </p:txBody>
      </p:sp>
      <p:sp>
        <p:nvSpPr>
          <p:cNvPr name="TextBox 16" id="16"/>
          <p:cNvSpPr txBox="true"/>
          <p:nvPr/>
        </p:nvSpPr>
        <p:spPr>
          <a:xfrm rot="0">
            <a:off x="4953903" y="234316"/>
            <a:ext cx="8949916" cy="795268"/>
          </a:xfrm>
          <a:prstGeom prst="rect">
            <a:avLst/>
          </a:prstGeom>
        </p:spPr>
        <p:txBody>
          <a:bodyPr anchor="t" rtlCol="false" tIns="0" lIns="0" bIns="0" rIns="0">
            <a:spAutoFit/>
          </a:bodyPr>
          <a:lstStyle/>
          <a:p>
            <a:pPr algn="ctr">
              <a:lnSpc>
                <a:spcPts val="6566"/>
              </a:lnSpc>
              <a:spcBef>
                <a:spcPct val="0"/>
              </a:spcBef>
            </a:pPr>
            <a:r>
              <a:rPr lang="en-US" b="true" sz="4690">
                <a:solidFill>
                  <a:srgbClr val="FFFFFF"/>
                </a:solidFill>
                <a:latin typeface="Zilla Slab Bold"/>
                <a:ea typeface="Zilla Slab Bold"/>
                <a:cs typeface="Zilla Slab Bold"/>
                <a:sym typeface="Zilla Slab Bold"/>
              </a:rPr>
              <a:t>Texnoloji sahə neologizm</a:t>
            </a:r>
            <a:r>
              <a:rPr lang="en-US" b="true" sz="4690">
                <a:solidFill>
                  <a:srgbClr val="FFFFFF"/>
                </a:solidFill>
                <a:latin typeface="Zilla Slab Bold"/>
                <a:ea typeface="Zilla Slab Bold"/>
                <a:cs typeface="Zilla Slab Bold"/>
                <a:sym typeface="Zilla Slab Bold"/>
              </a:rPr>
              <a:t>ləri</a:t>
            </a:r>
          </a:p>
        </p:txBody>
      </p:sp>
      <p:sp>
        <p:nvSpPr>
          <p:cNvPr name="TextBox 17" id="17"/>
          <p:cNvSpPr txBox="true"/>
          <p:nvPr/>
        </p:nvSpPr>
        <p:spPr>
          <a:xfrm rot="0">
            <a:off x="4798740" y="8504974"/>
            <a:ext cx="8271734" cy="1365862"/>
          </a:xfrm>
          <a:prstGeom prst="rect">
            <a:avLst/>
          </a:prstGeom>
        </p:spPr>
        <p:txBody>
          <a:bodyPr anchor="t" rtlCol="false" tIns="0" lIns="0" bIns="0" rIns="0">
            <a:spAutoFit/>
          </a:bodyPr>
          <a:lstStyle/>
          <a:p>
            <a:pPr algn="ctr">
              <a:lnSpc>
                <a:spcPts val="3640"/>
              </a:lnSpc>
            </a:pPr>
            <a:r>
              <a:rPr lang="en-US" sz="2600">
                <a:solidFill>
                  <a:srgbClr val="FFFFFF"/>
                </a:solidFill>
                <a:latin typeface="Zilla Slab"/>
                <a:ea typeface="Zilla Slab"/>
                <a:cs typeface="Zilla Slab"/>
                <a:sym typeface="Zilla Slab"/>
              </a:rPr>
              <a:t>Terminoloji leksikanın inkişafına dair mənbələrdə də sahə terminlərinin bəzən tərcümə, bəzən transliterasiya, bəzən də uyğunlaşdırma yolu ilə qəbul edildiyi göstərilir.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247" y="0"/>
            <a:ext cx="18294494" cy="10287000"/>
          </a:xfrm>
          <a:custGeom>
            <a:avLst/>
            <a:gdLst/>
            <a:ahLst/>
            <a:cxnLst/>
            <a:rect r="r" b="b" t="t" l="l"/>
            <a:pathLst>
              <a:path h="10287000" w="18294494">
                <a:moveTo>
                  <a:pt x="18294494" y="10287000"/>
                </a:moveTo>
                <a:lnTo>
                  <a:pt x="0" y="10287000"/>
                </a:lnTo>
                <a:lnTo>
                  <a:pt x="0" y="0"/>
                </a:lnTo>
                <a:lnTo>
                  <a:pt x="18294494" y="0"/>
                </a:lnTo>
                <a:lnTo>
                  <a:pt x="18294494" y="10287000"/>
                </a:lnTo>
                <a:close/>
              </a:path>
            </a:pathLst>
          </a:custGeom>
          <a:blipFill>
            <a:blip r:embed="rId2"/>
            <a:stretch>
              <a:fillRect l="0" t="0" r="0" b="0"/>
            </a:stretch>
          </a:blipFill>
        </p:spPr>
      </p:sp>
      <p:grpSp>
        <p:nvGrpSpPr>
          <p:cNvPr name="Group 3" id="3"/>
          <p:cNvGrpSpPr/>
          <p:nvPr/>
        </p:nvGrpSpPr>
        <p:grpSpPr>
          <a:xfrm rot="0">
            <a:off x="695228" y="1234439"/>
            <a:ext cx="11859928" cy="1297737"/>
            <a:chOff x="0" y="0"/>
            <a:chExt cx="5085318" cy="556446"/>
          </a:xfrm>
        </p:grpSpPr>
        <p:sp>
          <p:nvSpPr>
            <p:cNvPr name="Freeform 4" id="4"/>
            <p:cNvSpPr/>
            <p:nvPr/>
          </p:nvSpPr>
          <p:spPr>
            <a:xfrm flipH="false" flipV="false" rot="0">
              <a:off x="0" y="0"/>
              <a:ext cx="5085318" cy="556446"/>
            </a:xfrm>
            <a:custGeom>
              <a:avLst/>
              <a:gdLst/>
              <a:ahLst/>
              <a:cxnLst/>
              <a:rect r="r" b="b" t="t" l="l"/>
              <a:pathLst>
                <a:path h="556446" w="5085318">
                  <a:moveTo>
                    <a:pt x="33945" y="0"/>
                  </a:moveTo>
                  <a:lnTo>
                    <a:pt x="5051373" y="0"/>
                  </a:lnTo>
                  <a:cubicBezTo>
                    <a:pt x="5070120" y="0"/>
                    <a:pt x="5085318" y="15197"/>
                    <a:pt x="5085318" y="33945"/>
                  </a:cubicBezTo>
                  <a:lnTo>
                    <a:pt x="5085318" y="522501"/>
                  </a:lnTo>
                  <a:cubicBezTo>
                    <a:pt x="5085318" y="541248"/>
                    <a:pt x="5070120" y="556446"/>
                    <a:pt x="5051373" y="556446"/>
                  </a:cubicBezTo>
                  <a:lnTo>
                    <a:pt x="33945" y="556446"/>
                  </a:lnTo>
                  <a:cubicBezTo>
                    <a:pt x="15197" y="556446"/>
                    <a:pt x="0" y="541248"/>
                    <a:pt x="0" y="522501"/>
                  </a:cubicBezTo>
                  <a:lnTo>
                    <a:pt x="0" y="33945"/>
                  </a:lnTo>
                  <a:cubicBezTo>
                    <a:pt x="0" y="15197"/>
                    <a:pt x="15197" y="0"/>
                    <a:pt x="33945" y="0"/>
                  </a:cubicBezTo>
                  <a:close/>
                </a:path>
              </a:pathLst>
            </a:custGeom>
            <a:solidFill>
              <a:srgbClr val="00173D">
                <a:alpha val="81961"/>
              </a:srgbClr>
            </a:solidFill>
            <a:ln cap="rnd">
              <a:noFill/>
              <a:prstDash val="solid"/>
              <a:round/>
            </a:ln>
          </p:spPr>
        </p:sp>
        <p:sp>
          <p:nvSpPr>
            <p:cNvPr name="TextBox 5" id="5"/>
            <p:cNvSpPr txBox="true"/>
            <p:nvPr/>
          </p:nvSpPr>
          <p:spPr>
            <a:xfrm>
              <a:off x="0" y="-47625"/>
              <a:ext cx="5085318" cy="60407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695228" y="2694102"/>
            <a:ext cx="15225515" cy="6564198"/>
            <a:chOff x="0" y="0"/>
            <a:chExt cx="5673151" cy="2445874"/>
          </a:xfrm>
        </p:grpSpPr>
        <p:sp>
          <p:nvSpPr>
            <p:cNvPr name="Freeform 7" id="7"/>
            <p:cNvSpPr/>
            <p:nvPr/>
          </p:nvSpPr>
          <p:spPr>
            <a:xfrm flipH="false" flipV="false" rot="0">
              <a:off x="0" y="0"/>
              <a:ext cx="5673151" cy="2445874"/>
            </a:xfrm>
            <a:custGeom>
              <a:avLst/>
              <a:gdLst/>
              <a:ahLst/>
              <a:cxnLst/>
              <a:rect r="r" b="b" t="t" l="l"/>
              <a:pathLst>
                <a:path h="2445874" w="5673151">
                  <a:moveTo>
                    <a:pt x="26441" y="0"/>
                  </a:moveTo>
                  <a:lnTo>
                    <a:pt x="5646710" y="0"/>
                  </a:lnTo>
                  <a:cubicBezTo>
                    <a:pt x="5661313" y="0"/>
                    <a:pt x="5673151" y="11838"/>
                    <a:pt x="5673151" y="26441"/>
                  </a:cubicBezTo>
                  <a:lnTo>
                    <a:pt x="5673151" y="2419433"/>
                  </a:lnTo>
                  <a:cubicBezTo>
                    <a:pt x="5673151" y="2426445"/>
                    <a:pt x="5670366" y="2433171"/>
                    <a:pt x="5665407" y="2438129"/>
                  </a:cubicBezTo>
                  <a:cubicBezTo>
                    <a:pt x="5660448" y="2443088"/>
                    <a:pt x="5653723" y="2445874"/>
                    <a:pt x="5646710" y="2445874"/>
                  </a:cubicBezTo>
                  <a:lnTo>
                    <a:pt x="26441" y="2445874"/>
                  </a:lnTo>
                  <a:cubicBezTo>
                    <a:pt x="19429" y="2445874"/>
                    <a:pt x="12703" y="2443088"/>
                    <a:pt x="7744" y="2438129"/>
                  </a:cubicBezTo>
                  <a:cubicBezTo>
                    <a:pt x="2786" y="2433171"/>
                    <a:pt x="0" y="2426445"/>
                    <a:pt x="0" y="2419433"/>
                  </a:cubicBezTo>
                  <a:lnTo>
                    <a:pt x="0" y="26441"/>
                  </a:lnTo>
                  <a:cubicBezTo>
                    <a:pt x="0" y="19429"/>
                    <a:pt x="2786" y="12703"/>
                    <a:pt x="7744" y="7744"/>
                  </a:cubicBezTo>
                  <a:cubicBezTo>
                    <a:pt x="12703" y="2786"/>
                    <a:pt x="19429" y="0"/>
                    <a:pt x="26441" y="0"/>
                  </a:cubicBezTo>
                  <a:close/>
                </a:path>
              </a:pathLst>
            </a:custGeom>
            <a:solidFill>
              <a:srgbClr val="00173D">
                <a:alpha val="81961"/>
              </a:srgbClr>
            </a:solidFill>
            <a:ln cap="rnd">
              <a:noFill/>
              <a:prstDash val="solid"/>
              <a:round/>
            </a:ln>
          </p:spPr>
        </p:sp>
        <p:sp>
          <p:nvSpPr>
            <p:cNvPr name="TextBox 8" id="8"/>
            <p:cNvSpPr txBox="true"/>
            <p:nvPr/>
          </p:nvSpPr>
          <p:spPr>
            <a:xfrm>
              <a:off x="0" y="-47625"/>
              <a:ext cx="5673151" cy="2493499"/>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820934" y="3073954"/>
            <a:ext cx="15261895" cy="6184346"/>
          </a:xfrm>
          <a:prstGeom prst="rect">
            <a:avLst/>
          </a:prstGeom>
        </p:spPr>
        <p:txBody>
          <a:bodyPr anchor="t" rtlCol="false" tIns="0" lIns="0" bIns="0" rIns="0">
            <a:spAutoFit/>
          </a:bodyPr>
          <a:lstStyle/>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Partiya: Eyni siyasi baxışlara malik insanların hakimiyyət uğrunda mübarizə üçün yaratdığı təşkilat.</a:t>
            </a:r>
          </a:p>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Plenum: Bir </a:t>
            </a:r>
            <a:r>
              <a:rPr lang="en-US" sz="2242">
                <a:solidFill>
                  <a:srgbClr val="FFFFFF"/>
                </a:solidFill>
                <a:latin typeface="Zilla Slab"/>
                <a:ea typeface="Zilla Slab"/>
                <a:cs typeface="Zilla Slab"/>
                <a:sym typeface="Zilla Slab"/>
              </a:rPr>
              <a:t>təşkilatın (məsələn, partiya komitəsinin) bütün üzvlərinin tam tərkibdə iclası.</a:t>
            </a:r>
          </a:p>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K</a:t>
            </a:r>
            <a:r>
              <a:rPr lang="en-US" sz="2242">
                <a:solidFill>
                  <a:srgbClr val="FFFFFF"/>
                </a:solidFill>
                <a:latin typeface="Zilla Slab"/>
                <a:ea typeface="Zilla Slab"/>
                <a:cs typeface="Zilla Slab"/>
                <a:sym typeface="Zilla Slab"/>
              </a:rPr>
              <a:t>apital: Gəlir gətirən aktivlər; istehsalda istifadə olunan pul və ya mal-mülk toplusu.</a:t>
            </a:r>
          </a:p>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Referendum: Mühüm dövlət və ya xalq əhəmiyyətli məsələnin ümumi xalq səsverməsinə çıxarılması.</a:t>
            </a:r>
          </a:p>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P</a:t>
            </a:r>
            <a:r>
              <a:rPr lang="en-US" sz="2242">
                <a:solidFill>
                  <a:srgbClr val="FFFFFF"/>
                </a:solidFill>
                <a:latin typeface="Zilla Slab"/>
                <a:ea typeface="Zilla Slab"/>
                <a:cs typeface="Zilla Slab"/>
                <a:sym typeface="Zilla Slab"/>
              </a:rPr>
              <a:t>lüralizm: Cəmiyyətdə müxtəlif fikir, siyasi baxış və ideologiyaların sərbəst şəkildə mövcudluğu.</a:t>
            </a:r>
          </a:p>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İnteq</a:t>
            </a:r>
            <a:r>
              <a:rPr lang="en-US" sz="2242">
                <a:solidFill>
                  <a:srgbClr val="FFFFFF"/>
                </a:solidFill>
                <a:latin typeface="Zilla Slab"/>
                <a:ea typeface="Zilla Slab"/>
                <a:cs typeface="Zilla Slab"/>
                <a:sym typeface="Zilla Slab"/>
              </a:rPr>
              <a:t>rasiya: Müxtəlif hissələrin, dövlətlərin və ya iqtisadiyyatların bir araya gələrək bütövləşməsi.</a:t>
            </a:r>
          </a:p>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Konstitusiya: Dövlətin ən ali hüquqi qüvvəyə malik əsas qanunlar toplusu.</a:t>
            </a:r>
          </a:p>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Müs</a:t>
            </a:r>
            <a:r>
              <a:rPr lang="en-US" sz="2242">
                <a:solidFill>
                  <a:srgbClr val="FFFFFF"/>
                </a:solidFill>
                <a:latin typeface="Zilla Slab"/>
                <a:ea typeface="Zilla Slab"/>
                <a:cs typeface="Zilla Slab"/>
                <a:sym typeface="Zilla Slab"/>
              </a:rPr>
              <a:t>təqillik: Dövlətin daxili və xarici siyasətində tam sərbəst olması, başqa dövlətdən asılı olmaması.</a:t>
            </a:r>
          </a:p>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İslaha</a:t>
            </a:r>
            <a:r>
              <a:rPr lang="en-US" sz="2242">
                <a:solidFill>
                  <a:srgbClr val="FFFFFF"/>
                </a:solidFill>
                <a:latin typeface="Zilla Slab"/>
                <a:ea typeface="Zilla Slab"/>
                <a:cs typeface="Zilla Slab"/>
                <a:sym typeface="Zilla Slab"/>
              </a:rPr>
              <a:t>t: Mövcud quruluşu dağıtmadan, hər hansı sahədə aparılan təkmilləşdirmə və dəyişiklik.</a:t>
            </a:r>
          </a:p>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Parlam</a:t>
            </a:r>
            <a:r>
              <a:rPr lang="en-US" sz="2242">
                <a:solidFill>
                  <a:srgbClr val="FFFFFF"/>
                </a:solidFill>
                <a:latin typeface="Zilla Slab"/>
                <a:ea typeface="Zilla Slab"/>
                <a:cs typeface="Zilla Slab"/>
                <a:sym typeface="Zilla Slab"/>
              </a:rPr>
              <a:t>ent: Qanunverici hakimiyyəti həyata keçirən seçkili ali nümayəndəlik orqanı.</a:t>
            </a:r>
          </a:p>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Forum: Kütləvi müzakirələrin aparıldığı toplantı, meydan və ya genişmiqyaslı elmi-siyas</a:t>
            </a:r>
            <a:r>
              <a:rPr lang="en-US" sz="2242">
                <a:solidFill>
                  <a:srgbClr val="FFFFFF"/>
                </a:solidFill>
                <a:latin typeface="Zilla Slab"/>
                <a:ea typeface="Zilla Slab"/>
                <a:cs typeface="Zilla Slab"/>
                <a:sym typeface="Zilla Slab"/>
              </a:rPr>
              <a:t>i tədbir.</a:t>
            </a:r>
          </a:p>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Medi</a:t>
            </a:r>
            <a:r>
              <a:rPr lang="en-US" sz="2242">
                <a:solidFill>
                  <a:srgbClr val="FFFFFF"/>
                </a:solidFill>
                <a:latin typeface="Zilla Slab"/>
                <a:ea typeface="Zilla Slab"/>
                <a:cs typeface="Zilla Slab"/>
                <a:sym typeface="Zilla Slab"/>
              </a:rPr>
              <a:t>a: Kütləvi informasiya vasitələrinin (mətbuat, TV, radio, internet saytları) ümumi adı.</a:t>
            </a:r>
          </a:p>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Brifinq: Rəsmi şəxslər</a:t>
            </a:r>
            <a:r>
              <a:rPr lang="en-US" sz="2242">
                <a:solidFill>
                  <a:srgbClr val="FFFFFF"/>
                </a:solidFill>
                <a:latin typeface="Zilla Slab"/>
                <a:ea typeface="Zilla Slab"/>
                <a:cs typeface="Zilla Slab"/>
                <a:sym typeface="Zilla Slab"/>
              </a:rPr>
              <a:t>in mətbuat</a:t>
            </a:r>
            <a:r>
              <a:rPr lang="en-US" sz="2242">
                <a:solidFill>
                  <a:srgbClr val="FFFFFF"/>
                </a:solidFill>
                <a:latin typeface="Zilla Slab"/>
                <a:ea typeface="Zilla Slab"/>
                <a:cs typeface="Zilla Slab"/>
                <a:sym typeface="Zilla Slab"/>
              </a:rPr>
              <a:t> nümayəndələri üçün keçirdiyi qısa məlumatlandırıcı görüş.</a:t>
            </a:r>
          </a:p>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Səfirlik: Bir dövlətin digər dövlət yanında fəaliyyət göstərən ali diplomatik nüma</a:t>
            </a:r>
            <a:r>
              <a:rPr lang="en-US" sz="2242">
                <a:solidFill>
                  <a:srgbClr val="FFFFFF"/>
                </a:solidFill>
                <a:latin typeface="Zilla Slab"/>
                <a:ea typeface="Zilla Slab"/>
                <a:cs typeface="Zilla Slab"/>
                <a:sym typeface="Zilla Slab"/>
              </a:rPr>
              <a:t>yə</a:t>
            </a:r>
            <a:r>
              <a:rPr lang="en-US" sz="2242">
                <a:solidFill>
                  <a:srgbClr val="FFFFFF"/>
                </a:solidFill>
                <a:latin typeface="Zilla Slab"/>
                <a:ea typeface="Zilla Slab"/>
                <a:cs typeface="Zilla Slab"/>
                <a:sym typeface="Zilla Slab"/>
              </a:rPr>
              <a:t>ndəliyi.</a:t>
            </a:r>
          </a:p>
          <a:p>
            <a:pPr algn="l" marL="484063" indent="-242031" lvl="1">
              <a:lnSpc>
                <a:spcPts val="3138"/>
              </a:lnSpc>
              <a:buFont typeface="Arial"/>
              <a:buChar char="•"/>
            </a:pPr>
            <a:r>
              <a:rPr lang="en-US" sz="2242">
                <a:solidFill>
                  <a:srgbClr val="FFFFFF"/>
                </a:solidFill>
                <a:latin typeface="Zilla Slab"/>
                <a:ea typeface="Zilla Slab"/>
                <a:cs typeface="Zilla Slab"/>
                <a:sym typeface="Zilla Slab"/>
              </a:rPr>
              <a:t>Lobbi: Müəyyən qrupların maraqlarını qorumaq üçün qanunverici orqanlara və hakimiyyətə təsir göstərmə fəaliyyəti.</a:t>
            </a:r>
          </a:p>
          <a:p>
            <a:pPr algn="l">
              <a:lnSpc>
                <a:spcPts val="3138"/>
              </a:lnSpc>
            </a:pPr>
          </a:p>
        </p:txBody>
      </p:sp>
      <p:sp>
        <p:nvSpPr>
          <p:cNvPr name="Freeform 10" id="10"/>
          <p:cNvSpPr/>
          <p:nvPr/>
        </p:nvSpPr>
        <p:spPr>
          <a:xfrm flipH="false" flipV="false" rot="0">
            <a:off x="13035084" y="866158"/>
            <a:ext cx="1444128" cy="1467997"/>
          </a:xfrm>
          <a:custGeom>
            <a:avLst/>
            <a:gdLst/>
            <a:ahLst/>
            <a:cxnLst/>
            <a:rect r="r" b="b" t="t" l="l"/>
            <a:pathLst>
              <a:path h="1467997" w="1444128">
                <a:moveTo>
                  <a:pt x="0" y="0"/>
                </a:moveTo>
                <a:lnTo>
                  <a:pt x="1444128" y="0"/>
                </a:lnTo>
                <a:lnTo>
                  <a:pt x="1444128" y="1467997"/>
                </a:lnTo>
                <a:lnTo>
                  <a:pt x="0" y="14679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564501" y="1384836"/>
            <a:ext cx="12121381" cy="949319"/>
          </a:xfrm>
          <a:prstGeom prst="rect">
            <a:avLst/>
          </a:prstGeom>
        </p:spPr>
        <p:txBody>
          <a:bodyPr anchor="t" rtlCol="false" tIns="0" lIns="0" bIns="0" rIns="0">
            <a:spAutoFit/>
          </a:bodyPr>
          <a:lstStyle/>
          <a:p>
            <a:pPr algn="ctr">
              <a:lnSpc>
                <a:spcPts val="3859"/>
              </a:lnSpc>
            </a:pPr>
            <a:r>
              <a:rPr lang="en-US" sz="2756">
                <a:solidFill>
                  <a:srgbClr val="FFFFFF"/>
                </a:solidFill>
                <a:latin typeface="Zilla Slab"/>
                <a:ea typeface="Zilla Slab"/>
                <a:cs typeface="Zilla Slab"/>
                <a:sym typeface="Zilla Slab"/>
              </a:rPr>
              <a:t>Sosial və siyasi neologizmlər ictimai həyatdakı dəyişikliklərlə bağlı yaranır.</a:t>
            </a:r>
          </a:p>
          <a:p>
            <a:pPr algn="ctr">
              <a:lnSpc>
                <a:spcPts val="3859"/>
              </a:lnSpc>
            </a:pPr>
            <a:r>
              <a:rPr lang="en-US" sz="2756">
                <a:solidFill>
                  <a:srgbClr val="FFFFFF"/>
                </a:solidFill>
                <a:latin typeface="Zilla Slab"/>
                <a:ea typeface="Zilla Slab"/>
                <a:cs typeface="Zilla Slab"/>
                <a:sym typeface="Zilla Slab"/>
              </a:rPr>
              <a:t>Mənbələrdə bu sözlər nümunə verilir:</a:t>
            </a:r>
          </a:p>
        </p:txBody>
      </p:sp>
      <p:sp>
        <p:nvSpPr>
          <p:cNvPr name="TextBox 12" id="12"/>
          <p:cNvSpPr txBox="true"/>
          <p:nvPr/>
        </p:nvSpPr>
        <p:spPr>
          <a:xfrm rot="0">
            <a:off x="695228" y="222161"/>
            <a:ext cx="12530734" cy="805952"/>
          </a:xfrm>
          <a:prstGeom prst="rect">
            <a:avLst/>
          </a:prstGeom>
        </p:spPr>
        <p:txBody>
          <a:bodyPr anchor="t" rtlCol="false" tIns="0" lIns="0" bIns="0" rIns="0">
            <a:spAutoFit/>
          </a:bodyPr>
          <a:lstStyle/>
          <a:p>
            <a:pPr algn="l">
              <a:lnSpc>
                <a:spcPts val="6502"/>
              </a:lnSpc>
              <a:spcBef>
                <a:spcPct val="0"/>
              </a:spcBef>
            </a:pPr>
            <a:r>
              <a:rPr lang="en-US" sz="4644" b="true">
                <a:solidFill>
                  <a:srgbClr val="FFFFFF"/>
                </a:solidFill>
                <a:latin typeface="Zilla Slab Bold"/>
                <a:ea typeface="Zilla Slab Bold"/>
                <a:cs typeface="Zilla Slab Bold"/>
                <a:sym typeface="Zilla Slab Bold"/>
              </a:rPr>
              <a:t>Sosial Və Siyasi Leksika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247" y="0"/>
            <a:ext cx="18294494" cy="10287000"/>
          </a:xfrm>
          <a:custGeom>
            <a:avLst/>
            <a:gdLst/>
            <a:ahLst/>
            <a:cxnLst/>
            <a:rect r="r" b="b" t="t" l="l"/>
            <a:pathLst>
              <a:path h="10287000" w="18294494">
                <a:moveTo>
                  <a:pt x="18294494" y="10287000"/>
                </a:moveTo>
                <a:lnTo>
                  <a:pt x="0" y="10287000"/>
                </a:lnTo>
                <a:lnTo>
                  <a:pt x="0" y="0"/>
                </a:lnTo>
                <a:lnTo>
                  <a:pt x="18294494" y="0"/>
                </a:lnTo>
                <a:lnTo>
                  <a:pt x="18294494" y="10287000"/>
                </a:lnTo>
                <a:close/>
              </a:path>
            </a:pathLst>
          </a:custGeom>
          <a:blipFill>
            <a:blip r:embed="rId2"/>
            <a:stretch>
              <a:fillRect l="0" t="0" r="0" b="0"/>
            </a:stretch>
          </a:blipFill>
        </p:spPr>
      </p:sp>
      <p:grpSp>
        <p:nvGrpSpPr>
          <p:cNvPr name="Group 3" id="3"/>
          <p:cNvGrpSpPr/>
          <p:nvPr/>
        </p:nvGrpSpPr>
        <p:grpSpPr>
          <a:xfrm rot="0">
            <a:off x="695228" y="1234439"/>
            <a:ext cx="10789453" cy="1840198"/>
            <a:chOff x="0" y="0"/>
            <a:chExt cx="4626318" cy="789043"/>
          </a:xfrm>
        </p:grpSpPr>
        <p:sp>
          <p:nvSpPr>
            <p:cNvPr name="Freeform 4" id="4"/>
            <p:cNvSpPr/>
            <p:nvPr/>
          </p:nvSpPr>
          <p:spPr>
            <a:xfrm flipH="false" flipV="false" rot="0">
              <a:off x="0" y="0"/>
              <a:ext cx="4626318" cy="789043"/>
            </a:xfrm>
            <a:custGeom>
              <a:avLst/>
              <a:gdLst/>
              <a:ahLst/>
              <a:cxnLst/>
              <a:rect r="r" b="b" t="t" l="l"/>
              <a:pathLst>
                <a:path h="789043" w="4626318">
                  <a:moveTo>
                    <a:pt x="37312" y="0"/>
                  </a:moveTo>
                  <a:lnTo>
                    <a:pt x="4589006" y="0"/>
                  </a:lnTo>
                  <a:cubicBezTo>
                    <a:pt x="4609613" y="0"/>
                    <a:pt x="4626318" y="16705"/>
                    <a:pt x="4626318" y="37312"/>
                  </a:cubicBezTo>
                  <a:lnTo>
                    <a:pt x="4626318" y="751731"/>
                  </a:lnTo>
                  <a:cubicBezTo>
                    <a:pt x="4626318" y="772338"/>
                    <a:pt x="4609613" y="789043"/>
                    <a:pt x="4589006" y="789043"/>
                  </a:cubicBezTo>
                  <a:lnTo>
                    <a:pt x="37312" y="789043"/>
                  </a:lnTo>
                  <a:cubicBezTo>
                    <a:pt x="16705" y="789043"/>
                    <a:pt x="0" y="772338"/>
                    <a:pt x="0" y="751731"/>
                  </a:cubicBezTo>
                  <a:lnTo>
                    <a:pt x="0" y="37312"/>
                  </a:lnTo>
                  <a:cubicBezTo>
                    <a:pt x="0" y="16705"/>
                    <a:pt x="16705" y="0"/>
                    <a:pt x="37312" y="0"/>
                  </a:cubicBezTo>
                  <a:close/>
                </a:path>
              </a:pathLst>
            </a:custGeom>
            <a:solidFill>
              <a:srgbClr val="00173D">
                <a:alpha val="81961"/>
              </a:srgbClr>
            </a:solidFill>
            <a:ln cap="rnd">
              <a:noFill/>
              <a:prstDash val="solid"/>
              <a:round/>
            </a:ln>
          </p:spPr>
        </p:sp>
        <p:sp>
          <p:nvSpPr>
            <p:cNvPr name="TextBox 5" id="5"/>
            <p:cNvSpPr txBox="true"/>
            <p:nvPr/>
          </p:nvSpPr>
          <p:spPr>
            <a:xfrm>
              <a:off x="0" y="-47625"/>
              <a:ext cx="4626318" cy="83666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695228" y="3284188"/>
            <a:ext cx="13604409" cy="6788182"/>
            <a:chOff x="0" y="0"/>
            <a:chExt cx="5069114" cy="2529332"/>
          </a:xfrm>
        </p:grpSpPr>
        <p:sp>
          <p:nvSpPr>
            <p:cNvPr name="Freeform 7" id="7"/>
            <p:cNvSpPr/>
            <p:nvPr/>
          </p:nvSpPr>
          <p:spPr>
            <a:xfrm flipH="false" flipV="false" rot="0">
              <a:off x="0" y="0"/>
              <a:ext cx="5069114" cy="2529332"/>
            </a:xfrm>
            <a:custGeom>
              <a:avLst/>
              <a:gdLst/>
              <a:ahLst/>
              <a:cxnLst/>
              <a:rect r="r" b="b" t="t" l="l"/>
              <a:pathLst>
                <a:path h="2529332" w="5069114">
                  <a:moveTo>
                    <a:pt x="29592" y="0"/>
                  </a:moveTo>
                  <a:lnTo>
                    <a:pt x="5039522" y="0"/>
                  </a:lnTo>
                  <a:cubicBezTo>
                    <a:pt x="5047370" y="0"/>
                    <a:pt x="5054897" y="3118"/>
                    <a:pt x="5060447" y="8667"/>
                  </a:cubicBezTo>
                  <a:cubicBezTo>
                    <a:pt x="5065996" y="14217"/>
                    <a:pt x="5069114" y="21744"/>
                    <a:pt x="5069114" y="29592"/>
                  </a:cubicBezTo>
                  <a:lnTo>
                    <a:pt x="5069114" y="2499740"/>
                  </a:lnTo>
                  <a:cubicBezTo>
                    <a:pt x="5069114" y="2516083"/>
                    <a:pt x="5055865" y="2529332"/>
                    <a:pt x="5039522" y="2529332"/>
                  </a:cubicBezTo>
                  <a:lnTo>
                    <a:pt x="29592" y="2529332"/>
                  </a:lnTo>
                  <a:cubicBezTo>
                    <a:pt x="21744" y="2529332"/>
                    <a:pt x="14217" y="2526214"/>
                    <a:pt x="8667" y="2520665"/>
                  </a:cubicBezTo>
                  <a:cubicBezTo>
                    <a:pt x="3118" y="2515115"/>
                    <a:pt x="0" y="2507588"/>
                    <a:pt x="0" y="2499740"/>
                  </a:cubicBezTo>
                  <a:lnTo>
                    <a:pt x="0" y="29592"/>
                  </a:lnTo>
                  <a:cubicBezTo>
                    <a:pt x="0" y="13249"/>
                    <a:pt x="13249" y="0"/>
                    <a:pt x="29592" y="0"/>
                  </a:cubicBezTo>
                  <a:close/>
                </a:path>
              </a:pathLst>
            </a:custGeom>
            <a:solidFill>
              <a:srgbClr val="00173D">
                <a:alpha val="85882"/>
              </a:srgbClr>
            </a:solidFill>
            <a:ln cap="rnd">
              <a:noFill/>
              <a:prstDash val="solid"/>
              <a:round/>
            </a:ln>
          </p:spPr>
        </p:sp>
        <p:sp>
          <p:nvSpPr>
            <p:cNvPr name="TextBox 8" id="8"/>
            <p:cNvSpPr txBox="true"/>
            <p:nvPr/>
          </p:nvSpPr>
          <p:spPr>
            <a:xfrm>
              <a:off x="0" y="-47625"/>
              <a:ext cx="5069114" cy="2576957"/>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820934" y="3654515"/>
            <a:ext cx="14111562" cy="6025188"/>
          </a:xfrm>
          <a:prstGeom prst="rect">
            <a:avLst/>
          </a:prstGeom>
        </p:spPr>
        <p:txBody>
          <a:bodyPr anchor="t" rtlCol="false" tIns="0" lIns="0" bIns="0" rIns="0">
            <a:spAutoFit/>
          </a:bodyPr>
          <a:lstStyle/>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Selfi: İnsanın özü-özünü (adətən smartfonla) çəkdiyi fotoşəkil; özçəkim.</a:t>
            </a:r>
          </a:p>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Blog: İnterne</a:t>
            </a:r>
            <a:r>
              <a:rPr lang="en-US" sz="2327">
                <a:solidFill>
                  <a:srgbClr val="FFFFFF"/>
                </a:solidFill>
                <a:latin typeface="Zilla Slab"/>
                <a:ea typeface="Zilla Slab"/>
                <a:cs typeface="Zilla Slab"/>
                <a:sym typeface="Zilla Slab"/>
              </a:rPr>
              <a:t>tdə müntəzəm olaraq yenilənən şəxsi və ya mövzu yönümlü gündəlik.</a:t>
            </a:r>
          </a:p>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V</a:t>
            </a:r>
            <a:r>
              <a:rPr lang="en-US" sz="2327">
                <a:solidFill>
                  <a:srgbClr val="FFFFFF"/>
                </a:solidFill>
                <a:latin typeface="Zilla Slab"/>
                <a:ea typeface="Zilla Slab"/>
                <a:cs typeface="Zilla Slab"/>
                <a:sym typeface="Zilla Slab"/>
              </a:rPr>
              <a:t>log: Video formatında hazırlanan blog; video-gündəlik.</a:t>
            </a:r>
          </a:p>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T</a:t>
            </a:r>
            <a:r>
              <a:rPr lang="en-US" sz="2327">
                <a:solidFill>
                  <a:srgbClr val="FFFFFF"/>
                </a:solidFill>
                <a:latin typeface="Zilla Slab"/>
                <a:ea typeface="Zilla Slab"/>
                <a:cs typeface="Zilla Slab"/>
                <a:sym typeface="Zilla Slab"/>
              </a:rPr>
              <a:t>rend: Müəyyən bir zaman kəsiyində populyar olan, hamı tərəfindən izlənilən istiqamət və ya dəb.</a:t>
            </a:r>
          </a:p>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Şopinq: Mağazaları gəzərək alış-veriş etmə prosesi.</a:t>
            </a:r>
          </a:p>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Brend: Tanınmış ticarət nişanı, məşhur məhsul və ya xidmət markası.</a:t>
            </a:r>
          </a:p>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Market</a:t>
            </a:r>
            <a:r>
              <a:rPr lang="en-US" sz="2327">
                <a:solidFill>
                  <a:srgbClr val="FFFFFF"/>
                </a:solidFill>
                <a:latin typeface="Zilla Slab"/>
                <a:ea typeface="Zilla Slab"/>
                <a:cs typeface="Zilla Slab"/>
                <a:sym typeface="Zilla Slab"/>
              </a:rPr>
              <a:t>inq: Məhsul və xidmətlərin satışı, reklamı və bazarın öyrənilməsi fəaliyyəti.</a:t>
            </a:r>
          </a:p>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Status: Sosial şəbəkələrdə şəxsin o anki vəziyyətini və ya fikrini ifadə edən qısa yazı/paylaşım.</a:t>
            </a:r>
          </a:p>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Mesaj</a:t>
            </a:r>
            <a:r>
              <a:rPr lang="en-US" sz="2327">
                <a:solidFill>
                  <a:srgbClr val="FFFFFF"/>
                </a:solidFill>
                <a:latin typeface="Zilla Slab"/>
                <a:ea typeface="Zilla Slab"/>
                <a:cs typeface="Zilla Slab"/>
                <a:sym typeface="Zilla Slab"/>
              </a:rPr>
              <a:t>: Elektron rabitə vasitəsilə göndərilən qısa mətn, ismarış.</a:t>
            </a:r>
          </a:p>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Pos</a:t>
            </a:r>
            <a:r>
              <a:rPr lang="en-US" sz="2327">
                <a:solidFill>
                  <a:srgbClr val="FFFFFF"/>
                </a:solidFill>
                <a:latin typeface="Zilla Slab"/>
                <a:ea typeface="Zilla Slab"/>
                <a:cs typeface="Zilla Slab"/>
                <a:sym typeface="Zilla Slab"/>
              </a:rPr>
              <a:t>t: Sosial şəbəkə və ya bloqlarda paylaşılan hər hansı məlumat, yazı və ya şəkil.</a:t>
            </a:r>
          </a:p>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Ça</a:t>
            </a:r>
            <a:r>
              <a:rPr lang="en-US" sz="2327">
                <a:solidFill>
                  <a:srgbClr val="FFFFFF"/>
                </a:solidFill>
                <a:latin typeface="Zilla Slab"/>
                <a:ea typeface="Zilla Slab"/>
                <a:cs typeface="Zilla Slab"/>
                <a:sym typeface="Zilla Slab"/>
              </a:rPr>
              <a:t>t: İnternet üzərindən real vaxt rejimində yazılı dialoq, ünsiyyət vasitəsi.</a:t>
            </a:r>
          </a:p>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Dizayn: Bir obyektin, geyimin və ya məkanın bədii-</a:t>
            </a:r>
            <a:r>
              <a:rPr lang="en-US" sz="2327">
                <a:solidFill>
                  <a:srgbClr val="FFFFFF"/>
                </a:solidFill>
                <a:latin typeface="Zilla Slab"/>
                <a:ea typeface="Zilla Slab"/>
                <a:cs typeface="Zilla Slab"/>
                <a:sym typeface="Zilla Slab"/>
              </a:rPr>
              <a:t>texniki</a:t>
            </a:r>
            <a:r>
              <a:rPr lang="en-US" sz="2327">
                <a:solidFill>
                  <a:srgbClr val="FFFFFF"/>
                </a:solidFill>
                <a:latin typeface="Zilla Slab"/>
                <a:ea typeface="Zilla Slab"/>
                <a:cs typeface="Zilla Slab"/>
                <a:sym typeface="Zilla Slab"/>
              </a:rPr>
              <a:t> layihələndirilməsi, görünüşü.</a:t>
            </a:r>
          </a:p>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Festival: İncəsənət, musiqi və ya digər sahələrdə keçirilən genişmiqyaslı bayram tədbiri.</a:t>
            </a:r>
          </a:p>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Serial: Vahid süjet xətti olan və hissə-hissə nümayiş etdiril</a:t>
            </a:r>
            <a:r>
              <a:rPr lang="en-US" sz="2327">
                <a:solidFill>
                  <a:srgbClr val="FFFFFF"/>
                </a:solidFill>
                <a:latin typeface="Zilla Slab"/>
                <a:ea typeface="Zilla Slab"/>
                <a:cs typeface="Zilla Slab"/>
                <a:sym typeface="Zilla Slab"/>
              </a:rPr>
              <a:t>ə</a:t>
            </a:r>
            <a:r>
              <a:rPr lang="en-US" sz="2327">
                <a:solidFill>
                  <a:srgbClr val="FFFFFF"/>
                </a:solidFill>
                <a:latin typeface="Zilla Slab"/>
                <a:ea typeface="Zilla Slab"/>
                <a:cs typeface="Zilla Slab"/>
                <a:sym typeface="Zilla Slab"/>
              </a:rPr>
              <a:t>n çoxseriyalı film.</a:t>
            </a:r>
          </a:p>
          <a:p>
            <a:pPr algn="l" marL="502452" indent="-251226" lvl="1">
              <a:lnSpc>
                <a:spcPts val="3258"/>
              </a:lnSpc>
              <a:buFont typeface="Arial"/>
              <a:buChar char="•"/>
            </a:pPr>
            <a:r>
              <a:rPr lang="en-US" sz="2327">
                <a:solidFill>
                  <a:srgbClr val="FFFFFF"/>
                </a:solidFill>
                <a:latin typeface="Zilla Slab"/>
                <a:ea typeface="Zilla Slab"/>
                <a:cs typeface="Zilla Slab"/>
                <a:sym typeface="Zilla Slab"/>
              </a:rPr>
              <a:t>M</a:t>
            </a:r>
            <a:r>
              <a:rPr lang="en-US" sz="2327">
                <a:solidFill>
                  <a:srgbClr val="FFFFFF"/>
                </a:solidFill>
                <a:latin typeface="Zilla Slab"/>
                <a:ea typeface="Zilla Slab"/>
                <a:cs typeface="Zilla Slab"/>
                <a:sym typeface="Zilla Slab"/>
              </a:rPr>
              <a:t>otivasiya: İnsanı müəyyən bir hərəkətə, hədəfə sövq edən daxili həvəs və stimul.</a:t>
            </a:r>
          </a:p>
        </p:txBody>
      </p:sp>
      <p:sp>
        <p:nvSpPr>
          <p:cNvPr name="Freeform 10" id="10"/>
          <p:cNvSpPr/>
          <p:nvPr/>
        </p:nvSpPr>
        <p:spPr>
          <a:xfrm flipH="false" flipV="false" rot="0">
            <a:off x="12488555" y="1460890"/>
            <a:ext cx="1482356" cy="1823298"/>
          </a:xfrm>
          <a:custGeom>
            <a:avLst/>
            <a:gdLst/>
            <a:ahLst/>
            <a:cxnLst/>
            <a:rect r="r" b="b" t="t" l="l"/>
            <a:pathLst>
              <a:path h="1823298" w="1482356">
                <a:moveTo>
                  <a:pt x="0" y="0"/>
                </a:moveTo>
                <a:lnTo>
                  <a:pt x="1482356" y="0"/>
                </a:lnTo>
                <a:lnTo>
                  <a:pt x="1482356" y="1823298"/>
                </a:lnTo>
                <a:lnTo>
                  <a:pt x="0" y="18232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028700" y="1413265"/>
            <a:ext cx="10455981" cy="1434922"/>
          </a:xfrm>
          <a:prstGeom prst="rect">
            <a:avLst/>
          </a:prstGeom>
        </p:spPr>
        <p:txBody>
          <a:bodyPr anchor="t" rtlCol="false" tIns="0" lIns="0" bIns="0" rIns="0">
            <a:spAutoFit/>
          </a:bodyPr>
          <a:lstStyle/>
          <a:p>
            <a:pPr algn="l">
              <a:lnSpc>
                <a:spcPts val="3859"/>
              </a:lnSpc>
            </a:pPr>
            <a:r>
              <a:rPr lang="en-US" sz="2757">
                <a:solidFill>
                  <a:srgbClr val="FFFFFF"/>
                </a:solidFill>
                <a:latin typeface="Zilla Slab"/>
                <a:ea typeface="Zilla Slab"/>
                <a:cs typeface="Zilla Slab"/>
                <a:sym typeface="Zilla Slab"/>
              </a:rPr>
              <a:t>Mədəni və gündəlik leksikada neologizmlər həm yeni yaşam tərzini, həm də sosial ünsiyyətin dəyişməsini əks etdirir. Bu tip sözlər bəzən bədii üslubdan, bəzən də danışıq dilindən ədəbi dilə keçir.</a:t>
            </a:r>
          </a:p>
        </p:txBody>
      </p:sp>
      <p:sp>
        <p:nvSpPr>
          <p:cNvPr name="TextBox 12" id="12"/>
          <p:cNvSpPr txBox="true"/>
          <p:nvPr/>
        </p:nvSpPr>
        <p:spPr>
          <a:xfrm rot="0">
            <a:off x="695228" y="222161"/>
            <a:ext cx="8024163" cy="805952"/>
          </a:xfrm>
          <a:prstGeom prst="rect">
            <a:avLst/>
          </a:prstGeom>
        </p:spPr>
        <p:txBody>
          <a:bodyPr anchor="t" rtlCol="false" tIns="0" lIns="0" bIns="0" rIns="0">
            <a:spAutoFit/>
          </a:bodyPr>
          <a:lstStyle/>
          <a:p>
            <a:pPr algn="l">
              <a:lnSpc>
                <a:spcPts val="6502"/>
              </a:lnSpc>
              <a:spcBef>
                <a:spcPct val="0"/>
              </a:spcBef>
            </a:pPr>
            <a:r>
              <a:rPr lang="en-US" sz="4644" b="true">
                <a:solidFill>
                  <a:srgbClr val="FFFFFF"/>
                </a:solidFill>
                <a:latin typeface="Zilla Slab Bold"/>
                <a:ea typeface="Zilla Slab Bold"/>
                <a:cs typeface="Zilla Slab Bold"/>
                <a:sym typeface="Zilla Slab Bold"/>
              </a:rPr>
              <a:t>Mədəni və gündəlik leksika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247" y="0"/>
            <a:ext cx="18294494" cy="10287000"/>
          </a:xfrm>
          <a:custGeom>
            <a:avLst/>
            <a:gdLst/>
            <a:ahLst/>
            <a:cxnLst/>
            <a:rect r="r" b="b" t="t" l="l"/>
            <a:pathLst>
              <a:path h="10287000" w="18294494">
                <a:moveTo>
                  <a:pt x="18294494" y="10287000"/>
                </a:moveTo>
                <a:lnTo>
                  <a:pt x="0" y="10287000"/>
                </a:lnTo>
                <a:lnTo>
                  <a:pt x="0" y="0"/>
                </a:lnTo>
                <a:lnTo>
                  <a:pt x="18294494" y="0"/>
                </a:lnTo>
                <a:lnTo>
                  <a:pt x="18294494" y="10287000"/>
                </a:lnTo>
                <a:close/>
              </a:path>
            </a:pathLst>
          </a:custGeom>
          <a:blipFill>
            <a:blip r:embed="rId2"/>
            <a:stretch>
              <a:fillRect l="0" t="0" r="0" b="0"/>
            </a:stretch>
          </a:blipFill>
        </p:spPr>
      </p:sp>
      <p:grpSp>
        <p:nvGrpSpPr>
          <p:cNvPr name="Group 3" id="3"/>
          <p:cNvGrpSpPr/>
          <p:nvPr/>
        </p:nvGrpSpPr>
        <p:grpSpPr>
          <a:xfrm rot="0">
            <a:off x="695228" y="1234439"/>
            <a:ext cx="9803091" cy="9052561"/>
            <a:chOff x="0" y="0"/>
            <a:chExt cx="4203384" cy="3881571"/>
          </a:xfrm>
        </p:grpSpPr>
        <p:sp>
          <p:nvSpPr>
            <p:cNvPr name="Freeform 4" id="4"/>
            <p:cNvSpPr/>
            <p:nvPr/>
          </p:nvSpPr>
          <p:spPr>
            <a:xfrm flipH="false" flipV="false" rot="0">
              <a:off x="0" y="0"/>
              <a:ext cx="4203384" cy="3881571"/>
            </a:xfrm>
            <a:custGeom>
              <a:avLst/>
              <a:gdLst/>
              <a:ahLst/>
              <a:cxnLst/>
              <a:rect r="r" b="b" t="t" l="l"/>
              <a:pathLst>
                <a:path h="3881571" w="4203384">
                  <a:moveTo>
                    <a:pt x="41067" y="0"/>
                  </a:moveTo>
                  <a:lnTo>
                    <a:pt x="4162318" y="0"/>
                  </a:lnTo>
                  <a:cubicBezTo>
                    <a:pt x="4184998" y="0"/>
                    <a:pt x="4203384" y="18386"/>
                    <a:pt x="4203384" y="41067"/>
                  </a:cubicBezTo>
                  <a:lnTo>
                    <a:pt x="4203384" y="3840504"/>
                  </a:lnTo>
                  <a:cubicBezTo>
                    <a:pt x="4203384" y="3851396"/>
                    <a:pt x="4199058" y="3861841"/>
                    <a:pt x="4191356" y="3869543"/>
                  </a:cubicBezTo>
                  <a:cubicBezTo>
                    <a:pt x="4183654" y="3877244"/>
                    <a:pt x="4173209" y="3881571"/>
                    <a:pt x="4162318" y="3881571"/>
                  </a:cubicBezTo>
                  <a:lnTo>
                    <a:pt x="41067" y="3881571"/>
                  </a:lnTo>
                  <a:cubicBezTo>
                    <a:pt x="30175" y="3881571"/>
                    <a:pt x="19730" y="3877244"/>
                    <a:pt x="12028" y="3869543"/>
                  </a:cubicBezTo>
                  <a:cubicBezTo>
                    <a:pt x="4327" y="3861841"/>
                    <a:pt x="0" y="3851396"/>
                    <a:pt x="0" y="3840504"/>
                  </a:cubicBezTo>
                  <a:lnTo>
                    <a:pt x="0" y="41067"/>
                  </a:lnTo>
                  <a:cubicBezTo>
                    <a:pt x="0" y="30175"/>
                    <a:pt x="4327" y="19730"/>
                    <a:pt x="12028" y="12028"/>
                  </a:cubicBezTo>
                  <a:cubicBezTo>
                    <a:pt x="19730" y="4327"/>
                    <a:pt x="30175" y="0"/>
                    <a:pt x="41067" y="0"/>
                  </a:cubicBezTo>
                  <a:close/>
                </a:path>
              </a:pathLst>
            </a:custGeom>
            <a:solidFill>
              <a:srgbClr val="00173D">
                <a:alpha val="81961"/>
              </a:srgbClr>
            </a:solidFill>
            <a:ln cap="rnd">
              <a:noFill/>
              <a:prstDash val="solid"/>
              <a:round/>
            </a:ln>
          </p:spPr>
        </p:sp>
        <p:sp>
          <p:nvSpPr>
            <p:cNvPr name="TextBox 5" id="5"/>
            <p:cNvSpPr txBox="true"/>
            <p:nvPr/>
          </p:nvSpPr>
          <p:spPr>
            <a:xfrm>
              <a:off x="0" y="-47625"/>
              <a:ext cx="4203384" cy="392919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253209" y="1496705"/>
            <a:ext cx="8687128" cy="8052690"/>
          </a:xfrm>
          <a:prstGeom prst="rect">
            <a:avLst/>
          </a:prstGeom>
        </p:spPr>
        <p:txBody>
          <a:bodyPr anchor="t" rtlCol="false" tIns="0" lIns="0" bIns="0" rIns="0">
            <a:spAutoFit/>
          </a:bodyPr>
          <a:lstStyle/>
          <a:p>
            <a:pPr algn="l">
              <a:lnSpc>
                <a:spcPts val="3769"/>
              </a:lnSpc>
            </a:pPr>
            <a:r>
              <a:rPr lang="en-US" sz="2692">
                <a:solidFill>
                  <a:srgbClr val="FFFFFF"/>
                </a:solidFill>
                <a:latin typeface="Zilla Slab"/>
                <a:ea typeface="Zilla Slab"/>
                <a:cs typeface="Zilla Slab"/>
                <a:sym typeface="Zilla Slab"/>
              </a:rPr>
              <a:t>Yeni sözlərin ədəbi norma ilə uyğunlaşdırılması vacibdir, çünki hər yeni söz avtomatik olaraq ədəbi norma sayılmır.</a:t>
            </a:r>
          </a:p>
          <a:p>
            <a:pPr algn="l">
              <a:lnSpc>
                <a:spcPts val="3769"/>
              </a:lnSpc>
            </a:pPr>
            <a:r>
              <a:rPr lang="en-US" sz="2692">
                <a:solidFill>
                  <a:srgbClr val="FFFFFF"/>
                </a:solidFill>
                <a:latin typeface="Zilla Slab"/>
                <a:ea typeface="Zilla Slab"/>
                <a:cs typeface="Zilla Slab"/>
                <a:sym typeface="Zilla Slab"/>
              </a:rPr>
              <a:t>Azərbaycan ədəbi dili normalarının qorunması:</a:t>
            </a:r>
          </a:p>
          <a:p>
            <a:pPr algn="l" marL="581235" indent="-290617" lvl="1">
              <a:lnSpc>
                <a:spcPts val="3769"/>
              </a:lnSpc>
              <a:buFont typeface="Arial"/>
              <a:buChar char="•"/>
            </a:pPr>
            <a:r>
              <a:rPr lang="en-US" b="true" sz="2692" i="true">
                <a:solidFill>
                  <a:srgbClr val="FFFFFF"/>
                </a:solidFill>
                <a:latin typeface="Zilla Slab Bold Italics"/>
                <a:ea typeface="Zilla Slab Bold Italics"/>
                <a:cs typeface="Zilla Slab Bold Italics"/>
                <a:sym typeface="Zilla Slab Bold Italics"/>
              </a:rPr>
              <a:t>Leksik vahidlərin düzgün seçilməsi</a:t>
            </a:r>
            <a:r>
              <a:rPr lang="en-US" sz="2692">
                <a:solidFill>
                  <a:srgbClr val="FFFFFF"/>
                </a:solidFill>
                <a:latin typeface="Zilla Slab"/>
                <a:ea typeface="Zilla Slab"/>
                <a:cs typeface="Zilla Slab"/>
                <a:sym typeface="Zilla Slab"/>
              </a:rPr>
              <a:t>: Sözün ifadə etdiyi mənanın dilin daxili məntiqinə və xalqın təfəkkür tərzinə uyğun gəlməsi (məsələn, "yükləmə" sözünün həm fiziki, həm də texnoloji mənada düzgün tətbiqi) ilə bağlıdır.</a:t>
            </a:r>
          </a:p>
          <a:p>
            <a:pPr algn="l" marL="581235" indent="-290617" lvl="1">
              <a:lnSpc>
                <a:spcPts val="3769"/>
              </a:lnSpc>
              <a:buFont typeface="Arial"/>
              <a:buChar char="•"/>
            </a:pPr>
            <a:r>
              <a:rPr lang="en-US" b="true" sz="2692" i="true">
                <a:solidFill>
                  <a:srgbClr val="FFFFFF"/>
                </a:solidFill>
                <a:latin typeface="Zilla Slab Bold Italics"/>
                <a:ea typeface="Zilla Slab Bold Italics"/>
                <a:cs typeface="Zilla Slab Bold Italics"/>
                <a:sym typeface="Zilla Slab Bold Italics"/>
              </a:rPr>
              <a:t>Yazılışının sabitləşməsi</a:t>
            </a:r>
            <a:r>
              <a:rPr lang="en-US" sz="2692">
                <a:solidFill>
                  <a:srgbClr val="FFFFFF"/>
                </a:solidFill>
                <a:latin typeface="Zilla Slab"/>
                <a:ea typeface="Zilla Slab"/>
                <a:cs typeface="Zilla Slab"/>
                <a:sym typeface="Zilla Slab"/>
              </a:rPr>
              <a:t>: Sözün orfoqrafiya lüğətinə daxil edilərək vahid yazılış qaydasının müəyyənləşməsi (məsələn, "kompüter" yoxsa "kompüter" formalarından birinin seçilməsi) ilə bağlıdır.</a:t>
            </a:r>
          </a:p>
          <a:p>
            <a:pPr algn="l" marL="581235" indent="-290617" lvl="1">
              <a:lnSpc>
                <a:spcPts val="3769"/>
              </a:lnSpc>
              <a:buFont typeface="Arial"/>
              <a:buChar char="•"/>
            </a:pPr>
            <a:r>
              <a:rPr lang="en-US" b="true" sz="2692" i="true">
                <a:solidFill>
                  <a:srgbClr val="FFFFFF"/>
                </a:solidFill>
                <a:latin typeface="Zilla Slab Bold Italics"/>
                <a:ea typeface="Zilla Slab Bold Italics"/>
                <a:cs typeface="Zilla Slab Bold Italics"/>
                <a:sym typeface="Zilla Slab Bold Italics"/>
              </a:rPr>
              <a:t>Qrammatik uyğunlaşması</a:t>
            </a:r>
            <a:r>
              <a:rPr lang="en-US" sz="2692">
                <a:solidFill>
                  <a:srgbClr val="FFFFFF"/>
                </a:solidFill>
                <a:latin typeface="Zilla Slab"/>
                <a:ea typeface="Zilla Slab"/>
                <a:cs typeface="Zilla Slab"/>
                <a:sym typeface="Zilla Slab"/>
              </a:rPr>
              <a:t>: Yeni sözün Azərbaycan dilinin şəkilçilərini qəbul etməsi və cümlədə digər sözlərlə düzgün əlaqəyə girməsi (məsələn, "onlayn dərslər" birləşməsindəki sifət funksiyası) ilə bağlıdır.</a:t>
            </a:r>
          </a:p>
          <a:p>
            <a:pPr algn="l">
              <a:lnSpc>
                <a:spcPts val="3769"/>
              </a:lnSpc>
            </a:pPr>
          </a:p>
        </p:txBody>
      </p:sp>
      <p:sp>
        <p:nvSpPr>
          <p:cNvPr name="TextBox 7" id="7"/>
          <p:cNvSpPr txBox="true"/>
          <p:nvPr/>
        </p:nvSpPr>
        <p:spPr>
          <a:xfrm rot="0">
            <a:off x="695228" y="222161"/>
            <a:ext cx="15838320" cy="805952"/>
          </a:xfrm>
          <a:prstGeom prst="rect">
            <a:avLst/>
          </a:prstGeom>
        </p:spPr>
        <p:txBody>
          <a:bodyPr anchor="t" rtlCol="false" tIns="0" lIns="0" bIns="0" rIns="0">
            <a:spAutoFit/>
          </a:bodyPr>
          <a:lstStyle/>
          <a:p>
            <a:pPr algn="just">
              <a:lnSpc>
                <a:spcPts val="6502"/>
              </a:lnSpc>
              <a:spcBef>
                <a:spcPct val="0"/>
              </a:spcBef>
            </a:pPr>
            <a:r>
              <a:rPr lang="en-US" b="true" sz="4644">
                <a:solidFill>
                  <a:srgbClr val="FFFFFF"/>
                </a:solidFill>
                <a:latin typeface="Zilla Slab Bold"/>
                <a:ea typeface="Zilla Slab Bold"/>
                <a:cs typeface="Zilla Slab Bold"/>
                <a:sym typeface="Zilla Slab Bold"/>
              </a:rPr>
              <a:t> Yeni sözlərin ədəbi norma ilə uyğunlaşdırılması zərurət</a:t>
            </a:r>
            <a:r>
              <a:rPr lang="en-US" b="true" sz="4644">
                <a:solidFill>
                  <a:srgbClr val="FFFFFF"/>
                </a:solidFill>
                <a:latin typeface="Zilla Slab Bold"/>
                <a:ea typeface="Zilla Slab Bold"/>
                <a:cs typeface="Zilla Slab Bold"/>
                <a:sym typeface="Zilla Slab Bold"/>
              </a:rPr>
              <a:t>i</a:t>
            </a:r>
          </a:p>
        </p:txBody>
      </p:sp>
      <p:grpSp>
        <p:nvGrpSpPr>
          <p:cNvPr name="Group 8" id="8"/>
          <p:cNvGrpSpPr/>
          <p:nvPr/>
        </p:nvGrpSpPr>
        <p:grpSpPr>
          <a:xfrm rot="0">
            <a:off x="10870645" y="1234439"/>
            <a:ext cx="6983177" cy="9052561"/>
            <a:chOff x="0" y="0"/>
            <a:chExt cx="2994257" cy="3881571"/>
          </a:xfrm>
        </p:grpSpPr>
        <p:sp>
          <p:nvSpPr>
            <p:cNvPr name="Freeform 9" id="9"/>
            <p:cNvSpPr/>
            <p:nvPr/>
          </p:nvSpPr>
          <p:spPr>
            <a:xfrm flipH="false" flipV="false" rot="0">
              <a:off x="0" y="0"/>
              <a:ext cx="2994257" cy="3881571"/>
            </a:xfrm>
            <a:custGeom>
              <a:avLst/>
              <a:gdLst/>
              <a:ahLst/>
              <a:cxnLst/>
              <a:rect r="r" b="b" t="t" l="l"/>
              <a:pathLst>
                <a:path h="3881571" w="2994257">
                  <a:moveTo>
                    <a:pt x="57650" y="0"/>
                  </a:moveTo>
                  <a:lnTo>
                    <a:pt x="2936607" y="0"/>
                  </a:lnTo>
                  <a:cubicBezTo>
                    <a:pt x="2951897" y="0"/>
                    <a:pt x="2966560" y="6074"/>
                    <a:pt x="2977372" y="16885"/>
                  </a:cubicBezTo>
                  <a:cubicBezTo>
                    <a:pt x="2988183" y="27697"/>
                    <a:pt x="2994257" y="42360"/>
                    <a:pt x="2994257" y="57650"/>
                  </a:cubicBezTo>
                  <a:lnTo>
                    <a:pt x="2994257" y="3823921"/>
                  </a:lnTo>
                  <a:cubicBezTo>
                    <a:pt x="2994257" y="3839211"/>
                    <a:pt x="2988183" y="3853874"/>
                    <a:pt x="2977372" y="3864685"/>
                  </a:cubicBezTo>
                  <a:cubicBezTo>
                    <a:pt x="2966560" y="3875497"/>
                    <a:pt x="2951897" y="3881571"/>
                    <a:pt x="2936607" y="3881571"/>
                  </a:cubicBezTo>
                  <a:lnTo>
                    <a:pt x="57650" y="3881571"/>
                  </a:lnTo>
                  <a:cubicBezTo>
                    <a:pt x="25811" y="3881571"/>
                    <a:pt x="0" y="3855760"/>
                    <a:pt x="0" y="3823921"/>
                  </a:cubicBezTo>
                  <a:lnTo>
                    <a:pt x="0" y="57650"/>
                  </a:lnTo>
                  <a:cubicBezTo>
                    <a:pt x="0" y="42360"/>
                    <a:pt x="6074" y="27697"/>
                    <a:pt x="16885" y="16885"/>
                  </a:cubicBezTo>
                  <a:cubicBezTo>
                    <a:pt x="27697" y="6074"/>
                    <a:pt x="42360" y="0"/>
                    <a:pt x="57650" y="0"/>
                  </a:cubicBezTo>
                  <a:close/>
                </a:path>
              </a:pathLst>
            </a:custGeom>
            <a:solidFill>
              <a:srgbClr val="00173D">
                <a:alpha val="81961"/>
              </a:srgbClr>
            </a:solidFill>
            <a:ln cap="rnd">
              <a:noFill/>
              <a:prstDash val="solid"/>
              <a:round/>
            </a:ln>
          </p:spPr>
        </p:sp>
        <p:sp>
          <p:nvSpPr>
            <p:cNvPr name="TextBox 10" id="10"/>
            <p:cNvSpPr txBox="true"/>
            <p:nvPr/>
          </p:nvSpPr>
          <p:spPr>
            <a:xfrm>
              <a:off x="0" y="-47625"/>
              <a:ext cx="2994257" cy="3929196"/>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1164004" y="1403740"/>
            <a:ext cx="6396459" cy="8465071"/>
          </a:xfrm>
          <a:prstGeom prst="rect">
            <a:avLst/>
          </a:prstGeom>
        </p:spPr>
        <p:txBody>
          <a:bodyPr anchor="t" rtlCol="false" tIns="0" lIns="0" bIns="0" rIns="0">
            <a:spAutoFit/>
          </a:bodyPr>
          <a:lstStyle/>
          <a:p>
            <a:pPr algn="l">
              <a:lnSpc>
                <a:spcPts val="3543"/>
              </a:lnSpc>
            </a:pPr>
            <a:r>
              <a:rPr lang="en-US" sz="2530">
                <a:solidFill>
                  <a:srgbClr val="FFFFFF"/>
                </a:solidFill>
                <a:latin typeface="Zilla Slab"/>
                <a:ea typeface="Zilla Slab"/>
                <a:cs typeface="Zilla Slab"/>
                <a:sym typeface="Zilla Slab"/>
              </a:rPr>
              <a:t>Alınma sözlərin mənimsənilməsi prosesində:</a:t>
            </a:r>
          </a:p>
          <a:p>
            <a:pPr algn="l" marL="546383" indent="-273191" lvl="1">
              <a:lnSpc>
                <a:spcPts val="3543"/>
              </a:lnSpc>
              <a:buFont typeface="Arial"/>
              <a:buChar char="•"/>
            </a:pPr>
            <a:r>
              <a:rPr lang="en-US" sz="2530">
                <a:solidFill>
                  <a:srgbClr val="FFFFFF"/>
                </a:solidFill>
                <a:latin typeface="Zilla Slab"/>
                <a:ea typeface="Zilla Slab"/>
                <a:cs typeface="Zilla Slab"/>
                <a:sym typeface="Zilla Slab"/>
              </a:rPr>
              <a:t>Fonetik uyğunlaşma: Alınma sözdəki yad səslərin Azərbaycan dilinin sə</a:t>
            </a:r>
            <a:r>
              <a:rPr lang="en-US" sz="2530">
                <a:solidFill>
                  <a:srgbClr val="FFFFFF"/>
                </a:solidFill>
                <a:latin typeface="Zilla Slab"/>
                <a:ea typeface="Zilla Slab"/>
                <a:cs typeface="Zilla Slab"/>
                <a:sym typeface="Zilla Slab"/>
              </a:rPr>
              <a:t>s sistemi</a:t>
            </a:r>
            <a:r>
              <a:rPr lang="en-US" sz="2530">
                <a:solidFill>
                  <a:srgbClr val="FFFFFF"/>
                </a:solidFill>
                <a:latin typeface="Zilla Slab"/>
                <a:ea typeface="Zilla Slab"/>
                <a:cs typeface="Zilla Slab"/>
                <a:sym typeface="Zilla Slab"/>
              </a:rPr>
              <a:t>nə (ahəng qanunu, dodaqlanma) görə dəyişməsi (məsələn, rus dilindəki "stul" sözünün dilimizdə incə saitli tələffüzə meyl etməsi) əsas mərhələdir.</a:t>
            </a:r>
          </a:p>
          <a:p>
            <a:pPr algn="l" marL="546383" indent="-273191" lvl="1">
              <a:lnSpc>
                <a:spcPts val="3543"/>
              </a:lnSpc>
              <a:buFont typeface="Arial"/>
              <a:buChar char="•"/>
            </a:pPr>
            <a:r>
              <a:rPr lang="en-US" sz="2530">
                <a:solidFill>
                  <a:srgbClr val="FFFFFF"/>
                </a:solidFill>
                <a:latin typeface="Zilla Slab"/>
                <a:ea typeface="Zilla Slab"/>
                <a:cs typeface="Zilla Slab"/>
                <a:sym typeface="Zilla Slab"/>
              </a:rPr>
              <a:t>Morfo</a:t>
            </a:r>
            <a:r>
              <a:rPr lang="en-US" sz="2530">
                <a:solidFill>
                  <a:srgbClr val="FFFFFF"/>
                </a:solidFill>
                <a:latin typeface="Zilla Slab"/>
                <a:ea typeface="Zilla Slab"/>
                <a:cs typeface="Zilla Slab"/>
                <a:sym typeface="Zilla Slab"/>
              </a:rPr>
              <a:t>loji uyğunlaşma</a:t>
            </a:r>
            <a:r>
              <a:rPr lang="en-US" sz="2530">
                <a:solidFill>
                  <a:srgbClr val="FFFFFF"/>
                </a:solidFill>
                <a:latin typeface="Zilla Slab"/>
                <a:ea typeface="Zilla Slab"/>
                <a:cs typeface="Zilla Slab"/>
                <a:sym typeface="Zilla Slab"/>
              </a:rPr>
              <a:t>: Sözün dilimizdəki nitq hissələrinin xüsusiyyətlərini qazanması və şəkilçi qəbul etmə qabiliyyəti (məsələn, "blok" sözünə "–lamaq" şəkilçisi artıraraq feil düzəltmək) əsas mərhələdir.</a:t>
            </a:r>
          </a:p>
          <a:p>
            <a:pPr algn="l" marL="546383" indent="-273191" lvl="1">
              <a:lnSpc>
                <a:spcPts val="3543"/>
              </a:lnSpc>
              <a:buFont typeface="Arial"/>
              <a:buChar char="•"/>
            </a:pPr>
            <a:r>
              <a:rPr lang="en-US" sz="2530">
                <a:solidFill>
                  <a:srgbClr val="FFFFFF"/>
                </a:solidFill>
                <a:latin typeface="Zilla Slab"/>
                <a:ea typeface="Zilla Slab"/>
                <a:cs typeface="Zilla Slab"/>
                <a:sym typeface="Zilla Slab"/>
              </a:rPr>
              <a:t>Qrafik uyğunlaşma</a:t>
            </a:r>
            <a:r>
              <a:rPr lang="en-US" sz="2530">
                <a:solidFill>
                  <a:srgbClr val="FFFFFF"/>
                </a:solidFill>
                <a:latin typeface="Zilla Slab"/>
                <a:ea typeface="Zilla Slab"/>
                <a:cs typeface="Zilla Slab"/>
                <a:sym typeface="Zilla Slab"/>
              </a:rPr>
              <a:t>: Sözün xarici dildəki yazılışından çıxaraq Azərbaycan əlifbasındakı hərflərlə, olduğu kimi və ya fonetik tərkibinə uyğun əks olunması əsas mərhələdir.</a:t>
            </a:r>
          </a:p>
          <a:p>
            <a:pPr algn="l">
              <a:lnSpc>
                <a:spcPts val="3543"/>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247" y="0"/>
            <a:ext cx="18294494" cy="10287000"/>
          </a:xfrm>
          <a:custGeom>
            <a:avLst/>
            <a:gdLst/>
            <a:ahLst/>
            <a:cxnLst/>
            <a:rect r="r" b="b" t="t" l="l"/>
            <a:pathLst>
              <a:path h="10287000" w="18294494">
                <a:moveTo>
                  <a:pt x="18294494" y="10287000"/>
                </a:moveTo>
                <a:lnTo>
                  <a:pt x="0" y="10287000"/>
                </a:lnTo>
                <a:lnTo>
                  <a:pt x="0" y="0"/>
                </a:lnTo>
                <a:lnTo>
                  <a:pt x="18294494" y="0"/>
                </a:lnTo>
                <a:lnTo>
                  <a:pt x="18294494" y="10287000"/>
                </a:lnTo>
                <a:close/>
              </a:path>
            </a:pathLst>
          </a:custGeom>
          <a:blipFill>
            <a:blip r:embed="rId2"/>
            <a:stretch>
              <a:fillRect l="0" t="0" r="0" b="0"/>
            </a:stretch>
          </a:blipFill>
        </p:spPr>
      </p:sp>
      <p:grpSp>
        <p:nvGrpSpPr>
          <p:cNvPr name="Group 3" id="3"/>
          <p:cNvGrpSpPr/>
          <p:nvPr/>
        </p:nvGrpSpPr>
        <p:grpSpPr>
          <a:xfrm rot="0">
            <a:off x="0" y="1194578"/>
            <a:ext cx="12725611" cy="9092422"/>
            <a:chOff x="0" y="0"/>
            <a:chExt cx="5456507" cy="3898663"/>
          </a:xfrm>
        </p:grpSpPr>
        <p:sp>
          <p:nvSpPr>
            <p:cNvPr name="Freeform 4" id="4"/>
            <p:cNvSpPr/>
            <p:nvPr/>
          </p:nvSpPr>
          <p:spPr>
            <a:xfrm flipH="false" flipV="false" rot="0">
              <a:off x="0" y="0"/>
              <a:ext cx="5456507" cy="3898663"/>
            </a:xfrm>
            <a:custGeom>
              <a:avLst/>
              <a:gdLst/>
              <a:ahLst/>
              <a:cxnLst/>
              <a:rect r="r" b="b" t="t" l="l"/>
              <a:pathLst>
                <a:path h="3898663" w="5456507">
                  <a:moveTo>
                    <a:pt x="10342" y="0"/>
                  </a:moveTo>
                  <a:lnTo>
                    <a:pt x="5446165" y="0"/>
                  </a:lnTo>
                  <a:cubicBezTo>
                    <a:pt x="5448908" y="0"/>
                    <a:pt x="5451539" y="1090"/>
                    <a:pt x="5453478" y="3029"/>
                  </a:cubicBezTo>
                  <a:cubicBezTo>
                    <a:pt x="5455418" y="4969"/>
                    <a:pt x="5456507" y="7599"/>
                    <a:pt x="5456507" y="10342"/>
                  </a:cubicBezTo>
                  <a:lnTo>
                    <a:pt x="5456507" y="3888320"/>
                  </a:lnTo>
                  <a:cubicBezTo>
                    <a:pt x="5456507" y="3891063"/>
                    <a:pt x="5455418" y="3893694"/>
                    <a:pt x="5453478" y="3895634"/>
                  </a:cubicBezTo>
                  <a:cubicBezTo>
                    <a:pt x="5451539" y="3897573"/>
                    <a:pt x="5448908" y="3898663"/>
                    <a:pt x="5446165" y="3898663"/>
                  </a:cubicBezTo>
                  <a:lnTo>
                    <a:pt x="10342" y="3898663"/>
                  </a:lnTo>
                  <a:cubicBezTo>
                    <a:pt x="7599" y="3898663"/>
                    <a:pt x="4969" y="3897573"/>
                    <a:pt x="3029" y="3895634"/>
                  </a:cubicBezTo>
                  <a:cubicBezTo>
                    <a:pt x="1090" y="3893694"/>
                    <a:pt x="0" y="3891063"/>
                    <a:pt x="0" y="3888320"/>
                  </a:cubicBezTo>
                  <a:lnTo>
                    <a:pt x="0" y="10342"/>
                  </a:lnTo>
                  <a:cubicBezTo>
                    <a:pt x="0" y="7599"/>
                    <a:pt x="1090" y="4969"/>
                    <a:pt x="3029" y="3029"/>
                  </a:cubicBezTo>
                  <a:cubicBezTo>
                    <a:pt x="4969" y="1090"/>
                    <a:pt x="7599" y="0"/>
                    <a:pt x="10342" y="0"/>
                  </a:cubicBezTo>
                  <a:close/>
                </a:path>
              </a:pathLst>
            </a:custGeom>
            <a:solidFill>
              <a:srgbClr val="00173D">
                <a:alpha val="66667"/>
              </a:srgbClr>
            </a:solidFill>
            <a:ln cap="sq">
              <a:noFill/>
              <a:prstDash val="solid"/>
              <a:miter/>
            </a:ln>
          </p:spPr>
        </p:sp>
        <p:sp>
          <p:nvSpPr>
            <p:cNvPr name="TextBox 5" id="5"/>
            <p:cNvSpPr txBox="true"/>
            <p:nvPr/>
          </p:nvSpPr>
          <p:spPr>
            <a:xfrm>
              <a:off x="0" y="-47625"/>
              <a:ext cx="5456507" cy="394628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419600" y="1588003"/>
            <a:ext cx="12306012" cy="8698997"/>
          </a:xfrm>
          <a:prstGeom prst="rect">
            <a:avLst/>
          </a:prstGeom>
        </p:spPr>
        <p:txBody>
          <a:bodyPr anchor="t" rtlCol="false" tIns="0" lIns="0" bIns="0" rIns="0">
            <a:spAutoFit/>
          </a:bodyPr>
          <a:lstStyle/>
          <a:p>
            <a:pPr algn="l">
              <a:lnSpc>
                <a:spcPts val="4577"/>
              </a:lnSpc>
            </a:pPr>
            <a:r>
              <a:rPr lang="en-US" sz="3269">
                <a:solidFill>
                  <a:srgbClr val="FFFFFF"/>
                </a:solidFill>
                <a:latin typeface="Zilla Slab"/>
                <a:ea typeface="Zilla Slab"/>
                <a:cs typeface="Zilla Slab"/>
                <a:sym typeface="Zilla Slab"/>
              </a:rPr>
              <a:t>Alınma sözlər Azərbaycan dilində tədricən mənimsənilir və zamanla “yad söz” təsiri azalmağa başlayır.</a:t>
            </a:r>
          </a:p>
          <a:p>
            <a:pPr algn="l">
              <a:lnSpc>
                <a:spcPts val="4577"/>
              </a:lnSpc>
            </a:pPr>
            <a:r>
              <a:rPr lang="en-US" sz="3269">
                <a:solidFill>
                  <a:srgbClr val="FFFFFF"/>
                </a:solidFill>
                <a:latin typeface="Zilla Slab"/>
                <a:ea typeface="Zilla Slab"/>
                <a:cs typeface="Zilla Slab"/>
                <a:sym typeface="Zilla Slab"/>
              </a:rPr>
              <a:t>Bu prosesdə:</a:t>
            </a:r>
          </a:p>
          <a:p>
            <a:pPr algn="l" marL="705951" indent="-352975" lvl="1">
              <a:lnSpc>
                <a:spcPts val="4577"/>
              </a:lnSpc>
              <a:buFont typeface="Arial"/>
              <a:buChar char="•"/>
            </a:pPr>
            <a:r>
              <a:rPr lang="en-US" sz="3269">
                <a:solidFill>
                  <a:srgbClr val="FFFFFF"/>
                </a:solidFill>
                <a:latin typeface="Zilla Slab"/>
                <a:ea typeface="Zilla Slab"/>
                <a:cs typeface="Zilla Slab"/>
                <a:sym typeface="Zilla Slab"/>
              </a:rPr>
              <a:t>Fonetik uyğunlaşma: Alınma sözdəki yad səslərin Azərbaycan dilinin sə</a:t>
            </a:r>
            <a:r>
              <a:rPr lang="en-US" sz="3269">
                <a:solidFill>
                  <a:srgbClr val="FFFFFF"/>
                </a:solidFill>
                <a:latin typeface="Zilla Slab"/>
                <a:ea typeface="Zilla Slab"/>
                <a:cs typeface="Zilla Slab"/>
                <a:sym typeface="Zilla Slab"/>
              </a:rPr>
              <a:t>s sistemi</a:t>
            </a:r>
            <a:r>
              <a:rPr lang="en-US" sz="3269">
                <a:solidFill>
                  <a:srgbClr val="FFFFFF"/>
                </a:solidFill>
                <a:latin typeface="Zilla Slab"/>
                <a:ea typeface="Zilla Slab"/>
                <a:cs typeface="Zilla Slab"/>
                <a:sym typeface="Zilla Slab"/>
              </a:rPr>
              <a:t>nə (ahəng qanunu, dodaqlanma) görə dəyişməsi (məsələn, rus dilindəki "stul" sözünün dilimizdə incə saitli tələffüzə meyl etməsi) əsas mərhələdir.</a:t>
            </a:r>
          </a:p>
          <a:p>
            <a:pPr algn="l" marL="705951" indent="-352975" lvl="1">
              <a:lnSpc>
                <a:spcPts val="4577"/>
              </a:lnSpc>
              <a:buFont typeface="Arial"/>
              <a:buChar char="•"/>
            </a:pPr>
            <a:r>
              <a:rPr lang="en-US" sz="3269">
                <a:solidFill>
                  <a:srgbClr val="FFFFFF"/>
                </a:solidFill>
                <a:latin typeface="Zilla Slab"/>
                <a:ea typeface="Zilla Slab"/>
                <a:cs typeface="Zilla Slab"/>
                <a:sym typeface="Zilla Slab"/>
              </a:rPr>
              <a:t>Morfo</a:t>
            </a:r>
            <a:r>
              <a:rPr lang="en-US" sz="3269">
                <a:solidFill>
                  <a:srgbClr val="FFFFFF"/>
                </a:solidFill>
                <a:latin typeface="Zilla Slab"/>
                <a:ea typeface="Zilla Slab"/>
                <a:cs typeface="Zilla Slab"/>
                <a:sym typeface="Zilla Slab"/>
              </a:rPr>
              <a:t>loji uyğunlaşma</a:t>
            </a:r>
            <a:r>
              <a:rPr lang="en-US" sz="3269">
                <a:solidFill>
                  <a:srgbClr val="FFFFFF"/>
                </a:solidFill>
                <a:latin typeface="Zilla Slab"/>
                <a:ea typeface="Zilla Slab"/>
                <a:cs typeface="Zilla Slab"/>
                <a:sym typeface="Zilla Slab"/>
              </a:rPr>
              <a:t>: Sözün dilimizdəki nitq hissələrinin xüsusiyyətlərini qazanması və şəkilçi qəbul etmə qabiliyyəti (məsələn, "blok" sözünə "–lamaq" şəkilçisi artıraraq feil düzəltmək) əsas mərhələdir.</a:t>
            </a:r>
          </a:p>
          <a:p>
            <a:pPr algn="l" marL="705951" indent="-352975" lvl="1">
              <a:lnSpc>
                <a:spcPts val="4577"/>
              </a:lnSpc>
              <a:buFont typeface="Arial"/>
              <a:buChar char="•"/>
            </a:pPr>
            <a:r>
              <a:rPr lang="en-US" sz="3269">
                <a:solidFill>
                  <a:srgbClr val="FFFFFF"/>
                </a:solidFill>
                <a:latin typeface="Zilla Slab"/>
                <a:ea typeface="Zilla Slab"/>
                <a:cs typeface="Zilla Slab"/>
                <a:sym typeface="Zilla Slab"/>
              </a:rPr>
              <a:t>Qrafik uyğunlaşma</a:t>
            </a:r>
            <a:r>
              <a:rPr lang="en-US" sz="3269">
                <a:solidFill>
                  <a:srgbClr val="FFFFFF"/>
                </a:solidFill>
                <a:latin typeface="Zilla Slab"/>
                <a:ea typeface="Zilla Slab"/>
                <a:cs typeface="Zilla Slab"/>
                <a:sym typeface="Zilla Slab"/>
              </a:rPr>
              <a:t>: Sözün xarici dildəki yazılışından çıxaraq Azərbaycan əlifbasındakı hərflərlə, olduğu kimi və ya fonetik tərkibinə uyğun əks olunması əsas mərhələdir.</a:t>
            </a:r>
          </a:p>
          <a:p>
            <a:pPr algn="l">
              <a:lnSpc>
                <a:spcPts val="4577"/>
              </a:lnSpc>
            </a:pPr>
          </a:p>
        </p:txBody>
      </p:sp>
      <p:sp>
        <p:nvSpPr>
          <p:cNvPr name="Freeform 7" id="7"/>
          <p:cNvSpPr/>
          <p:nvPr/>
        </p:nvSpPr>
        <p:spPr>
          <a:xfrm flipH="false" flipV="false" rot="0">
            <a:off x="12725611" y="1747620"/>
            <a:ext cx="5565636" cy="7986338"/>
          </a:xfrm>
          <a:custGeom>
            <a:avLst/>
            <a:gdLst/>
            <a:ahLst/>
            <a:cxnLst/>
            <a:rect r="r" b="b" t="t" l="l"/>
            <a:pathLst>
              <a:path h="7986338" w="5565636">
                <a:moveTo>
                  <a:pt x="0" y="0"/>
                </a:moveTo>
                <a:lnTo>
                  <a:pt x="5565636" y="0"/>
                </a:lnTo>
                <a:lnTo>
                  <a:pt x="5565636" y="7986338"/>
                </a:lnTo>
                <a:lnTo>
                  <a:pt x="0" y="7986338"/>
                </a:lnTo>
                <a:lnTo>
                  <a:pt x="0" y="0"/>
                </a:lnTo>
                <a:close/>
              </a:path>
            </a:pathLst>
          </a:custGeom>
          <a:blipFill>
            <a:blip r:embed="rId3"/>
            <a:stretch>
              <a:fillRect l="-8968" t="0" r="-34524" b="0"/>
            </a:stretch>
          </a:blipFill>
        </p:spPr>
      </p:sp>
      <p:sp>
        <p:nvSpPr>
          <p:cNvPr name="TextBox 8" id="8"/>
          <p:cNvSpPr txBox="true"/>
          <p:nvPr/>
        </p:nvSpPr>
        <p:spPr>
          <a:xfrm rot="0">
            <a:off x="695228" y="222161"/>
            <a:ext cx="15489157" cy="805952"/>
          </a:xfrm>
          <a:prstGeom prst="rect">
            <a:avLst/>
          </a:prstGeom>
        </p:spPr>
        <p:txBody>
          <a:bodyPr anchor="t" rtlCol="false" tIns="0" lIns="0" bIns="0" rIns="0">
            <a:spAutoFit/>
          </a:bodyPr>
          <a:lstStyle/>
          <a:p>
            <a:pPr algn="just">
              <a:lnSpc>
                <a:spcPts val="6502"/>
              </a:lnSpc>
              <a:spcBef>
                <a:spcPct val="0"/>
              </a:spcBef>
            </a:pPr>
            <a:r>
              <a:rPr lang="en-US" b="true" sz="4644">
                <a:solidFill>
                  <a:srgbClr val="FFFFFF"/>
                </a:solidFill>
                <a:latin typeface="Zilla Slab Bold"/>
                <a:ea typeface="Zilla Slab Bold"/>
                <a:cs typeface="Zilla Slab Bold"/>
                <a:sym typeface="Zilla Slab Bold"/>
              </a:rPr>
              <a:t>Azərbaycan dilində alınmaların mənimsənilmə proses</a:t>
            </a:r>
            <a:r>
              <a:rPr lang="en-US" b="true" sz="4644">
                <a:solidFill>
                  <a:srgbClr val="FFFFFF"/>
                </a:solidFill>
                <a:latin typeface="Zilla Slab Bold"/>
                <a:ea typeface="Zilla Slab Bold"/>
                <a:cs typeface="Zilla Slab Bold"/>
                <a:sym typeface="Zilla Slab Bold"/>
              </a:rPr>
              <a:t>i</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247" y="0"/>
            <a:ext cx="18294494" cy="10287000"/>
          </a:xfrm>
          <a:custGeom>
            <a:avLst/>
            <a:gdLst/>
            <a:ahLst/>
            <a:cxnLst/>
            <a:rect r="r" b="b" t="t" l="l"/>
            <a:pathLst>
              <a:path h="10287000" w="18294494">
                <a:moveTo>
                  <a:pt x="18294494" y="10287000"/>
                </a:moveTo>
                <a:lnTo>
                  <a:pt x="0" y="10287000"/>
                </a:lnTo>
                <a:lnTo>
                  <a:pt x="0" y="0"/>
                </a:lnTo>
                <a:lnTo>
                  <a:pt x="18294494" y="0"/>
                </a:lnTo>
                <a:lnTo>
                  <a:pt x="18294494" y="10287000"/>
                </a:lnTo>
                <a:close/>
              </a:path>
            </a:pathLst>
          </a:custGeom>
          <a:blipFill>
            <a:blip r:embed="rId2"/>
            <a:stretch>
              <a:fillRect l="0" t="0" r="0" b="0"/>
            </a:stretch>
          </a:blipFill>
        </p:spPr>
      </p:sp>
      <p:grpSp>
        <p:nvGrpSpPr>
          <p:cNvPr name="Group 3" id="3"/>
          <p:cNvGrpSpPr/>
          <p:nvPr/>
        </p:nvGrpSpPr>
        <p:grpSpPr>
          <a:xfrm rot="0">
            <a:off x="1686678" y="1221940"/>
            <a:ext cx="14914644" cy="2279059"/>
            <a:chOff x="0" y="0"/>
            <a:chExt cx="6395124" cy="977218"/>
          </a:xfrm>
        </p:grpSpPr>
        <p:sp>
          <p:nvSpPr>
            <p:cNvPr name="Freeform 4" id="4"/>
            <p:cNvSpPr/>
            <p:nvPr/>
          </p:nvSpPr>
          <p:spPr>
            <a:xfrm flipH="false" flipV="false" rot="0">
              <a:off x="0" y="0"/>
              <a:ext cx="6395124" cy="977218"/>
            </a:xfrm>
            <a:custGeom>
              <a:avLst/>
              <a:gdLst/>
              <a:ahLst/>
              <a:cxnLst/>
              <a:rect r="r" b="b" t="t" l="l"/>
              <a:pathLst>
                <a:path h="977218" w="6395124">
                  <a:moveTo>
                    <a:pt x="51908" y="0"/>
                  </a:moveTo>
                  <a:lnTo>
                    <a:pt x="6343216" y="0"/>
                  </a:lnTo>
                  <a:cubicBezTo>
                    <a:pt x="6356983" y="0"/>
                    <a:pt x="6370186" y="5469"/>
                    <a:pt x="6379920" y="15204"/>
                  </a:cubicBezTo>
                  <a:cubicBezTo>
                    <a:pt x="6389655" y="24938"/>
                    <a:pt x="6395124" y="38141"/>
                    <a:pt x="6395124" y="51908"/>
                  </a:cubicBezTo>
                  <a:lnTo>
                    <a:pt x="6395124" y="925310"/>
                  </a:lnTo>
                  <a:cubicBezTo>
                    <a:pt x="6395124" y="939077"/>
                    <a:pt x="6389655" y="952280"/>
                    <a:pt x="6379920" y="962015"/>
                  </a:cubicBezTo>
                  <a:cubicBezTo>
                    <a:pt x="6370186" y="971749"/>
                    <a:pt x="6356983" y="977218"/>
                    <a:pt x="6343216" y="977218"/>
                  </a:cubicBezTo>
                  <a:lnTo>
                    <a:pt x="51908" y="977218"/>
                  </a:lnTo>
                  <a:cubicBezTo>
                    <a:pt x="38141" y="977218"/>
                    <a:pt x="24938" y="971749"/>
                    <a:pt x="15204" y="962015"/>
                  </a:cubicBezTo>
                  <a:cubicBezTo>
                    <a:pt x="5469" y="952280"/>
                    <a:pt x="0" y="939077"/>
                    <a:pt x="0" y="925310"/>
                  </a:cubicBezTo>
                  <a:lnTo>
                    <a:pt x="0" y="51908"/>
                  </a:lnTo>
                  <a:cubicBezTo>
                    <a:pt x="0" y="38141"/>
                    <a:pt x="5469" y="24938"/>
                    <a:pt x="15204" y="15204"/>
                  </a:cubicBezTo>
                  <a:cubicBezTo>
                    <a:pt x="24938" y="5469"/>
                    <a:pt x="38141" y="0"/>
                    <a:pt x="51908" y="0"/>
                  </a:cubicBezTo>
                  <a:close/>
                </a:path>
              </a:pathLst>
            </a:custGeom>
            <a:solidFill>
              <a:srgbClr val="00173D">
                <a:alpha val="66667"/>
              </a:srgbClr>
            </a:solidFill>
            <a:ln cap="rnd">
              <a:noFill/>
              <a:prstDash val="solid"/>
              <a:round/>
            </a:ln>
          </p:spPr>
        </p:sp>
        <p:sp>
          <p:nvSpPr>
            <p:cNvPr name="TextBox 5" id="5"/>
            <p:cNvSpPr txBox="true"/>
            <p:nvPr/>
          </p:nvSpPr>
          <p:spPr>
            <a:xfrm>
              <a:off x="0" y="-47625"/>
              <a:ext cx="6395124" cy="102484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686678" y="3691499"/>
            <a:ext cx="8019731" cy="6315276"/>
            <a:chOff x="0" y="0"/>
            <a:chExt cx="3438712" cy="2707874"/>
          </a:xfrm>
        </p:grpSpPr>
        <p:sp>
          <p:nvSpPr>
            <p:cNvPr name="Freeform 7" id="7"/>
            <p:cNvSpPr/>
            <p:nvPr/>
          </p:nvSpPr>
          <p:spPr>
            <a:xfrm flipH="false" flipV="false" rot="0">
              <a:off x="0" y="0"/>
              <a:ext cx="3438713" cy="2707873"/>
            </a:xfrm>
            <a:custGeom>
              <a:avLst/>
              <a:gdLst/>
              <a:ahLst/>
              <a:cxnLst/>
              <a:rect r="r" b="b" t="t" l="l"/>
              <a:pathLst>
                <a:path h="2707873" w="3438713">
                  <a:moveTo>
                    <a:pt x="54060" y="0"/>
                  </a:moveTo>
                  <a:lnTo>
                    <a:pt x="3384652" y="0"/>
                  </a:lnTo>
                  <a:cubicBezTo>
                    <a:pt x="3398990" y="0"/>
                    <a:pt x="3412741" y="5696"/>
                    <a:pt x="3422879" y="15834"/>
                  </a:cubicBezTo>
                  <a:cubicBezTo>
                    <a:pt x="3433017" y="25972"/>
                    <a:pt x="3438713" y="39722"/>
                    <a:pt x="3438713" y="54060"/>
                  </a:cubicBezTo>
                  <a:lnTo>
                    <a:pt x="3438713" y="2653813"/>
                  </a:lnTo>
                  <a:cubicBezTo>
                    <a:pt x="3438713" y="2668151"/>
                    <a:pt x="3433017" y="2681901"/>
                    <a:pt x="3422879" y="2692040"/>
                  </a:cubicBezTo>
                  <a:cubicBezTo>
                    <a:pt x="3412741" y="2702178"/>
                    <a:pt x="3398990" y="2707873"/>
                    <a:pt x="3384652" y="2707873"/>
                  </a:cubicBezTo>
                  <a:lnTo>
                    <a:pt x="54060" y="2707873"/>
                  </a:lnTo>
                  <a:cubicBezTo>
                    <a:pt x="39722" y="2707873"/>
                    <a:pt x="25972" y="2702178"/>
                    <a:pt x="15834" y="2692040"/>
                  </a:cubicBezTo>
                  <a:cubicBezTo>
                    <a:pt x="5696" y="2681901"/>
                    <a:pt x="0" y="2668151"/>
                    <a:pt x="0" y="2653813"/>
                  </a:cubicBezTo>
                  <a:lnTo>
                    <a:pt x="0" y="54060"/>
                  </a:lnTo>
                  <a:cubicBezTo>
                    <a:pt x="0" y="39722"/>
                    <a:pt x="5696" y="25972"/>
                    <a:pt x="15834" y="15834"/>
                  </a:cubicBezTo>
                  <a:cubicBezTo>
                    <a:pt x="25972" y="5696"/>
                    <a:pt x="39722" y="0"/>
                    <a:pt x="54060" y="0"/>
                  </a:cubicBezTo>
                  <a:close/>
                </a:path>
              </a:pathLst>
            </a:custGeom>
            <a:solidFill>
              <a:srgbClr val="00173D">
                <a:alpha val="66667"/>
              </a:srgbClr>
            </a:solidFill>
            <a:ln cap="rnd">
              <a:noFill/>
              <a:prstDash val="solid"/>
              <a:round/>
            </a:ln>
          </p:spPr>
        </p:sp>
        <p:sp>
          <p:nvSpPr>
            <p:cNvPr name="TextBox 8" id="8"/>
            <p:cNvSpPr txBox="true"/>
            <p:nvPr/>
          </p:nvSpPr>
          <p:spPr>
            <a:xfrm>
              <a:off x="0" y="-47625"/>
              <a:ext cx="3438712" cy="2755499"/>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935040" y="3691499"/>
            <a:ext cx="5700123" cy="2560127"/>
            <a:chOff x="0" y="0"/>
            <a:chExt cx="2403194" cy="1079359"/>
          </a:xfrm>
        </p:grpSpPr>
        <p:sp>
          <p:nvSpPr>
            <p:cNvPr name="Freeform 10" id="10"/>
            <p:cNvSpPr/>
            <p:nvPr/>
          </p:nvSpPr>
          <p:spPr>
            <a:xfrm flipH="false" flipV="false" rot="0">
              <a:off x="0" y="0"/>
              <a:ext cx="2403194" cy="1079360"/>
            </a:xfrm>
            <a:custGeom>
              <a:avLst/>
              <a:gdLst/>
              <a:ahLst/>
              <a:cxnLst/>
              <a:rect r="r" b="b" t="t" l="l"/>
              <a:pathLst>
                <a:path h="1079360" w="2403194">
                  <a:moveTo>
                    <a:pt x="74701" y="0"/>
                  </a:moveTo>
                  <a:lnTo>
                    <a:pt x="2328493" y="0"/>
                  </a:lnTo>
                  <a:cubicBezTo>
                    <a:pt x="2369749" y="0"/>
                    <a:pt x="2403194" y="33445"/>
                    <a:pt x="2403194" y="74701"/>
                  </a:cubicBezTo>
                  <a:lnTo>
                    <a:pt x="2403194" y="1004658"/>
                  </a:lnTo>
                  <a:cubicBezTo>
                    <a:pt x="2403194" y="1024470"/>
                    <a:pt x="2395324" y="1043471"/>
                    <a:pt x="2381315" y="1057480"/>
                  </a:cubicBezTo>
                  <a:cubicBezTo>
                    <a:pt x="2367306" y="1071489"/>
                    <a:pt x="2348305" y="1079360"/>
                    <a:pt x="2328493" y="1079360"/>
                  </a:cubicBezTo>
                  <a:lnTo>
                    <a:pt x="74701" y="1079360"/>
                  </a:lnTo>
                  <a:cubicBezTo>
                    <a:pt x="54889" y="1079360"/>
                    <a:pt x="35889" y="1071489"/>
                    <a:pt x="21879" y="1057480"/>
                  </a:cubicBezTo>
                  <a:cubicBezTo>
                    <a:pt x="7870" y="1043471"/>
                    <a:pt x="0" y="1024470"/>
                    <a:pt x="0" y="1004658"/>
                  </a:cubicBezTo>
                  <a:lnTo>
                    <a:pt x="0" y="74701"/>
                  </a:lnTo>
                  <a:cubicBezTo>
                    <a:pt x="0" y="54889"/>
                    <a:pt x="7870" y="35889"/>
                    <a:pt x="21879" y="21879"/>
                  </a:cubicBezTo>
                  <a:cubicBezTo>
                    <a:pt x="35889" y="7870"/>
                    <a:pt x="54889" y="0"/>
                    <a:pt x="74701" y="0"/>
                  </a:cubicBezTo>
                  <a:close/>
                </a:path>
              </a:pathLst>
            </a:custGeom>
            <a:solidFill>
              <a:srgbClr val="00173D">
                <a:alpha val="66667"/>
              </a:srgbClr>
            </a:solidFill>
            <a:ln cap="rnd">
              <a:noFill/>
              <a:prstDash val="solid"/>
              <a:round/>
            </a:ln>
          </p:spPr>
        </p:sp>
        <p:sp>
          <p:nvSpPr>
            <p:cNvPr name="TextBox 11" id="11"/>
            <p:cNvSpPr txBox="true"/>
            <p:nvPr/>
          </p:nvSpPr>
          <p:spPr>
            <a:xfrm>
              <a:off x="0" y="-47625"/>
              <a:ext cx="2403194" cy="1126984"/>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0126419" y="6442126"/>
            <a:ext cx="5317365" cy="3540308"/>
          </a:xfrm>
          <a:custGeom>
            <a:avLst/>
            <a:gdLst/>
            <a:ahLst/>
            <a:cxnLst/>
            <a:rect r="r" b="b" t="t" l="l"/>
            <a:pathLst>
              <a:path h="3540308" w="5317365">
                <a:moveTo>
                  <a:pt x="0" y="0"/>
                </a:moveTo>
                <a:lnTo>
                  <a:pt x="5317365" y="0"/>
                </a:lnTo>
                <a:lnTo>
                  <a:pt x="5317365" y="3540308"/>
                </a:lnTo>
                <a:lnTo>
                  <a:pt x="0" y="3540308"/>
                </a:lnTo>
                <a:lnTo>
                  <a:pt x="0" y="0"/>
                </a:lnTo>
                <a:close/>
              </a:path>
            </a:pathLst>
          </a:custGeom>
          <a:blipFill>
            <a:blip r:embed="rId3"/>
            <a:stretch>
              <a:fillRect l="0" t="-92383" r="-1224" b="-24644"/>
            </a:stretch>
          </a:blipFill>
        </p:spPr>
      </p:sp>
      <p:sp>
        <p:nvSpPr>
          <p:cNvPr name="TextBox 13" id="13"/>
          <p:cNvSpPr txBox="true"/>
          <p:nvPr/>
        </p:nvSpPr>
        <p:spPr>
          <a:xfrm rot="0">
            <a:off x="2060655" y="1464784"/>
            <a:ext cx="14283902" cy="1616030"/>
          </a:xfrm>
          <a:prstGeom prst="rect">
            <a:avLst/>
          </a:prstGeom>
        </p:spPr>
        <p:txBody>
          <a:bodyPr anchor="t" rtlCol="false" tIns="0" lIns="0" bIns="0" rIns="0">
            <a:spAutoFit/>
          </a:bodyPr>
          <a:lstStyle/>
          <a:p>
            <a:pPr algn="just">
              <a:lnSpc>
                <a:spcPts val="4272"/>
              </a:lnSpc>
            </a:pPr>
            <a:r>
              <a:rPr lang="en-US" sz="3051">
                <a:solidFill>
                  <a:srgbClr val="FFFFFF"/>
                </a:solidFill>
                <a:latin typeface="Zilla Slab"/>
                <a:ea typeface="Zilla Slab"/>
                <a:cs typeface="Zilla Slab"/>
                <a:sym typeface="Zilla Slab"/>
              </a:rPr>
              <a:t>Paralel leksika eyni anlayışı bildirən bir neçə sözün yanaşı işlənməsi deməkdir.</a:t>
            </a:r>
          </a:p>
          <a:p>
            <a:pPr algn="just">
              <a:lnSpc>
                <a:spcPts val="4272"/>
              </a:lnSpc>
            </a:pPr>
            <a:r>
              <a:rPr lang="en-US" sz="3051">
                <a:solidFill>
                  <a:srgbClr val="FFFFFF"/>
                </a:solidFill>
                <a:latin typeface="Zilla Slab"/>
                <a:ea typeface="Zilla Slab"/>
                <a:cs typeface="Zilla Slab"/>
                <a:sym typeface="Zilla Slab"/>
              </a:rPr>
              <a:t>Azərbayca</a:t>
            </a:r>
            <a:r>
              <a:rPr lang="en-US" sz="3051">
                <a:solidFill>
                  <a:srgbClr val="FFFFFF"/>
                </a:solidFill>
                <a:latin typeface="Zilla Slab"/>
                <a:ea typeface="Zilla Slab"/>
                <a:cs typeface="Zilla Slab"/>
                <a:sym typeface="Zilla Slab"/>
              </a:rPr>
              <a:t>n ədəbi dili haqqında mənbədə belə söz qruplarının mövcud old</a:t>
            </a:r>
            <a:r>
              <a:rPr lang="en-US" sz="3051">
                <a:solidFill>
                  <a:srgbClr val="FFFFFF"/>
                </a:solidFill>
                <a:latin typeface="Zilla Slab"/>
                <a:ea typeface="Zilla Slab"/>
                <a:cs typeface="Zilla Slab"/>
                <a:sym typeface="Zilla Slab"/>
              </a:rPr>
              <a:t>uğu</a:t>
            </a:r>
            <a:r>
              <a:rPr lang="en-US" sz="3051">
                <a:solidFill>
                  <a:srgbClr val="FFFFFF"/>
                </a:solidFill>
                <a:latin typeface="Zilla Slab"/>
                <a:ea typeface="Zilla Slab"/>
                <a:cs typeface="Zilla Slab"/>
                <a:sym typeface="Zilla Slab"/>
              </a:rPr>
              <a:t> və bəzən eynimənalı vahidlər kimi verildiyi qeyd olunur.</a:t>
            </a:r>
          </a:p>
        </p:txBody>
      </p:sp>
      <p:sp>
        <p:nvSpPr>
          <p:cNvPr name="TextBox 14" id="14"/>
          <p:cNvSpPr txBox="true"/>
          <p:nvPr/>
        </p:nvSpPr>
        <p:spPr>
          <a:xfrm rot="0">
            <a:off x="6383684" y="222748"/>
            <a:ext cx="5978910" cy="805952"/>
          </a:xfrm>
          <a:prstGeom prst="rect">
            <a:avLst/>
          </a:prstGeom>
        </p:spPr>
        <p:txBody>
          <a:bodyPr anchor="t" rtlCol="false" tIns="0" lIns="0" bIns="0" rIns="0">
            <a:spAutoFit/>
          </a:bodyPr>
          <a:lstStyle/>
          <a:p>
            <a:pPr algn="ctr">
              <a:lnSpc>
                <a:spcPts val="6502"/>
              </a:lnSpc>
              <a:spcBef>
                <a:spcPct val="0"/>
              </a:spcBef>
            </a:pPr>
            <a:r>
              <a:rPr lang="en-US" b="true" sz="4644">
                <a:solidFill>
                  <a:srgbClr val="FFFFFF"/>
                </a:solidFill>
                <a:latin typeface="Zilla Slab Bold"/>
                <a:ea typeface="Zilla Slab Bold"/>
                <a:cs typeface="Zilla Slab Bold"/>
                <a:sym typeface="Zilla Slab Bold"/>
              </a:rPr>
              <a:t>Dildə paralel leks</a:t>
            </a:r>
            <a:r>
              <a:rPr lang="en-US" b="true" sz="4644">
                <a:solidFill>
                  <a:srgbClr val="FFFFFF"/>
                </a:solidFill>
                <a:latin typeface="Zilla Slab Bold"/>
                <a:ea typeface="Zilla Slab Bold"/>
                <a:cs typeface="Zilla Slab Bold"/>
                <a:sym typeface="Zilla Slab Bold"/>
              </a:rPr>
              <a:t>ika</a:t>
            </a:r>
          </a:p>
        </p:txBody>
      </p:sp>
      <p:sp>
        <p:nvSpPr>
          <p:cNvPr name="TextBox 15" id="15"/>
          <p:cNvSpPr txBox="true"/>
          <p:nvPr/>
        </p:nvSpPr>
        <p:spPr>
          <a:xfrm rot="0">
            <a:off x="1939062" y="3939149"/>
            <a:ext cx="7514963" cy="5733563"/>
          </a:xfrm>
          <a:prstGeom prst="rect">
            <a:avLst/>
          </a:prstGeom>
        </p:spPr>
        <p:txBody>
          <a:bodyPr anchor="t" rtlCol="false" tIns="0" lIns="0" bIns="0" rIns="0">
            <a:spAutoFit/>
          </a:bodyPr>
          <a:lstStyle/>
          <a:p>
            <a:pPr algn="l">
              <a:lnSpc>
                <a:spcPts val="4150"/>
              </a:lnSpc>
            </a:pPr>
            <a:r>
              <a:rPr lang="en-US" sz="2964">
                <a:solidFill>
                  <a:srgbClr val="FFFFFF"/>
                </a:solidFill>
                <a:latin typeface="Zilla Slab"/>
                <a:ea typeface="Zilla Slab"/>
                <a:cs typeface="Zilla Slab"/>
                <a:sym typeface="Zilla Slab"/>
              </a:rPr>
              <a:t>Paralel leksikaya nümunələr:</a:t>
            </a:r>
          </a:p>
          <a:p>
            <a:pPr algn="l" marL="640080" indent="-320040" lvl="1">
              <a:lnSpc>
                <a:spcPts val="4150"/>
              </a:lnSpc>
              <a:buFont typeface="Arial"/>
              <a:buChar char="•"/>
            </a:pPr>
            <a:r>
              <a:rPr lang="en-US" sz="2964">
                <a:solidFill>
                  <a:srgbClr val="FFFFFF"/>
                </a:solidFill>
                <a:latin typeface="Zilla Slab"/>
                <a:ea typeface="Zilla Slab"/>
                <a:cs typeface="Zilla Slab"/>
                <a:sym typeface="Zilla Slab"/>
              </a:rPr>
              <a:t>internet / qlobal şəbəkə</a:t>
            </a:r>
          </a:p>
          <a:p>
            <a:pPr algn="l" marL="640080" indent="-320040" lvl="1">
              <a:lnSpc>
                <a:spcPts val="4150"/>
              </a:lnSpc>
              <a:buFont typeface="Arial"/>
              <a:buChar char="•"/>
            </a:pPr>
            <a:r>
              <a:rPr lang="en-US" sz="2964">
                <a:solidFill>
                  <a:srgbClr val="FFFFFF"/>
                </a:solidFill>
                <a:latin typeface="Zilla Slab"/>
                <a:ea typeface="Zilla Slab"/>
                <a:cs typeface="Zilla Slab"/>
                <a:sym typeface="Zilla Slab"/>
              </a:rPr>
              <a:t>mobil / əl telefonu</a:t>
            </a:r>
          </a:p>
          <a:p>
            <a:pPr algn="l" marL="640080" indent="-320040" lvl="1">
              <a:lnSpc>
                <a:spcPts val="4150"/>
              </a:lnSpc>
              <a:buFont typeface="Arial"/>
              <a:buChar char="•"/>
            </a:pPr>
            <a:r>
              <a:rPr lang="en-US" sz="2964">
                <a:solidFill>
                  <a:srgbClr val="FFFFFF"/>
                </a:solidFill>
                <a:latin typeface="Zilla Slab"/>
                <a:ea typeface="Zilla Slab"/>
                <a:cs typeface="Zilla Slab"/>
                <a:sym typeface="Zilla Slab"/>
              </a:rPr>
              <a:t>mesaj / ismarıc</a:t>
            </a:r>
          </a:p>
          <a:p>
            <a:pPr algn="l" marL="640080" indent="-320040" lvl="1">
              <a:lnSpc>
                <a:spcPts val="4150"/>
              </a:lnSpc>
              <a:buFont typeface="Arial"/>
              <a:buChar char="•"/>
            </a:pPr>
            <a:r>
              <a:rPr lang="en-US" sz="2964">
                <a:solidFill>
                  <a:srgbClr val="FFFFFF"/>
                </a:solidFill>
                <a:latin typeface="Zilla Slab"/>
                <a:ea typeface="Zilla Slab"/>
                <a:cs typeface="Zilla Slab"/>
                <a:sym typeface="Zilla Slab"/>
              </a:rPr>
              <a:t>lider / başçı</a:t>
            </a:r>
          </a:p>
          <a:p>
            <a:pPr algn="l" marL="640080" indent="-320040" lvl="1">
              <a:lnSpc>
                <a:spcPts val="4150"/>
              </a:lnSpc>
              <a:buFont typeface="Arial"/>
              <a:buChar char="•"/>
            </a:pPr>
            <a:r>
              <a:rPr lang="en-US" sz="2964">
                <a:solidFill>
                  <a:srgbClr val="FFFFFF"/>
                </a:solidFill>
                <a:latin typeface="Zilla Slab"/>
                <a:ea typeface="Zilla Slab"/>
                <a:cs typeface="Zilla Slab"/>
                <a:sym typeface="Zilla Slab"/>
              </a:rPr>
              <a:t>brifinq /</a:t>
            </a:r>
            <a:r>
              <a:rPr lang="en-US" sz="2964">
                <a:solidFill>
                  <a:srgbClr val="FFFFFF"/>
                </a:solidFill>
                <a:latin typeface="Zilla Slab"/>
                <a:ea typeface="Zilla Slab"/>
                <a:cs typeface="Zilla Slab"/>
                <a:sym typeface="Zilla Slab"/>
              </a:rPr>
              <a:t> mətbuat topla</a:t>
            </a:r>
            <a:r>
              <a:rPr lang="en-US" sz="2964">
                <a:solidFill>
                  <a:srgbClr val="FFFFFF"/>
                </a:solidFill>
                <a:latin typeface="Zilla Slab"/>
                <a:ea typeface="Zilla Slab"/>
                <a:cs typeface="Zilla Slab"/>
                <a:sym typeface="Zilla Slab"/>
              </a:rPr>
              <a:t>ntısı</a:t>
            </a:r>
          </a:p>
          <a:p>
            <a:pPr algn="l" marL="640080" indent="-320040" lvl="1">
              <a:lnSpc>
                <a:spcPts val="4150"/>
              </a:lnSpc>
              <a:buFont typeface="Arial"/>
              <a:buChar char="•"/>
            </a:pPr>
            <a:r>
              <a:rPr lang="en-US" sz="2964">
                <a:solidFill>
                  <a:srgbClr val="FFFFFF"/>
                </a:solidFill>
                <a:latin typeface="Zilla Slab"/>
                <a:ea typeface="Zilla Slab"/>
                <a:cs typeface="Zilla Slab"/>
                <a:sym typeface="Zilla Slab"/>
              </a:rPr>
              <a:t>proqram / tətbiq</a:t>
            </a:r>
          </a:p>
          <a:p>
            <a:pPr algn="l" marL="640080" indent="-320040" lvl="1">
              <a:lnSpc>
                <a:spcPts val="4150"/>
              </a:lnSpc>
              <a:buFont typeface="Arial"/>
              <a:buChar char="•"/>
            </a:pPr>
            <a:r>
              <a:rPr lang="en-US" sz="2964">
                <a:solidFill>
                  <a:srgbClr val="FFFFFF"/>
                </a:solidFill>
                <a:latin typeface="Zilla Slab"/>
                <a:ea typeface="Zilla Slab"/>
                <a:cs typeface="Zilla Slab"/>
                <a:sym typeface="Zilla Slab"/>
              </a:rPr>
              <a:t>sponsor / himayədar</a:t>
            </a:r>
          </a:p>
          <a:p>
            <a:pPr algn="l">
              <a:lnSpc>
                <a:spcPts val="4150"/>
              </a:lnSpc>
            </a:pPr>
            <a:r>
              <a:rPr lang="en-US" sz="2964">
                <a:solidFill>
                  <a:srgbClr val="FFFFFF"/>
                </a:solidFill>
                <a:latin typeface="Zilla Slab"/>
                <a:ea typeface="Zilla Slab"/>
                <a:cs typeface="Zilla Slab"/>
                <a:sym typeface="Zilla Slab"/>
              </a:rPr>
              <a:t>Normalaşdırma prosesi bu cür paralel formalar arasında ədəbi dil üçün ən münasib variantın seçilməsini tələb edir.</a:t>
            </a:r>
          </a:p>
        </p:txBody>
      </p:sp>
      <p:sp>
        <p:nvSpPr>
          <p:cNvPr name="TextBox 16" id="16"/>
          <p:cNvSpPr txBox="true"/>
          <p:nvPr/>
        </p:nvSpPr>
        <p:spPr>
          <a:xfrm rot="0">
            <a:off x="10251633" y="3881371"/>
            <a:ext cx="5383531" cy="2113708"/>
          </a:xfrm>
          <a:prstGeom prst="rect">
            <a:avLst/>
          </a:prstGeom>
        </p:spPr>
        <p:txBody>
          <a:bodyPr anchor="t" rtlCol="false" tIns="0" lIns="0" bIns="0" rIns="0">
            <a:spAutoFit/>
          </a:bodyPr>
          <a:lstStyle/>
          <a:p>
            <a:pPr algn="l">
              <a:lnSpc>
                <a:spcPts val="4221"/>
              </a:lnSpc>
            </a:pPr>
            <a:r>
              <a:rPr lang="en-US" sz="3015">
                <a:solidFill>
                  <a:srgbClr val="FFFFFF"/>
                </a:solidFill>
                <a:latin typeface="Zilla Slab"/>
                <a:ea typeface="Zilla Slab"/>
                <a:cs typeface="Zilla Slab"/>
                <a:sym typeface="Zilla Slab"/>
              </a:rPr>
              <a:t>Normalaşdırma prosesi bu cür paralel formalar arasında ədəbi dil üçün ən münasib variantın seçilməsini tələb edir.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247" y="0"/>
            <a:ext cx="18294494" cy="10287000"/>
          </a:xfrm>
          <a:custGeom>
            <a:avLst/>
            <a:gdLst/>
            <a:ahLst/>
            <a:cxnLst/>
            <a:rect r="r" b="b" t="t" l="l"/>
            <a:pathLst>
              <a:path h="10287000" w="18294494">
                <a:moveTo>
                  <a:pt x="18294494" y="10287000"/>
                </a:moveTo>
                <a:lnTo>
                  <a:pt x="0" y="10287000"/>
                </a:lnTo>
                <a:lnTo>
                  <a:pt x="0" y="0"/>
                </a:lnTo>
                <a:lnTo>
                  <a:pt x="18294494" y="0"/>
                </a:lnTo>
                <a:lnTo>
                  <a:pt x="18294494" y="10287000"/>
                </a:lnTo>
                <a:close/>
              </a:path>
            </a:pathLst>
          </a:custGeom>
          <a:blipFill>
            <a:blip r:embed="rId2"/>
            <a:stretch>
              <a:fillRect l="0" t="0" r="0" b="0"/>
            </a:stretch>
          </a:blipFill>
        </p:spPr>
      </p:sp>
      <p:grpSp>
        <p:nvGrpSpPr>
          <p:cNvPr name="Group 3" id="3"/>
          <p:cNvGrpSpPr/>
          <p:nvPr/>
        </p:nvGrpSpPr>
        <p:grpSpPr>
          <a:xfrm rot="0">
            <a:off x="1686678" y="1221940"/>
            <a:ext cx="14914644" cy="6617740"/>
            <a:chOff x="0" y="0"/>
            <a:chExt cx="6395124" cy="2837565"/>
          </a:xfrm>
        </p:grpSpPr>
        <p:sp>
          <p:nvSpPr>
            <p:cNvPr name="Freeform 4" id="4"/>
            <p:cNvSpPr/>
            <p:nvPr/>
          </p:nvSpPr>
          <p:spPr>
            <a:xfrm flipH="false" flipV="false" rot="0">
              <a:off x="0" y="0"/>
              <a:ext cx="6395124" cy="2837565"/>
            </a:xfrm>
            <a:custGeom>
              <a:avLst/>
              <a:gdLst/>
              <a:ahLst/>
              <a:cxnLst/>
              <a:rect r="r" b="b" t="t" l="l"/>
              <a:pathLst>
                <a:path h="2837565" w="6395124">
                  <a:moveTo>
                    <a:pt x="51908" y="0"/>
                  </a:moveTo>
                  <a:lnTo>
                    <a:pt x="6343216" y="0"/>
                  </a:lnTo>
                  <a:cubicBezTo>
                    <a:pt x="6356983" y="0"/>
                    <a:pt x="6370186" y="5469"/>
                    <a:pt x="6379920" y="15204"/>
                  </a:cubicBezTo>
                  <a:cubicBezTo>
                    <a:pt x="6389655" y="24938"/>
                    <a:pt x="6395124" y="38141"/>
                    <a:pt x="6395124" y="51908"/>
                  </a:cubicBezTo>
                  <a:lnTo>
                    <a:pt x="6395124" y="2785657"/>
                  </a:lnTo>
                  <a:cubicBezTo>
                    <a:pt x="6395124" y="2799424"/>
                    <a:pt x="6389655" y="2812627"/>
                    <a:pt x="6379920" y="2822361"/>
                  </a:cubicBezTo>
                  <a:cubicBezTo>
                    <a:pt x="6370186" y="2832096"/>
                    <a:pt x="6356983" y="2837565"/>
                    <a:pt x="6343216" y="2837565"/>
                  </a:cubicBezTo>
                  <a:lnTo>
                    <a:pt x="51908" y="2837565"/>
                  </a:lnTo>
                  <a:cubicBezTo>
                    <a:pt x="38141" y="2837565"/>
                    <a:pt x="24938" y="2832096"/>
                    <a:pt x="15204" y="2822361"/>
                  </a:cubicBezTo>
                  <a:cubicBezTo>
                    <a:pt x="5469" y="2812627"/>
                    <a:pt x="0" y="2799424"/>
                    <a:pt x="0" y="2785657"/>
                  </a:cubicBezTo>
                  <a:lnTo>
                    <a:pt x="0" y="51908"/>
                  </a:lnTo>
                  <a:cubicBezTo>
                    <a:pt x="0" y="38141"/>
                    <a:pt x="5469" y="24938"/>
                    <a:pt x="15204" y="15204"/>
                  </a:cubicBezTo>
                  <a:cubicBezTo>
                    <a:pt x="24938" y="5469"/>
                    <a:pt x="38141" y="0"/>
                    <a:pt x="51908" y="0"/>
                  </a:cubicBezTo>
                  <a:close/>
                </a:path>
              </a:pathLst>
            </a:custGeom>
            <a:solidFill>
              <a:srgbClr val="00173D">
                <a:alpha val="66667"/>
              </a:srgbClr>
            </a:solidFill>
            <a:ln cap="rnd">
              <a:noFill/>
              <a:prstDash val="solid"/>
              <a:round/>
            </a:ln>
          </p:spPr>
        </p:sp>
        <p:sp>
          <p:nvSpPr>
            <p:cNvPr name="TextBox 5" id="5"/>
            <p:cNvSpPr txBox="true"/>
            <p:nvPr/>
          </p:nvSpPr>
          <p:spPr>
            <a:xfrm>
              <a:off x="0" y="-47625"/>
              <a:ext cx="6395124" cy="288519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060655" y="1464784"/>
            <a:ext cx="14166689" cy="6374897"/>
          </a:xfrm>
          <a:prstGeom prst="rect">
            <a:avLst/>
          </a:prstGeom>
        </p:spPr>
        <p:txBody>
          <a:bodyPr anchor="t" rtlCol="false" tIns="0" lIns="0" bIns="0" rIns="0">
            <a:spAutoFit/>
          </a:bodyPr>
          <a:lstStyle/>
          <a:p>
            <a:pPr algn="l">
              <a:lnSpc>
                <a:spcPts val="4577"/>
              </a:lnSpc>
            </a:pPr>
            <a:r>
              <a:rPr lang="en-US" sz="3269">
                <a:solidFill>
                  <a:srgbClr val="FFFFFF"/>
                </a:solidFill>
                <a:latin typeface="Zilla Slab"/>
                <a:ea typeface="Zilla Slab"/>
                <a:cs typeface="Zilla Slab"/>
                <a:sym typeface="Zilla Slab"/>
              </a:rPr>
              <a:t>Azərbaycan mənbələrinə görə, neologizmlər dilin inkişafında əsas yeniləşmə mexanizmlərindən biridir və yeni anlayışları adlandırmaqla lüğət tərkibini zənginləşdirir.</a:t>
            </a:r>
          </a:p>
          <a:p>
            <a:pPr algn="l">
              <a:lnSpc>
                <a:spcPts val="4577"/>
              </a:lnSpc>
            </a:pPr>
            <a:r>
              <a:rPr lang="en-US" sz="3269">
                <a:solidFill>
                  <a:srgbClr val="FFFFFF"/>
                </a:solidFill>
                <a:latin typeface="Zilla Slab"/>
                <a:ea typeface="Zilla Slab"/>
                <a:cs typeface="Zilla Slab"/>
                <a:sym typeface="Zilla Slab"/>
              </a:rPr>
              <a:t> Onlar:</a:t>
            </a:r>
          </a:p>
          <a:p>
            <a:pPr algn="l" marL="705951" indent="-352975" lvl="1">
              <a:lnSpc>
                <a:spcPts val="4577"/>
              </a:lnSpc>
              <a:buFont typeface="Arial"/>
              <a:buChar char="•"/>
            </a:pPr>
            <a:r>
              <a:rPr lang="en-US" sz="3269">
                <a:solidFill>
                  <a:srgbClr val="FFFFFF"/>
                </a:solidFill>
                <a:latin typeface="Zilla Slab"/>
                <a:ea typeface="Zilla Slab"/>
                <a:cs typeface="Zilla Slab"/>
                <a:sym typeface="Zilla Slab"/>
              </a:rPr>
              <a:t>texnologiya,</a:t>
            </a:r>
          </a:p>
          <a:p>
            <a:pPr algn="l" marL="705951" indent="-352975" lvl="1">
              <a:lnSpc>
                <a:spcPts val="4577"/>
              </a:lnSpc>
              <a:buFont typeface="Arial"/>
              <a:buChar char="•"/>
            </a:pPr>
            <a:r>
              <a:rPr lang="en-US" sz="3269">
                <a:solidFill>
                  <a:srgbClr val="FFFFFF"/>
                </a:solidFill>
                <a:latin typeface="Zilla Slab"/>
                <a:ea typeface="Zilla Slab"/>
                <a:cs typeface="Zilla Slab"/>
                <a:sym typeface="Zilla Slab"/>
              </a:rPr>
              <a:t>sosial-siyasi</a:t>
            </a:r>
            <a:r>
              <a:rPr lang="en-US" sz="3269">
                <a:solidFill>
                  <a:srgbClr val="FFFFFF"/>
                </a:solidFill>
                <a:latin typeface="Zilla Slab"/>
                <a:ea typeface="Zilla Slab"/>
                <a:cs typeface="Zilla Slab"/>
                <a:sym typeface="Zilla Slab"/>
              </a:rPr>
              <a:t> dəyişikliklər,</a:t>
            </a:r>
          </a:p>
          <a:p>
            <a:pPr algn="l" marL="705951" indent="-352975" lvl="1">
              <a:lnSpc>
                <a:spcPts val="4577"/>
              </a:lnSpc>
              <a:buFont typeface="Arial"/>
              <a:buChar char="•"/>
            </a:pPr>
            <a:r>
              <a:rPr lang="en-US" sz="3269">
                <a:solidFill>
                  <a:srgbClr val="FFFFFF"/>
                </a:solidFill>
                <a:latin typeface="Zilla Slab"/>
                <a:ea typeface="Zilla Slab"/>
                <a:cs typeface="Zilla Slab"/>
                <a:sym typeface="Zilla Slab"/>
              </a:rPr>
              <a:t>mədəni həyat</a:t>
            </a:r>
          </a:p>
          <a:p>
            <a:pPr algn="l">
              <a:lnSpc>
                <a:spcPts val="4577"/>
              </a:lnSpc>
            </a:pPr>
            <a:r>
              <a:rPr lang="en-US" sz="3269">
                <a:solidFill>
                  <a:srgbClr val="FFFFFF"/>
                </a:solidFill>
                <a:latin typeface="Zilla Slab"/>
                <a:ea typeface="Zilla Slab"/>
                <a:cs typeface="Zilla Slab"/>
                <a:sym typeface="Zilla Slab"/>
              </a:rPr>
              <a:t>ilə sıx bağlıdır.</a:t>
            </a:r>
          </a:p>
          <a:p>
            <a:pPr algn="l">
              <a:lnSpc>
                <a:spcPts val="4577"/>
              </a:lnSpc>
            </a:pPr>
            <a:r>
              <a:rPr lang="en-US" sz="3269">
                <a:solidFill>
                  <a:srgbClr val="FFFFFF"/>
                </a:solidFill>
                <a:latin typeface="Zilla Slab"/>
                <a:ea typeface="Zilla Slab"/>
                <a:cs typeface="Zilla Slab"/>
                <a:sym typeface="Zilla Slab"/>
              </a:rPr>
              <a:t>Alınmaların mənimsənilməsi və paralel leksikanın normalaşdırılması isə ədəbi dilin sabitliyi üçün vacibdir.</a:t>
            </a:r>
          </a:p>
          <a:p>
            <a:pPr algn="ctr">
              <a:lnSpc>
                <a:spcPts val="4577"/>
              </a:lnSpc>
            </a:pPr>
          </a:p>
        </p:txBody>
      </p:sp>
      <p:sp>
        <p:nvSpPr>
          <p:cNvPr name="TextBox 7" id="7"/>
          <p:cNvSpPr txBox="true"/>
          <p:nvPr/>
        </p:nvSpPr>
        <p:spPr>
          <a:xfrm rot="0">
            <a:off x="6383684" y="222748"/>
            <a:ext cx="5520633" cy="805952"/>
          </a:xfrm>
          <a:prstGeom prst="rect">
            <a:avLst/>
          </a:prstGeom>
        </p:spPr>
        <p:txBody>
          <a:bodyPr anchor="t" rtlCol="false" tIns="0" lIns="0" bIns="0" rIns="0">
            <a:spAutoFit/>
          </a:bodyPr>
          <a:lstStyle/>
          <a:p>
            <a:pPr algn="ctr">
              <a:lnSpc>
                <a:spcPts val="6502"/>
              </a:lnSpc>
              <a:spcBef>
                <a:spcPct val="0"/>
              </a:spcBef>
            </a:pPr>
            <a:r>
              <a:rPr lang="en-US" b="true" sz="4644">
                <a:solidFill>
                  <a:srgbClr val="FFFFFF"/>
                </a:solidFill>
                <a:latin typeface="Zilla Slab Bold"/>
                <a:ea typeface="Zilla Slab Bold"/>
                <a:cs typeface="Zilla Slab Bold"/>
                <a:sym typeface="Zilla Slab Bold"/>
              </a:rPr>
              <a:t>Ümumiləşd</a:t>
            </a:r>
            <a:r>
              <a:rPr lang="en-US" b="true" sz="4644">
                <a:solidFill>
                  <a:srgbClr val="FFFFFF"/>
                </a:solidFill>
                <a:latin typeface="Zilla Slab Bold"/>
                <a:ea typeface="Zilla Slab Bold"/>
                <a:cs typeface="Zilla Slab Bold"/>
                <a:sym typeface="Zilla Slab Bold"/>
              </a:rPr>
              <a:t>irmə</a:t>
            </a:r>
          </a:p>
        </p:txBody>
      </p:sp>
      <p:grpSp>
        <p:nvGrpSpPr>
          <p:cNvPr name="Group 8" id="8"/>
          <p:cNvGrpSpPr/>
          <p:nvPr/>
        </p:nvGrpSpPr>
        <p:grpSpPr>
          <a:xfrm rot="0">
            <a:off x="-3247" y="8261747"/>
            <a:ext cx="18291247" cy="2025253"/>
            <a:chOff x="0" y="0"/>
            <a:chExt cx="4817448" cy="533400"/>
          </a:xfrm>
        </p:grpSpPr>
        <p:sp>
          <p:nvSpPr>
            <p:cNvPr name="Freeform 9" id="9"/>
            <p:cNvSpPr/>
            <p:nvPr/>
          </p:nvSpPr>
          <p:spPr>
            <a:xfrm flipH="false" flipV="false" rot="0">
              <a:off x="0" y="0"/>
              <a:ext cx="4817448" cy="533400"/>
            </a:xfrm>
            <a:custGeom>
              <a:avLst/>
              <a:gdLst/>
              <a:ahLst/>
              <a:cxnLst/>
              <a:rect r="r" b="b" t="t" l="l"/>
              <a:pathLst>
                <a:path h="533400" w="4817448">
                  <a:moveTo>
                    <a:pt x="273050" y="0"/>
                  </a:moveTo>
                  <a:lnTo>
                    <a:pt x="0" y="266700"/>
                  </a:lnTo>
                  <a:lnTo>
                    <a:pt x="273050" y="533400"/>
                  </a:lnTo>
                  <a:lnTo>
                    <a:pt x="273050" y="400050"/>
                  </a:lnTo>
                  <a:lnTo>
                    <a:pt x="4544398" y="400050"/>
                  </a:lnTo>
                  <a:lnTo>
                    <a:pt x="4544398" y="533400"/>
                  </a:lnTo>
                  <a:lnTo>
                    <a:pt x="4817448" y="266700"/>
                  </a:lnTo>
                  <a:lnTo>
                    <a:pt x="4544398" y="0"/>
                  </a:lnTo>
                  <a:lnTo>
                    <a:pt x="4544398" y="133350"/>
                  </a:lnTo>
                  <a:lnTo>
                    <a:pt x="273050" y="133350"/>
                  </a:lnTo>
                  <a:lnTo>
                    <a:pt x="273050" y="0"/>
                  </a:lnTo>
                  <a:close/>
                </a:path>
              </a:pathLst>
            </a:custGeom>
            <a:solidFill>
              <a:srgbClr val="093F9A"/>
            </a:solidFill>
          </p:spPr>
        </p:sp>
        <p:sp>
          <p:nvSpPr>
            <p:cNvPr name="TextBox 10" id="10"/>
            <p:cNvSpPr txBox="true"/>
            <p:nvPr/>
          </p:nvSpPr>
          <p:spPr>
            <a:xfrm>
              <a:off x="101600" y="92075"/>
              <a:ext cx="4614248" cy="301625"/>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247" y="0"/>
            <a:ext cx="18294494" cy="10287000"/>
          </a:xfrm>
          <a:custGeom>
            <a:avLst/>
            <a:gdLst/>
            <a:ahLst/>
            <a:cxnLst/>
            <a:rect r="r" b="b" t="t" l="l"/>
            <a:pathLst>
              <a:path h="10287000" w="18294494">
                <a:moveTo>
                  <a:pt x="18294494" y="10287000"/>
                </a:moveTo>
                <a:lnTo>
                  <a:pt x="0" y="10287000"/>
                </a:lnTo>
                <a:lnTo>
                  <a:pt x="0" y="0"/>
                </a:lnTo>
                <a:lnTo>
                  <a:pt x="18294494" y="0"/>
                </a:lnTo>
                <a:lnTo>
                  <a:pt x="18294494" y="10287000"/>
                </a:lnTo>
                <a:close/>
              </a:path>
            </a:pathLst>
          </a:custGeom>
          <a:blipFill>
            <a:blip r:embed="rId2"/>
            <a:stretch>
              <a:fillRect l="0" t="0" r="0" b="0"/>
            </a:stretch>
          </a:blipFill>
        </p:spPr>
      </p:sp>
      <p:grpSp>
        <p:nvGrpSpPr>
          <p:cNvPr name="Group 3" id="3"/>
          <p:cNvGrpSpPr/>
          <p:nvPr/>
        </p:nvGrpSpPr>
        <p:grpSpPr>
          <a:xfrm rot="0">
            <a:off x="2707986" y="1221940"/>
            <a:ext cx="12872028" cy="9065060"/>
            <a:chOff x="0" y="0"/>
            <a:chExt cx="5519288" cy="3886930"/>
          </a:xfrm>
        </p:grpSpPr>
        <p:sp>
          <p:nvSpPr>
            <p:cNvPr name="Freeform 4" id="4"/>
            <p:cNvSpPr/>
            <p:nvPr/>
          </p:nvSpPr>
          <p:spPr>
            <a:xfrm flipH="false" flipV="false" rot="0">
              <a:off x="0" y="0"/>
              <a:ext cx="5519288" cy="3886930"/>
            </a:xfrm>
            <a:custGeom>
              <a:avLst/>
              <a:gdLst/>
              <a:ahLst/>
              <a:cxnLst/>
              <a:rect r="r" b="b" t="t" l="l"/>
              <a:pathLst>
                <a:path h="3886930" w="5519288">
                  <a:moveTo>
                    <a:pt x="60145" y="0"/>
                  </a:moveTo>
                  <a:lnTo>
                    <a:pt x="5459143" y="0"/>
                  </a:lnTo>
                  <a:cubicBezTo>
                    <a:pt x="5475094" y="0"/>
                    <a:pt x="5490392" y="6337"/>
                    <a:pt x="5501672" y="17616"/>
                  </a:cubicBezTo>
                  <a:cubicBezTo>
                    <a:pt x="5512951" y="28896"/>
                    <a:pt x="5519288" y="44194"/>
                    <a:pt x="5519288" y="60145"/>
                  </a:cubicBezTo>
                  <a:lnTo>
                    <a:pt x="5519288" y="3826785"/>
                  </a:lnTo>
                  <a:cubicBezTo>
                    <a:pt x="5519288" y="3842736"/>
                    <a:pt x="5512951" y="3858035"/>
                    <a:pt x="5501672" y="3869314"/>
                  </a:cubicBezTo>
                  <a:cubicBezTo>
                    <a:pt x="5490392" y="3880593"/>
                    <a:pt x="5475094" y="3886930"/>
                    <a:pt x="5459143" y="3886930"/>
                  </a:cubicBezTo>
                  <a:lnTo>
                    <a:pt x="60145" y="3886930"/>
                  </a:lnTo>
                  <a:cubicBezTo>
                    <a:pt x="26928" y="3886930"/>
                    <a:pt x="0" y="3860002"/>
                    <a:pt x="0" y="3826785"/>
                  </a:cubicBezTo>
                  <a:lnTo>
                    <a:pt x="0" y="60145"/>
                  </a:lnTo>
                  <a:cubicBezTo>
                    <a:pt x="0" y="44194"/>
                    <a:pt x="6337" y="28896"/>
                    <a:pt x="17616" y="17616"/>
                  </a:cubicBezTo>
                  <a:cubicBezTo>
                    <a:pt x="28896" y="6337"/>
                    <a:pt x="44194" y="0"/>
                    <a:pt x="60145" y="0"/>
                  </a:cubicBezTo>
                  <a:close/>
                </a:path>
              </a:pathLst>
            </a:custGeom>
            <a:solidFill>
              <a:srgbClr val="00173D">
                <a:alpha val="66667"/>
              </a:srgbClr>
            </a:solidFill>
            <a:ln cap="rnd">
              <a:noFill/>
              <a:prstDash val="solid"/>
              <a:round/>
            </a:ln>
          </p:spPr>
        </p:sp>
        <p:sp>
          <p:nvSpPr>
            <p:cNvPr name="TextBox 5" id="5"/>
            <p:cNvSpPr txBox="true"/>
            <p:nvPr/>
          </p:nvSpPr>
          <p:spPr>
            <a:xfrm>
              <a:off x="0" y="-47625"/>
              <a:ext cx="5519288" cy="3934555"/>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3081963" y="1474309"/>
            <a:ext cx="12051453" cy="6155657"/>
          </a:xfrm>
          <a:prstGeom prst="rect">
            <a:avLst/>
          </a:prstGeom>
        </p:spPr>
        <p:txBody>
          <a:bodyPr anchor="t" rtlCol="false" tIns="0" lIns="0" bIns="0" rIns="0">
            <a:spAutoFit/>
          </a:bodyPr>
          <a:lstStyle/>
          <a:p>
            <a:pPr algn="l" marL="626394" indent="-313197" lvl="1">
              <a:lnSpc>
                <a:spcPts val="4061"/>
              </a:lnSpc>
              <a:buFont typeface="Arial"/>
              <a:buChar char="•"/>
            </a:pPr>
            <a:r>
              <a:rPr lang="en-US" sz="2901" u="sng">
                <a:solidFill>
                  <a:srgbClr val="FFFFFF"/>
                </a:solidFill>
                <a:latin typeface="Zilla Slab"/>
                <a:ea typeface="Zilla Slab"/>
                <a:cs typeface="Zilla Slab"/>
                <a:sym typeface="Zilla Slab"/>
                <a:hlinkClick r:id="rId3" tooltip="https://civilization-journal.com/wp-content/uploads/images/February/Gnel%20QULYEVA-DLN%20NKAFINDA%20NEOLOGZMLRN%20ROLU.pdf"/>
              </a:rPr>
              <a:t>https://civilization-journal.com/wp-content/uploads/images/February/Gnel%20QULYEVA-DLN%20NKAFINDA%20NEOLOGZMLRN%20ROLU.pdf</a:t>
            </a:r>
          </a:p>
          <a:p>
            <a:pPr algn="l" marL="626394" indent="-313197" lvl="1">
              <a:lnSpc>
                <a:spcPts val="4061"/>
              </a:lnSpc>
              <a:buFont typeface="Arial"/>
              <a:buChar char="•"/>
            </a:pPr>
            <a:r>
              <a:rPr lang="en-US" sz="2901" u="sng">
                <a:solidFill>
                  <a:srgbClr val="FFFFFF"/>
                </a:solidFill>
                <a:latin typeface="Zilla Slab"/>
                <a:ea typeface="Zilla Slab"/>
                <a:cs typeface="Zilla Slab"/>
                <a:sym typeface="Zilla Slab"/>
                <a:hlinkClick r:id="rId4" tooltip="https://filologiyameseleleri.com/pdf/2024/n5/gunel%20quliyeva%20239-245.pdf"/>
              </a:rPr>
              <a:t>https://filologiyameseleleri.com/pdf/2024/n5/gunel%20quliyeva%20239-245.pdf</a:t>
            </a:r>
          </a:p>
          <a:p>
            <a:pPr algn="l" marL="626394" indent="-313197" lvl="1">
              <a:lnSpc>
                <a:spcPts val="4061"/>
              </a:lnSpc>
              <a:buFont typeface="Arial"/>
              <a:buChar char="•"/>
            </a:pPr>
            <a:r>
              <a:rPr lang="en-US" sz="2901" u="sng">
                <a:solidFill>
                  <a:srgbClr val="FFFFFF"/>
                </a:solidFill>
                <a:latin typeface="Zilla Slab"/>
                <a:ea typeface="Zilla Slab"/>
                <a:cs typeface="Zilla Slab"/>
                <a:sym typeface="Zilla Slab"/>
                <a:hlinkClick r:id="rId5" tooltip="http://dspace.khazar.org/bitstream/20.500.12323/5463/1/M%C3%BCasir%20Az%C9%99rbaycan%20dilind%C9%99%20terminoloji%20leksikanin%20inki%C5%9Fafi.pdf"/>
              </a:rPr>
              <a:t>http://dspace.khazar.org/bitstream/20.500.12323/5463/1/M%C3%BCasir%20Az%C9%99rbaycan%20dilind%C9%99%20terminoloji%20leksikanin%20inki%C5%9Fafi.pdf</a:t>
            </a:r>
          </a:p>
          <a:p>
            <a:pPr algn="l" marL="626394" indent="-313197" lvl="1">
              <a:lnSpc>
                <a:spcPts val="4061"/>
              </a:lnSpc>
              <a:buFont typeface="Arial"/>
              <a:buChar char="•"/>
            </a:pPr>
            <a:r>
              <a:rPr lang="en-US" sz="2901" u="sng">
                <a:solidFill>
                  <a:srgbClr val="FFFFFF"/>
                </a:solidFill>
                <a:latin typeface="Zilla Slab"/>
                <a:ea typeface="Zilla Slab"/>
                <a:cs typeface="Zilla Slab"/>
                <a:sym typeface="Zilla Slab"/>
                <a:hlinkClick r:id="rId6" tooltip="https://au.edu.az/userfiles/uploads/19d7f5fca0d839a5b05877d753014825.pdf"/>
              </a:rPr>
              <a:t>https://au.edu.az/userfiles/uploads/19d7f5fca0d839a5b05877d753014825.pdf</a:t>
            </a:r>
          </a:p>
          <a:p>
            <a:pPr algn="l" marL="626394" indent="-313197" lvl="1">
              <a:lnSpc>
                <a:spcPts val="4061"/>
              </a:lnSpc>
              <a:buFont typeface="Arial"/>
              <a:buChar char="•"/>
            </a:pPr>
            <a:r>
              <a:rPr lang="en-US" sz="2901" u="sng">
                <a:solidFill>
                  <a:srgbClr val="FFFFFF"/>
                </a:solidFill>
                <a:latin typeface="Zilla Slab"/>
                <a:ea typeface="Zilla Slab"/>
                <a:cs typeface="Zilla Slab"/>
                <a:sym typeface="Zilla Slab"/>
                <a:hlinkClick r:id="rId7" tooltip="https://aak.gov.az/upload/dissertasion/filologiya_elml_ri/Avtoreferat_Az%C9%99rbaycan_word.pdf"/>
              </a:rPr>
              <a:t>https://aak.gov.az/upload/dissertasion/filologiya_elml_ri/Avtoreferat_Az%C9%99rbaycan_word.pdf</a:t>
            </a:r>
          </a:p>
        </p:txBody>
      </p:sp>
      <p:sp>
        <p:nvSpPr>
          <p:cNvPr name="TextBox 7" id="7"/>
          <p:cNvSpPr txBox="true"/>
          <p:nvPr/>
        </p:nvSpPr>
        <p:spPr>
          <a:xfrm rot="0">
            <a:off x="6383684" y="222748"/>
            <a:ext cx="5520633" cy="805952"/>
          </a:xfrm>
          <a:prstGeom prst="rect">
            <a:avLst/>
          </a:prstGeom>
        </p:spPr>
        <p:txBody>
          <a:bodyPr anchor="t" rtlCol="false" tIns="0" lIns="0" bIns="0" rIns="0">
            <a:spAutoFit/>
          </a:bodyPr>
          <a:lstStyle/>
          <a:p>
            <a:pPr algn="ctr">
              <a:lnSpc>
                <a:spcPts val="6502"/>
              </a:lnSpc>
              <a:spcBef>
                <a:spcPct val="0"/>
              </a:spcBef>
            </a:pPr>
            <a:r>
              <a:rPr lang="en-US" b="true" sz="4644">
                <a:solidFill>
                  <a:srgbClr val="FFFFFF"/>
                </a:solidFill>
                <a:latin typeface="Zilla Slab Bold"/>
                <a:ea typeface="Zilla Slab Bold"/>
                <a:cs typeface="Zilla Slab Bold"/>
                <a:sym typeface="Zilla Slab Bold"/>
              </a:rPr>
              <a:t>Mənbələr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247" y="0"/>
            <a:ext cx="18294494" cy="10287000"/>
          </a:xfrm>
          <a:custGeom>
            <a:avLst/>
            <a:gdLst/>
            <a:ahLst/>
            <a:cxnLst/>
            <a:rect r="r" b="b" t="t" l="l"/>
            <a:pathLst>
              <a:path h="10287000" w="18294494">
                <a:moveTo>
                  <a:pt x="18294494" y="10287000"/>
                </a:moveTo>
                <a:lnTo>
                  <a:pt x="0" y="10287000"/>
                </a:lnTo>
                <a:lnTo>
                  <a:pt x="0" y="0"/>
                </a:lnTo>
                <a:lnTo>
                  <a:pt x="18294494" y="0"/>
                </a:lnTo>
                <a:lnTo>
                  <a:pt x="18294494" y="10287000"/>
                </a:lnTo>
                <a:close/>
              </a:path>
            </a:pathLst>
          </a:custGeom>
          <a:blipFill>
            <a:blip r:embed="rId2"/>
            <a:stretch>
              <a:fillRect l="0" t="0" r="0" b="0"/>
            </a:stretch>
          </a:blipFill>
        </p:spPr>
      </p:sp>
      <p:grpSp>
        <p:nvGrpSpPr>
          <p:cNvPr name="Group 3" id="3"/>
          <p:cNvGrpSpPr/>
          <p:nvPr/>
        </p:nvGrpSpPr>
        <p:grpSpPr>
          <a:xfrm rot="0">
            <a:off x="2162341" y="1221940"/>
            <a:ext cx="13963317" cy="5443909"/>
            <a:chOff x="0" y="0"/>
            <a:chExt cx="5519288" cy="2151817"/>
          </a:xfrm>
        </p:grpSpPr>
        <p:sp>
          <p:nvSpPr>
            <p:cNvPr name="Freeform 4" id="4"/>
            <p:cNvSpPr/>
            <p:nvPr/>
          </p:nvSpPr>
          <p:spPr>
            <a:xfrm flipH="false" flipV="false" rot="0">
              <a:off x="0" y="0"/>
              <a:ext cx="5519288" cy="2151817"/>
            </a:xfrm>
            <a:custGeom>
              <a:avLst/>
              <a:gdLst/>
              <a:ahLst/>
              <a:cxnLst/>
              <a:rect r="r" b="b" t="t" l="l"/>
              <a:pathLst>
                <a:path h="2151817" w="5519288">
                  <a:moveTo>
                    <a:pt x="55445" y="0"/>
                  </a:moveTo>
                  <a:lnTo>
                    <a:pt x="5463843" y="0"/>
                  </a:lnTo>
                  <a:cubicBezTo>
                    <a:pt x="5494465" y="0"/>
                    <a:pt x="5519288" y="24823"/>
                    <a:pt x="5519288" y="55445"/>
                  </a:cubicBezTo>
                  <a:lnTo>
                    <a:pt x="5519288" y="2096372"/>
                  </a:lnTo>
                  <a:cubicBezTo>
                    <a:pt x="5519288" y="2111077"/>
                    <a:pt x="5513446" y="2125180"/>
                    <a:pt x="5503049" y="2135578"/>
                  </a:cubicBezTo>
                  <a:cubicBezTo>
                    <a:pt x="5492651" y="2145975"/>
                    <a:pt x="5478548" y="2151817"/>
                    <a:pt x="5463843" y="2151817"/>
                  </a:cubicBezTo>
                  <a:lnTo>
                    <a:pt x="55445" y="2151817"/>
                  </a:lnTo>
                  <a:cubicBezTo>
                    <a:pt x="24823" y="2151817"/>
                    <a:pt x="0" y="2126993"/>
                    <a:pt x="0" y="2096372"/>
                  </a:cubicBezTo>
                  <a:lnTo>
                    <a:pt x="0" y="55445"/>
                  </a:lnTo>
                  <a:cubicBezTo>
                    <a:pt x="0" y="24823"/>
                    <a:pt x="24823" y="0"/>
                    <a:pt x="55445" y="0"/>
                  </a:cubicBezTo>
                  <a:close/>
                </a:path>
              </a:pathLst>
            </a:custGeom>
            <a:solidFill>
              <a:srgbClr val="00173D">
                <a:alpha val="66667"/>
              </a:srgbClr>
            </a:solidFill>
            <a:ln cap="rnd">
              <a:noFill/>
              <a:prstDash val="solid"/>
              <a:round/>
            </a:ln>
          </p:spPr>
        </p:sp>
        <p:sp>
          <p:nvSpPr>
            <p:cNvPr name="TextBox 5" id="5"/>
            <p:cNvSpPr txBox="true"/>
            <p:nvPr/>
          </p:nvSpPr>
          <p:spPr>
            <a:xfrm>
              <a:off x="0" y="-47625"/>
              <a:ext cx="5519288" cy="219944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3247" y="6878562"/>
            <a:ext cx="18288000" cy="3408438"/>
          </a:xfrm>
          <a:custGeom>
            <a:avLst/>
            <a:gdLst/>
            <a:ahLst/>
            <a:cxnLst/>
            <a:rect r="r" b="b" t="t" l="l"/>
            <a:pathLst>
              <a:path h="3408438" w="18288000">
                <a:moveTo>
                  <a:pt x="0" y="0"/>
                </a:moveTo>
                <a:lnTo>
                  <a:pt x="18288000" y="0"/>
                </a:lnTo>
                <a:lnTo>
                  <a:pt x="18288000" y="3408438"/>
                </a:lnTo>
                <a:lnTo>
                  <a:pt x="0" y="3408438"/>
                </a:lnTo>
                <a:lnTo>
                  <a:pt x="0" y="0"/>
                </a:lnTo>
                <a:close/>
              </a:path>
            </a:pathLst>
          </a:custGeom>
          <a:blipFill>
            <a:blip r:embed="rId3"/>
            <a:stretch>
              <a:fillRect l="0" t="-154915" r="0" b="-170972"/>
            </a:stretch>
          </a:blipFill>
        </p:spPr>
      </p:sp>
      <p:sp>
        <p:nvSpPr>
          <p:cNvPr name="Freeform 7" id="7"/>
          <p:cNvSpPr/>
          <p:nvPr/>
        </p:nvSpPr>
        <p:spPr>
          <a:xfrm flipH="false" flipV="false" rot="-1946449">
            <a:off x="485727" y="651987"/>
            <a:ext cx="1514114" cy="1046339"/>
          </a:xfrm>
          <a:custGeom>
            <a:avLst/>
            <a:gdLst/>
            <a:ahLst/>
            <a:cxnLst/>
            <a:rect r="r" b="b" t="t" l="l"/>
            <a:pathLst>
              <a:path h="1046339" w="1514114">
                <a:moveTo>
                  <a:pt x="0" y="0"/>
                </a:moveTo>
                <a:lnTo>
                  <a:pt x="1514113" y="0"/>
                </a:lnTo>
                <a:lnTo>
                  <a:pt x="1514113" y="1046338"/>
                </a:lnTo>
                <a:lnTo>
                  <a:pt x="0" y="1046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249223">
            <a:off x="16556923" y="553074"/>
            <a:ext cx="1121942" cy="1121942"/>
          </a:xfrm>
          <a:custGeom>
            <a:avLst/>
            <a:gdLst/>
            <a:ahLst/>
            <a:cxnLst/>
            <a:rect r="r" b="b" t="t" l="l"/>
            <a:pathLst>
              <a:path h="1121942" w="1121942">
                <a:moveTo>
                  <a:pt x="0" y="0"/>
                </a:moveTo>
                <a:lnTo>
                  <a:pt x="1121943" y="0"/>
                </a:lnTo>
                <a:lnTo>
                  <a:pt x="1121943" y="1121942"/>
                </a:lnTo>
                <a:lnTo>
                  <a:pt x="0" y="1121942"/>
                </a:lnTo>
                <a:lnTo>
                  <a:pt x="0" y="0"/>
                </a:lnTo>
                <a:close/>
              </a:path>
            </a:pathLst>
          </a:custGeom>
          <a:blipFill>
            <a:blip r:embed="rId6"/>
            <a:stretch>
              <a:fillRect l="0" t="0" r="0" b="0"/>
            </a:stretch>
          </a:blipFill>
        </p:spPr>
      </p:sp>
      <p:sp>
        <p:nvSpPr>
          <p:cNvPr name="TextBox 9" id="9"/>
          <p:cNvSpPr txBox="true"/>
          <p:nvPr/>
        </p:nvSpPr>
        <p:spPr>
          <a:xfrm rot="0">
            <a:off x="3337807" y="1635593"/>
            <a:ext cx="11612385" cy="4450386"/>
          </a:xfrm>
          <a:prstGeom prst="rect">
            <a:avLst/>
          </a:prstGeom>
        </p:spPr>
        <p:txBody>
          <a:bodyPr anchor="t" rtlCol="false" tIns="0" lIns="0" bIns="0" rIns="0">
            <a:spAutoFit/>
          </a:bodyPr>
          <a:lstStyle/>
          <a:p>
            <a:pPr algn="ctr">
              <a:lnSpc>
                <a:spcPts val="4406"/>
              </a:lnSpc>
            </a:pPr>
            <a:r>
              <a:rPr lang="en-US" sz="3147">
                <a:solidFill>
                  <a:srgbClr val="FFFFFF"/>
                </a:solidFill>
                <a:latin typeface="Zilla Slab"/>
                <a:ea typeface="Zilla Slab"/>
                <a:cs typeface="Zilla Slab"/>
                <a:sym typeface="Zilla Slab"/>
              </a:rPr>
              <a:t>Neologizmlər müasir Azərbaycan dilinin inkişafında mühüm rol oynayır. Onlar dilin lüğət tərkibini zənginləşdirir, yeni anlayışların ifadəsinə xidmət edir və cəmiyyətin dəyişən həyatını əks etdirir.</a:t>
            </a:r>
          </a:p>
          <a:p>
            <a:pPr algn="ctr">
              <a:lnSpc>
                <a:spcPts val="4406"/>
              </a:lnSpc>
            </a:pPr>
            <a:r>
              <a:rPr lang="en-US" sz="3147">
                <a:solidFill>
                  <a:srgbClr val="FFFFFF"/>
                </a:solidFill>
                <a:latin typeface="Zilla Slab"/>
                <a:ea typeface="Zilla Slab"/>
                <a:cs typeface="Zilla Slab"/>
                <a:sym typeface="Zilla Slab"/>
              </a:rPr>
              <a:t> Texnoloji, sosial-siyasi və mədəni sahələrdə yaranan yeni sözlər dilin yenilənməsini göstərir. Yeni sözlərin ədəbi norma ilə uyğunlaşdırılması, alınmaların mənimsənilməsi və paralel leksikanın düzgün seçilməsi dilin sabit və inkişaf etmiş şəkildə qorunmasına kömək edir.</a:t>
            </a:r>
          </a:p>
        </p:txBody>
      </p:sp>
      <p:sp>
        <p:nvSpPr>
          <p:cNvPr name="TextBox 10" id="10"/>
          <p:cNvSpPr txBox="true"/>
          <p:nvPr/>
        </p:nvSpPr>
        <p:spPr>
          <a:xfrm rot="0">
            <a:off x="6383684" y="222748"/>
            <a:ext cx="5520633" cy="805952"/>
          </a:xfrm>
          <a:prstGeom prst="rect">
            <a:avLst/>
          </a:prstGeom>
        </p:spPr>
        <p:txBody>
          <a:bodyPr anchor="t" rtlCol="false" tIns="0" lIns="0" bIns="0" rIns="0">
            <a:spAutoFit/>
          </a:bodyPr>
          <a:lstStyle/>
          <a:p>
            <a:pPr algn="ctr">
              <a:lnSpc>
                <a:spcPts val="6502"/>
              </a:lnSpc>
              <a:spcBef>
                <a:spcPct val="0"/>
              </a:spcBef>
            </a:pPr>
            <a:r>
              <a:rPr lang="en-US" b="true" sz="4644">
                <a:solidFill>
                  <a:srgbClr val="FFFFFF"/>
                </a:solidFill>
                <a:latin typeface="Zilla Slab Bold"/>
                <a:ea typeface="Zilla Slab Bold"/>
                <a:cs typeface="Zilla Slab Bold"/>
                <a:sym typeface="Zilla Slab Bold"/>
              </a:rPr>
              <a:t>Nəticə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DAHH9FKvdjE</dc:identifier>
  <dcterms:modified xsi:type="dcterms:W3CDTF">2011-08-01T06:04:30Z</dcterms:modified>
  <cp:revision>1</cp:revision>
  <dc:title>Müasir Azərbaycan dilində neologizmlər</dc:title>
</cp:coreProperties>
</file>