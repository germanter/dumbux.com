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T Serif" charset="1" panose="020A0603040505020204"/>
      <p:regular r:id="rId24"/>
    </p:embeddedFont>
    <p:embeddedFont>
      <p:font typeface="DM Sans" charset="1" panose="00000000000000000000"/>
      <p:regular r:id="rId25"/>
    </p:embeddedFont>
    <p:embeddedFont>
      <p:font typeface="DM Sans Italics" charset="1" panose="00000000000000000000"/>
      <p:regular r:id="rId31"/>
    </p:embeddedFont>
    <p:embeddedFont>
      <p:font typeface="DM Sans Bold" charset="1" panose="00000000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notesMasters/notesMaster1.xml" Type="http://schemas.openxmlformats.org/officeDocument/2006/relationships/notesMaster"/><Relationship Id="rId22" Target="theme/theme2.xml" Type="http://schemas.openxmlformats.org/officeDocument/2006/relationships/theme"/><Relationship Id="rId23" Target="notesSlides/notesSlide1.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notesSlides/notesSlide2.xml" Type="http://schemas.openxmlformats.org/officeDocument/2006/relationships/notesSlide"/><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viewProps.xml" Type="http://schemas.openxmlformats.org/officeDocument/2006/relationships/viewProps"/><Relationship Id="rId30" Target="notesSlides/notesSlide6.xml" Type="http://schemas.openxmlformats.org/officeDocument/2006/relationships/notesSlide"/><Relationship Id="rId31" Target="fonts/font31.fntdata" Type="http://schemas.openxmlformats.org/officeDocument/2006/relationships/font"/><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fonts/font35.fntdata" Type="http://schemas.openxmlformats.org/officeDocument/2006/relationships/font"/><Relationship Id="rId36" Target="notesSlides/notesSlide10.xml" Type="http://schemas.openxmlformats.org/officeDocument/2006/relationships/notesSlide"/><Relationship Id="rId37" Target="notesSlides/notesSlide11.xml" Type="http://schemas.openxmlformats.org/officeDocument/2006/relationships/notesSlide"/><Relationship Id="rId38" Target="notesSlides/notesSlide12.xml" Type="http://schemas.openxmlformats.org/officeDocument/2006/relationships/notesSlide"/><Relationship Id="rId39" Target="notesSlides/notesSlide13.xml" Type="http://schemas.openxmlformats.org/officeDocument/2006/relationships/notesSlide"/><Relationship Id="rId4" Target="theme/theme1.xml" Type="http://schemas.openxmlformats.org/officeDocument/2006/relationships/theme"/><Relationship Id="rId40" Target="notesSlides/notesSlide14.xml" Type="http://schemas.openxmlformats.org/officeDocument/2006/relationships/notesSlide"/><Relationship Id="rId41" Target="notesSlides/notesSlide15.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7.png" Type="http://schemas.openxmlformats.org/officeDocument/2006/relationships/image"/><Relationship Id="rId4"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0" y="0"/>
            <a:ext cx="6858000" cy="10287000"/>
            <a:chOff x="0" y="0"/>
            <a:chExt cx="9144000" cy="13716000"/>
          </a:xfrm>
        </p:grpSpPr>
        <p:sp>
          <p:nvSpPr>
            <p:cNvPr name="Freeform 7" id="7"/>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close/>
                </a:path>
              </a:pathLst>
            </a:custGeom>
            <a:solidFill>
              <a:srgbClr val="F2EEEE"/>
            </a:solidFill>
          </p:spPr>
        </p:sp>
      </p:grpSp>
      <p:grpSp>
        <p:nvGrpSpPr>
          <p:cNvPr name="Group 8" id="8"/>
          <p:cNvGrpSpPr/>
          <p:nvPr/>
        </p:nvGrpSpPr>
        <p:grpSpPr>
          <a:xfrm rot="0">
            <a:off x="141684" y="760362"/>
            <a:ext cx="6574479" cy="8766124"/>
            <a:chOff x="0" y="0"/>
            <a:chExt cx="8765972" cy="11688166"/>
          </a:xfrm>
        </p:grpSpPr>
        <p:sp>
          <p:nvSpPr>
            <p:cNvPr name="Freeform 9" id="9"/>
            <p:cNvSpPr/>
            <p:nvPr/>
          </p:nvSpPr>
          <p:spPr>
            <a:xfrm flipH="false" flipV="false" rot="0">
              <a:off x="0" y="0"/>
              <a:ext cx="8765921" cy="11688191"/>
            </a:xfrm>
            <a:custGeom>
              <a:avLst/>
              <a:gdLst/>
              <a:ahLst/>
              <a:cxnLst/>
              <a:rect r="r" b="b" t="t" l="l"/>
              <a:pathLst>
                <a:path h="11688191" w="8765921">
                  <a:moveTo>
                    <a:pt x="0" y="0"/>
                  </a:moveTo>
                  <a:lnTo>
                    <a:pt x="8765921" y="0"/>
                  </a:lnTo>
                  <a:lnTo>
                    <a:pt x="8765921" y="11688191"/>
                  </a:lnTo>
                  <a:lnTo>
                    <a:pt x="0" y="11688191"/>
                  </a:lnTo>
                  <a:lnTo>
                    <a:pt x="0" y="0"/>
                  </a:lnTo>
                  <a:close/>
                </a:path>
              </a:pathLst>
            </a:custGeom>
            <a:blipFill>
              <a:blip r:embed="rId3"/>
              <a:stretch>
                <a:fillRect l="-16668" t="0" r="-16668" b="0"/>
              </a:stretch>
            </a:blipFill>
          </p:spPr>
        </p:sp>
      </p:grpSp>
      <p:sp>
        <p:nvSpPr>
          <p:cNvPr name="TextBox 10" id="10"/>
          <p:cNvSpPr txBox="true"/>
          <p:nvPr/>
        </p:nvSpPr>
        <p:spPr>
          <a:xfrm rot="0">
            <a:off x="7850238" y="1224270"/>
            <a:ext cx="9445523" cy="2767012"/>
          </a:xfrm>
          <a:prstGeom prst="rect">
            <a:avLst/>
          </a:prstGeom>
        </p:spPr>
        <p:txBody>
          <a:bodyPr anchor="t" rtlCol="false" tIns="0" lIns="0" bIns="0" rIns="0">
            <a:spAutoFit/>
          </a:bodyPr>
          <a:lstStyle/>
          <a:p>
            <a:pPr algn="l">
              <a:lnSpc>
                <a:spcPts val="7312"/>
              </a:lnSpc>
            </a:pPr>
            <a:r>
              <a:rPr lang="en-US" sz="5812">
                <a:solidFill>
                  <a:srgbClr val="020202"/>
                </a:solidFill>
                <a:latin typeface="PT Serif"/>
                <a:ea typeface="PT Serif"/>
                <a:cs typeface="PT Serif"/>
                <a:sym typeface="PT Serif"/>
              </a:rPr>
              <a:t>AZERBAİJA</a:t>
            </a:r>
            <a:r>
              <a:rPr lang="en-US" sz="5812">
                <a:solidFill>
                  <a:srgbClr val="020202"/>
                </a:solidFill>
                <a:latin typeface="PT Serif"/>
                <a:ea typeface="PT Serif"/>
                <a:cs typeface="PT Serif"/>
                <a:sym typeface="PT Serif"/>
              </a:rPr>
              <a:t>N STATE OİL AND İNDUSTRY UNİVERSİTY</a:t>
            </a:r>
          </a:p>
        </p:txBody>
      </p:sp>
      <p:sp>
        <p:nvSpPr>
          <p:cNvPr name="TextBox 11" id="11"/>
          <p:cNvSpPr txBox="true"/>
          <p:nvPr/>
        </p:nvSpPr>
        <p:spPr>
          <a:xfrm rot="0">
            <a:off x="7850238" y="4111676"/>
            <a:ext cx="9445523" cy="4012187"/>
          </a:xfrm>
          <a:prstGeom prst="rect">
            <a:avLst/>
          </a:prstGeom>
        </p:spPr>
        <p:txBody>
          <a:bodyPr anchor="t" rtlCol="false" tIns="0" lIns="0" bIns="0" rIns="0">
            <a:spAutoFit/>
          </a:bodyPr>
          <a:lstStyle/>
          <a:p>
            <a:pPr algn="l">
              <a:lnSpc>
                <a:spcPts val="5352"/>
              </a:lnSpc>
            </a:pPr>
            <a:r>
              <a:rPr lang="en-US" sz="3287">
                <a:solidFill>
                  <a:srgbClr val="000000"/>
                </a:solidFill>
                <a:latin typeface="DM Sans"/>
                <a:ea typeface="DM Sans"/>
                <a:cs typeface="DM Sans"/>
                <a:sym typeface="DM Sans"/>
              </a:rPr>
              <a:t>N</a:t>
            </a:r>
            <a:r>
              <a:rPr lang="en-US" sz="3287">
                <a:solidFill>
                  <a:srgbClr val="000000"/>
                </a:solidFill>
                <a:latin typeface="DM Sans"/>
                <a:ea typeface="DM Sans"/>
                <a:cs typeface="DM Sans"/>
                <a:sym typeface="DM Sans"/>
              </a:rPr>
              <a:t>ame: Məmmədzadə Hüseyn</a:t>
            </a:r>
          </a:p>
          <a:p>
            <a:pPr algn="l">
              <a:lnSpc>
                <a:spcPts val="5352"/>
              </a:lnSpc>
            </a:pPr>
            <a:r>
              <a:rPr lang="en-US" sz="3287">
                <a:solidFill>
                  <a:srgbClr val="000000"/>
                </a:solidFill>
                <a:latin typeface="DM Sans"/>
                <a:ea typeface="DM Sans"/>
                <a:cs typeface="DM Sans"/>
                <a:sym typeface="DM Sans"/>
              </a:rPr>
              <a:t>Group: 682.24E</a:t>
            </a:r>
          </a:p>
          <a:p>
            <a:pPr algn="l">
              <a:lnSpc>
                <a:spcPts val="5352"/>
              </a:lnSpc>
            </a:pPr>
            <a:r>
              <a:rPr lang="en-US" sz="3287">
                <a:solidFill>
                  <a:srgbClr val="000000"/>
                </a:solidFill>
                <a:latin typeface="DM Sans"/>
                <a:ea typeface="DM Sans"/>
                <a:cs typeface="DM Sans"/>
                <a:sym typeface="DM Sans"/>
              </a:rPr>
              <a:t>Subject: ITPM</a:t>
            </a:r>
          </a:p>
          <a:p>
            <a:pPr algn="l">
              <a:lnSpc>
                <a:spcPts val="5352"/>
              </a:lnSpc>
            </a:pPr>
            <a:r>
              <a:rPr lang="en-US" sz="3287">
                <a:solidFill>
                  <a:srgbClr val="000000"/>
                </a:solidFill>
                <a:latin typeface="DM Sans"/>
                <a:ea typeface="DM Sans"/>
                <a:cs typeface="DM Sans"/>
                <a:sym typeface="DM Sans"/>
              </a:rPr>
              <a:t>Faculty: Information Technologies</a:t>
            </a:r>
          </a:p>
          <a:p>
            <a:pPr algn="l">
              <a:lnSpc>
                <a:spcPts val="5353"/>
              </a:lnSpc>
            </a:pPr>
            <a:r>
              <a:rPr lang="en-US" sz="3287">
                <a:solidFill>
                  <a:srgbClr val="000000"/>
                </a:solidFill>
                <a:latin typeface="DM Sans"/>
                <a:ea typeface="DM Sans"/>
                <a:cs typeface="DM Sans"/>
                <a:sym typeface="DM Sans"/>
              </a:rPr>
              <a:t>Presentation Topic: Cost Estimation and Budgeting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0" y="0"/>
            <a:ext cx="6858000" cy="10287000"/>
            <a:chOff x="0" y="0"/>
            <a:chExt cx="9144000" cy="13716000"/>
          </a:xfrm>
        </p:grpSpPr>
        <p:sp>
          <p:nvSpPr>
            <p:cNvPr name="Freeform 7" id="7"/>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close/>
                </a:path>
              </a:pathLst>
            </a:custGeom>
            <a:solidFill>
              <a:srgbClr val="F2EEEE"/>
            </a:solidFill>
          </p:spPr>
        </p:sp>
      </p:grpSp>
      <p:grpSp>
        <p:nvGrpSpPr>
          <p:cNvPr name="Group 8" id="8"/>
          <p:cNvGrpSpPr/>
          <p:nvPr/>
        </p:nvGrpSpPr>
        <p:grpSpPr>
          <a:xfrm rot="0">
            <a:off x="141684" y="760362"/>
            <a:ext cx="6574479" cy="8766124"/>
            <a:chOff x="0" y="0"/>
            <a:chExt cx="8765972" cy="11688166"/>
          </a:xfrm>
        </p:grpSpPr>
        <p:sp>
          <p:nvSpPr>
            <p:cNvPr name="Freeform 9" id="9"/>
            <p:cNvSpPr/>
            <p:nvPr/>
          </p:nvSpPr>
          <p:spPr>
            <a:xfrm flipH="false" flipV="false" rot="0">
              <a:off x="0" y="0"/>
              <a:ext cx="8765921" cy="11688191"/>
            </a:xfrm>
            <a:custGeom>
              <a:avLst/>
              <a:gdLst/>
              <a:ahLst/>
              <a:cxnLst/>
              <a:rect r="r" b="b" t="t" l="l"/>
              <a:pathLst>
                <a:path h="11688191" w="8765921">
                  <a:moveTo>
                    <a:pt x="0" y="0"/>
                  </a:moveTo>
                  <a:lnTo>
                    <a:pt x="8765921" y="0"/>
                  </a:lnTo>
                  <a:lnTo>
                    <a:pt x="8765921" y="11688191"/>
                  </a:lnTo>
                  <a:lnTo>
                    <a:pt x="0" y="11688191"/>
                  </a:lnTo>
                  <a:lnTo>
                    <a:pt x="0" y="0"/>
                  </a:lnTo>
                  <a:close/>
                </a:path>
              </a:pathLst>
            </a:custGeom>
            <a:blipFill>
              <a:blip r:embed="rId3"/>
              <a:stretch>
                <a:fillRect l="-16668" t="0" r="-16668" b="0"/>
              </a:stretch>
            </a:blipFill>
          </p:spPr>
        </p:sp>
      </p:grpSp>
      <p:sp>
        <p:nvSpPr>
          <p:cNvPr name="TextBox 10" id="10"/>
          <p:cNvSpPr txBox="true"/>
          <p:nvPr/>
        </p:nvSpPr>
        <p:spPr>
          <a:xfrm rot="0">
            <a:off x="7850238" y="1921078"/>
            <a:ext cx="9445523" cy="1898752"/>
          </a:xfrm>
          <a:prstGeom prst="rect">
            <a:avLst/>
          </a:prstGeom>
        </p:spPr>
        <p:txBody>
          <a:bodyPr anchor="t" rtlCol="false" tIns="0" lIns="0" bIns="0" rIns="0">
            <a:spAutoFit/>
          </a:bodyPr>
          <a:lstStyle/>
          <a:p>
            <a:pPr algn="l">
              <a:lnSpc>
                <a:spcPts val="7312"/>
              </a:lnSpc>
            </a:pPr>
            <a:r>
              <a:rPr lang="en-US" sz="5812">
                <a:solidFill>
                  <a:srgbClr val="020202"/>
                </a:solidFill>
                <a:latin typeface="PT Serif"/>
                <a:ea typeface="PT Serif"/>
                <a:cs typeface="PT Serif"/>
                <a:sym typeface="PT Serif"/>
              </a:rPr>
              <a:t>Navigating the Financial Architecture of IT Projects</a:t>
            </a:r>
          </a:p>
        </p:txBody>
      </p:sp>
      <p:sp>
        <p:nvSpPr>
          <p:cNvPr name="TextBox 11" id="11"/>
          <p:cNvSpPr txBox="true"/>
          <p:nvPr/>
        </p:nvSpPr>
        <p:spPr>
          <a:xfrm rot="0">
            <a:off x="7850238" y="4121201"/>
            <a:ext cx="9445523" cy="5447837"/>
          </a:xfrm>
          <a:prstGeom prst="rect">
            <a:avLst/>
          </a:prstGeom>
        </p:spPr>
        <p:txBody>
          <a:bodyPr anchor="t" rtlCol="false" tIns="0" lIns="0" bIns="0" rIns="0">
            <a:spAutoFit/>
          </a:bodyPr>
          <a:lstStyle/>
          <a:p>
            <a:pPr algn="l">
              <a:lnSpc>
                <a:spcPts val="4863"/>
              </a:lnSpc>
            </a:pPr>
            <a:r>
              <a:rPr lang="en-US" sz="2987">
                <a:solidFill>
                  <a:srgbClr val="000000"/>
                </a:solidFill>
                <a:latin typeface="DM Sans"/>
                <a:ea typeface="DM Sans"/>
                <a:cs typeface="DM Sans"/>
                <a:sym typeface="DM Sans"/>
              </a:rPr>
              <a:t>In IT, estimating costs is about deciding if a project is even worth doing. Since software and data aren't physical things you can hold, getting the budget right is tricky but super important.</a:t>
            </a:r>
          </a:p>
          <a:p>
            <a:pPr algn="l">
              <a:lnSpc>
                <a:spcPts val="4863"/>
              </a:lnSpc>
            </a:pPr>
            <a:r>
              <a:rPr lang="en-US" sz="2987">
                <a:solidFill>
                  <a:srgbClr val="000000"/>
                </a:solidFill>
                <a:latin typeface="DM Sans"/>
                <a:ea typeface="DM Sans"/>
                <a:cs typeface="DM Sans"/>
                <a:sym typeface="DM Sans"/>
              </a:rPr>
              <a:t>We </a:t>
            </a:r>
            <a:r>
              <a:rPr lang="en-US" sz="2987">
                <a:solidFill>
                  <a:srgbClr val="000000"/>
                </a:solidFill>
                <a:latin typeface="DM Sans"/>
                <a:ea typeface="DM Sans"/>
                <a:cs typeface="DM Sans"/>
                <a:sym typeface="DM Sans"/>
              </a:rPr>
              <a:t>cover how to turn uncertain ideas into a solid budget so your project actually succeeds without running out of cash. We’ll look at the best tools and methods to manage your spending from the first day until the project is finished.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1847017"/>
            <a:ext cx="9573315" cy="7541940"/>
          </a:xfrm>
          <a:prstGeom prst="rect">
            <a:avLst/>
          </a:prstGeom>
        </p:spPr>
        <p:txBody>
          <a:bodyPr anchor="t" rtlCol="false" tIns="0" lIns="0" bIns="0" rIns="0">
            <a:spAutoFit/>
          </a:bodyPr>
          <a:lstStyle/>
          <a:p>
            <a:pPr algn="l">
              <a:lnSpc>
                <a:spcPts val="4049"/>
              </a:lnSpc>
            </a:pPr>
            <a:r>
              <a:rPr lang="en-US" sz="2487">
                <a:solidFill>
                  <a:srgbClr val="000000"/>
                </a:solidFill>
                <a:latin typeface="DM Sans"/>
                <a:ea typeface="DM Sans"/>
                <a:cs typeface="DM Sans"/>
                <a:sym typeface="DM Sans"/>
              </a:rPr>
              <a:t>1. Introduction to Cost Estimation and Budgeting in IT</a:t>
            </a:r>
          </a:p>
          <a:p>
            <a:pPr algn="l">
              <a:lnSpc>
                <a:spcPts val="4049"/>
              </a:lnSpc>
            </a:pPr>
            <a:r>
              <a:rPr lang="en-US" sz="2487">
                <a:solidFill>
                  <a:srgbClr val="000000"/>
                </a:solidFill>
                <a:latin typeface="DM Sans"/>
                <a:ea typeface="DM Sans"/>
                <a:cs typeface="DM Sans"/>
                <a:sym typeface="DM Sans"/>
              </a:rPr>
              <a:t>2. Presentation Plan</a:t>
            </a:r>
          </a:p>
          <a:p>
            <a:pPr algn="l">
              <a:lnSpc>
                <a:spcPts val="4049"/>
              </a:lnSpc>
            </a:pPr>
            <a:r>
              <a:rPr lang="en-US" sz="2487">
                <a:solidFill>
                  <a:srgbClr val="000000"/>
                </a:solidFill>
                <a:latin typeface="DM Sans"/>
                <a:ea typeface="DM Sans"/>
                <a:cs typeface="DM Sans"/>
                <a:sym typeface="DM Sans"/>
              </a:rPr>
              <a:t>3. The Core Pillars of IT Cost Estimation</a:t>
            </a:r>
          </a:p>
          <a:p>
            <a:pPr algn="l">
              <a:lnSpc>
                <a:spcPts val="4049"/>
              </a:lnSpc>
            </a:pPr>
            <a:r>
              <a:rPr lang="en-US" sz="2487">
                <a:solidFill>
                  <a:srgbClr val="000000"/>
                </a:solidFill>
                <a:latin typeface="DM Sans"/>
                <a:ea typeface="DM Sans"/>
                <a:cs typeface="DM Sans"/>
                <a:sym typeface="DM Sans"/>
              </a:rPr>
              <a:t>4. Methodologies: From Top-Down to Bottom-Up</a:t>
            </a:r>
          </a:p>
          <a:p>
            <a:pPr algn="l">
              <a:lnSpc>
                <a:spcPts val="4049"/>
              </a:lnSpc>
            </a:pPr>
            <a:r>
              <a:rPr lang="en-US" sz="2487">
                <a:solidFill>
                  <a:srgbClr val="000000"/>
                </a:solidFill>
                <a:latin typeface="DM Sans"/>
                <a:ea typeface="DM Sans"/>
                <a:cs typeface="DM Sans"/>
                <a:sym typeface="DM Sans"/>
              </a:rPr>
              <a:t>5. Advanced Estimation: Parametric and Three-Point Modeling</a:t>
            </a:r>
          </a:p>
          <a:p>
            <a:pPr algn="l">
              <a:lnSpc>
                <a:spcPts val="4049"/>
              </a:lnSpc>
            </a:pPr>
            <a:r>
              <a:rPr lang="en-US" sz="2487">
                <a:solidFill>
                  <a:srgbClr val="000000"/>
                </a:solidFill>
                <a:latin typeface="DM Sans"/>
                <a:ea typeface="DM Sans"/>
                <a:cs typeface="DM Sans"/>
                <a:sym typeface="DM Sans"/>
              </a:rPr>
              <a:t>6. The Role of WBS in Financial Accuracy</a:t>
            </a:r>
          </a:p>
          <a:p>
            <a:pPr algn="l">
              <a:lnSpc>
                <a:spcPts val="4049"/>
              </a:lnSpc>
            </a:pPr>
            <a:r>
              <a:rPr lang="en-US" sz="2487">
                <a:solidFill>
                  <a:srgbClr val="000000"/>
                </a:solidFill>
                <a:latin typeface="DM Sans"/>
                <a:ea typeface="DM Sans"/>
                <a:cs typeface="DM Sans"/>
                <a:sym typeface="DM Sans"/>
              </a:rPr>
              <a:t>7. Real Example 1</a:t>
            </a:r>
          </a:p>
          <a:p>
            <a:pPr algn="l">
              <a:lnSpc>
                <a:spcPts val="4049"/>
              </a:lnSpc>
            </a:pPr>
            <a:r>
              <a:rPr lang="en-US" sz="2487">
                <a:solidFill>
                  <a:srgbClr val="000000"/>
                </a:solidFill>
                <a:latin typeface="DM Sans"/>
                <a:ea typeface="DM Sans"/>
                <a:cs typeface="DM Sans"/>
                <a:sym typeface="DM Sans"/>
              </a:rPr>
              <a:t>8. Budgeting: Developing the Financial Baseline</a:t>
            </a:r>
          </a:p>
          <a:p>
            <a:pPr algn="l">
              <a:lnSpc>
                <a:spcPts val="4049"/>
              </a:lnSpc>
            </a:pPr>
            <a:r>
              <a:rPr lang="en-US" sz="2487">
                <a:solidFill>
                  <a:srgbClr val="000000"/>
                </a:solidFill>
                <a:latin typeface="DM Sans"/>
                <a:ea typeface="DM Sans"/>
                <a:cs typeface="DM Sans"/>
                <a:sym typeface="DM Sans"/>
              </a:rPr>
              <a:t>9. Managing the Unknown: Contingency and Management Reserves</a:t>
            </a:r>
          </a:p>
          <a:p>
            <a:pPr algn="l">
              <a:lnSpc>
                <a:spcPts val="4049"/>
              </a:lnSpc>
            </a:pPr>
            <a:r>
              <a:rPr lang="en-US" sz="2487">
                <a:solidFill>
                  <a:srgbClr val="000000"/>
                </a:solidFill>
                <a:latin typeface="DM Sans"/>
                <a:ea typeface="DM Sans"/>
                <a:cs typeface="DM Sans"/>
                <a:sym typeface="DM Sans"/>
              </a:rPr>
              <a:t>10. Cost Control and Earned Value Management (EVM)</a:t>
            </a:r>
          </a:p>
          <a:p>
            <a:pPr algn="l">
              <a:lnSpc>
                <a:spcPts val="4049"/>
              </a:lnSpc>
            </a:pPr>
            <a:r>
              <a:rPr lang="en-US" sz="2487">
                <a:solidFill>
                  <a:srgbClr val="000000"/>
                </a:solidFill>
                <a:latin typeface="DM Sans"/>
                <a:ea typeface="DM Sans"/>
                <a:cs typeface="DM Sans"/>
                <a:sym typeface="DM Sans"/>
              </a:rPr>
              <a:t>11. Real Example 2</a:t>
            </a:r>
          </a:p>
          <a:p>
            <a:pPr algn="l">
              <a:lnSpc>
                <a:spcPts val="4049"/>
              </a:lnSpc>
            </a:pPr>
            <a:r>
              <a:rPr lang="en-US" sz="2487">
                <a:solidFill>
                  <a:srgbClr val="000000"/>
                </a:solidFill>
                <a:latin typeface="DM Sans"/>
                <a:ea typeface="DM Sans"/>
                <a:cs typeface="DM Sans"/>
                <a:sym typeface="DM Sans"/>
              </a:rPr>
              <a:t>12. Overcoming Psychological Bias and "Scope Creep"</a:t>
            </a:r>
          </a:p>
          <a:p>
            <a:pPr algn="l">
              <a:lnSpc>
                <a:spcPts val="4049"/>
              </a:lnSpc>
            </a:pPr>
            <a:r>
              <a:rPr lang="en-US" sz="2487">
                <a:solidFill>
                  <a:srgbClr val="000000"/>
                </a:solidFill>
                <a:latin typeface="DM Sans"/>
                <a:ea typeface="DM Sans"/>
                <a:cs typeface="DM Sans"/>
                <a:sym typeface="DM Sans"/>
              </a:rPr>
              <a:t>13. Strategic Best Practices for ITPM Success</a:t>
            </a:r>
          </a:p>
          <a:p>
            <a:pPr algn="l">
              <a:lnSpc>
                <a:spcPts val="4049"/>
              </a:lnSpc>
            </a:pPr>
            <a:r>
              <a:rPr lang="en-US" sz="2487">
                <a:solidFill>
                  <a:srgbClr val="000000"/>
                </a:solidFill>
                <a:latin typeface="DM Sans"/>
                <a:ea typeface="DM Sans"/>
                <a:cs typeface="DM Sans"/>
                <a:sym typeface="DM Sans"/>
              </a:rPr>
              <a:t>14. Conclusion and Summary</a:t>
            </a:r>
          </a:p>
        </p:txBody>
      </p:sp>
      <p:sp>
        <p:nvSpPr>
          <p:cNvPr name="Freeform 7" id="7"/>
          <p:cNvSpPr/>
          <p:nvPr/>
        </p:nvSpPr>
        <p:spPr>
          <a:xfrm flipH="false" flipV="false" rot="0">
            <a:off x="10942260" y="212806"/>
            <a:ext cx="7345740" cy="10074194"/>
          </a:xfrm>
          <a:custGeom>
            <a:avLst/>
            <a:gdLst/>
            <a:ahLst/>
            <a:cxnLst/>
            <a:rect r="r" b="b" t="t" l="l"/>
            <a:pathLst>
              <a:path h="10074194" w="7345740">
                <a:moveTo>
                  <a:pt x="0" y="0"/>
                </a:moveTo>
                <a:lnTo>
                  <a:pt x="7345740" y="0"/>
                </a:lnTo>
                <a:lnTo>
                  <a:pt x="7345740" y="10074194"/>
                </a:lnTo>
                <a:lnTo>
                  <a:pt x="0" y="10074194"/>
                </a:lnTo>
                <a:lnTo>
                  <a:pt x="0" y="0"/>
                </a:lnTo>
                <a:close/>
              </a:path>
            </a:pathLst>
          </a:custGeom>
          <a:blipFill>
            <a:blip r:embed="rId3"/>
            <a:stretch>
              <a:fillRect l="-27807" t="0" r="-9335" b="0"/>
            </a:stretch>
          </a:blipFill>
        </p:spPr>
      </p:sp>
      <p:sp>
        <p:nvSpPr>
          <p:cNvPr name="TextBox 8" id="8"/>
          <p:cNvSpPr txBox="true"/>
          <p:nvPr/>
        </p:nvSpPr>
        <p:spPr>
          <a:xfrm rot="0">
            <a:off x="992238" y="712909"/>
            <a:ext cx="7442749" cy="968426"/>
          </a:xfrm>
          <a:prstGeom prst="rect">
            <a:avLst/>
          </a:prstGeom>
        </p:spPr>
        <p:txBody>
          <a:bodyPr anchor="t" rtlCol="false" tIns="0" lIns="0" bIns="0" rIns="0">
            <a:spAutoFit/>
          </a:bodyPr>
          <a:lstStyle/>
          <a:p>
            <a:pPr algn="l">
              <a:lnSpc>
                <a:spcPts val="7312"/>
              </a:lnSpc>
            </a:pPr>
            <a:r>
              <a:rPr lang="en-US" sz="5812">
                <a:solidFill>
                  <a:srgbClr val="020202"/>
                </a:solidFill>
                <a:latin typeface="PT Serif"/>
                <a:ea typeface="PT Serif"/>
                <a:cs typeface="PT Serif"/>
                <a:sym typeface="PT Serif"/>
              </a:rPr>
              <a:t>Presentation Plan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11462004" y="-5"/>
            <a:ext cx="6858000" cy="10287000"/>
            <a:chOff x="0" y="0"/>
            <a:chExt cx="9144000" cy="13716000"/>
          </a:xfrm>
        </p:grpSpPr>
        <p:sp>
          <p:nvSpPr>
            <p:cNvPr name="Freeform 7" id="7"/>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close/>
                </a:path>
              </a:pathLst>
            </a:custGeom>
            <a:solidFill>
              <a:srgbClr val="F2EEEE"/>
            </a:solidFill>
          </p:spPr>
        </p:sp>
      </p:grpSp>
      <p:grpSp>
        <p:nvGrpSpPr>
          <p:cNvPr name="Group 8" id="8"/>
          <p:cNvGrpSpPr/>
          <p:nvPr/>
        </p:nvGrpSpPr>
        <p:grpSpPr>
          <a:xfrm rot="0">
            <a:off x="11545043" y="724938"/>
            <a:ext cx="6627762" cy="8837114"/>
            <a:chOff x="0" y="0"/>
            <a:chExt cx="8837016" cy="11782819"/>
          </a:xfrm>
        </p:grpSpPr>
        <p:sp>
          <p:nvSpPr>
            <p:cNvPr name="Freeform 9" id="9"/>
            <p:cNvSpPr/>
            <p:nvPr/>
          </p:nvSpPr>
          <p:spPr>
            <a:xfrm flipH="false" flipV="false" rot="0">
              <a:off x="0" y="0"/>
              <a:ext cx="8837041" cy="11782806"/>
            </a:xfrm>
            <a:custGeom>
              <a:avLst/>
              <a:gdLst/>
              <a:ahLst/>
              <a:cxnLst/>
              <a:rect r="r" b="b" t="t" l="l"/>
              <a:pathLst>
                <a:path h="11782806" w="8837041">
                  <a:moveTo>
                    <a:pt x="0" y="0"/>
                  </a:moveTo>
                  <a:lnTo>
                    <a:pt x="8837041" y="0"/>
                  </a:lnTo>
                  <a:lnTo>
                    <a:pt x="8837041" y="11782806"/>
                  </a:lnTo>
                  <a:lnTo>
                    <a:pt x="0" y="11782806"/>
                  </a:lnTo>
                  <a:lnTo>
                    <a:pt x="0" y="0"/>
                  </a:lnTo>
                  <a:close/>
                </a:path>
              </a:pathLst>
            </a:custGeom>
            <a:blipFill>
              <a:blip r:embed="rId3"/>
              <a:stretch>
                <a:fillRect l="-16263" t="0" r="-16263" b="0"/>
              </a:stretch>
            </a:blipFill>
          </p:spPr>
        </p:sp>
      </p:grpSp>
      <p:grpSp>
        <p:nvGrpSpPr>
          <p:cNvPr name="Group 10" id="10"/>
          <p:cNvGrpSpPr/>
          <p:nvPr/>
        </p:nvGrpSpPr>
        <p:grpSpPr>
          <a:xfrm rot="0">
            <a:off x="806206" y="4723362"/>
            <a:ext cx="4815183" cy="2496741"/>
            <a:chOff x="0" y="0"/>
            <a:chExt cx="6420244" cy="3328988"/>
          </a:xfrm>
        </p:grpSpPr>
        <p:sp>
          <p:nvSpPr>
            <p:cNvPr name="Freeform 11" id="11"/>
            <p:cNvSpPr/>
            <p:nvPr/>
          </p:nvSpPr>
          <p:spPr>
            <a:xfrm flipH="false" flipV="false" rot="0">
              <a:off x="0" y="0"/>
              <a:ext cx="6420231" cy="3329051"/>
            </a:xfrm>
            <a:custGeom>
              <a:avLst/>
              <a:gdLst/>
              <a:ahLst/>
              <a:cxnLst/>
              <a:rect r="r" b="b" t="t" l="l"/>
              <a:pathLst>
                <a:path h="3329051" w="6420231">
                  <a:moveTo>
                    <a:pt x="0" y="46101"/>
                  </a:moveTo>
                  <a:cubicBezTo>
                    <a:pt x="0" y="20574"/>
                    <a:pt x="20574" y="0"/>
                    <a:pt x="46101" y="0"/>
                  </a:cubicBezTo>
                  <a:lnTo>
                    <a:pt x="6374130" y="0"/>
                  </a:lnTo>
                  <a:cubicBezTo>
                    <a:pt x="6399530" y="0"/>
                    <a:pt x="6420231" y="20574"/>
                    <a:pt x="6420231" y="46101"/>
                  </a:cubicBezTo>
                  <a:lnTo>
                    <a:pt x="6420231" y="3282950"/>
                  </a:lnTo>
                  <a:cubicBezTo>
                    <a:pt x="6420231" y="3308350"/>
                    <a:pt x="6399657" y="3329051"/>
                    <a:pt x="6374130" y="3329051"/>
                  </a:cubicBezTo>
                  <a:lnTo>
                    <a:pt x="46101" y="3329051"/>
                  </a:lnTo>
                  <a:cubicBezTo>
                    <a:pt x="20701" y="3329051"/>
                    <a:pt x="0" y="3308477"/>
                    <a:pt x="0" y="3282950"/>
                  </a:cubicBezTo>
                  <a:close/>
                </a:path>
              </a:pathLst>
            </a:custGeom>
            <a:solidFill>
              <a:srgbClr val="F2EEEE"/>
            </a:solidFill>
          </p:spPr>
        </p:sp>
      </p:grpSp>
      <p:grpSp>
        <p:nvGrpSpPr>
          <p:cNvPr name="Group 12" id="12"/>
          <p:cNvGrpSpPr/>
          <p:nvPr/>
        </p:nvGrpSpPr>
        <p:grpSpPr>
          <a:xfrm rot="0">
            <a:off x="1036434" y="4953591"/>
            <a:ext cx="691010" cy="691010"/>
            <a:chOff x="0" y="0"/>
            <a:chExt cx="921347" cy="921347"/>
          </a:xfrm>
        </p:grpSpPr>
        <p:sp>
          <p:nvSpPr>
            <p:cNvPr name="Freeform 13" id="13"/>
            <p:cNvSpPr/>
            <p:nvPr/>
          </p:nvSpPr>
          <p:spPr>
            <a:xfrm flipH="false" flipV="false" rot="0">
              <a:off x="0" y="0"/>
              <a:ext cx="921385" cy="921385"/>
            </a:xfrm>
            <a:custGeom>
              <a:avLst/>
              <a:gdLst/>
              <a:ahLst/>
              <a:cxnLst/>
              <a:rect r="r" b="b" t="t" l="l"/>
              <a:pathLst>
                <a:path h="921385" w="921385">
                  <a:moveTo>
                    <a:pt x="0" y="460629"/>
                  </a:moveTo>
                  <a:cubicBezTo>
                    <a:pt x="0" y="206248"/>
                    <a:pt x="206248" y="0"/>
                    <a:pt x="460629" y="0"/>
                  </a:cubicBezTo>
                  <a:cubicBezTo>
                    <a:pt x="715010" y="0"/>
                    <a:pt x="921385" y="206248"/>
                    <a:pt x="921385" y="460629"/>
                  </a:cubicBezTo>
                  <a:cubicBezTo>
                    <a:pt x="921385" y="715010"/>
                    <a:pt x="715137" y="921385"/>
                    <a:pt x="460629" y="921385"/>
                  </a:cubicBezTo>
                  <a:cubicBezTo>
                    <a:pt x="206121" y="921385"/>
                    <a:pt x="0" y="715137"/>
                    <a:pt x="0" y="460629"/>
                  </a:cubicBezTo>
                  <a:close/>
                </a:path>
              </a:pathLst>
            </a:custGeom>
            <a:solidFill>
              <a:srgbClr val="E04F00"/>
            </a:solidFill>
          </p:spPr>
        </p:sp>
      </p:grpSp>
      <p:sp>
        <p:nvSpPr>
          <p:cNvPr name="Freeform 14" id="14" descr="preencoded.png"/>
          <p:cNvSpPr/>
          <p:nvPr/>
        </p:nvSpPr>
        <p:spPr>
          <a:xfrm flipH="false" flipV="false" rot="0">
            <a:off x="1226496" y="5143500"/>
            <a:ext cx="310906" cy="310906"/>
          </a:xfrm>
          <a:custGeom>
            <a:avLst/>
            <a:gdLst/>
            <a:ahLst/>
            <a:cxnLst/>
            <a:rect r="r" b="b" t="t" l="l"/>
            <a:pathLst>
              <a:path h="310906" w="310906">
                <a:moveTo>
                  <a:pt x="0" y="0"/>
                </a:moveTo>
                <a:lnTo>
                  <a:pt x="310906" y="0"/>
                </a:lnTo>
                <a:lnTo>
                  <a:pt x="310906" y="310906"/>
                </a:lnTo>
                <a:lnTo>
                  <a:pt x="0" y="310906"/>
                </a:lnTo>
                <a:lnTo>
                  <a:pt x="0" y="0"/>
                </a:lnTo>
                <a:close/>
              </a:path>
            </a:pathLst>
          </a:custGeom>
          <a:blipFill>
            <a:blip r:embed="rId4">
              <a:extLst>
                <a:ext uri="{96DAC541-7B7A-43D3-8B79-37D633B846F1}">
                  <asvg:svgBlip xmlns:asvg="http://schemas.microsoft.com/office/drawing/2016/SVG/main" r:embed="rId5"/>
                </a:ext>
              </a:extLst>
            </a:blip>
            <a:stretch>
              <a:fillRect l="-15152" t="0" r="-15149" b="0"/>
            </a:stretch>
          </a:blipFill>
        </p:spPr>
      </p:sp>
      <p:grpSp>
        <p:nvGrpSpPr>
          <p:cNvPr name="Group 15" id="15"/>
          <p:cNvGrpSpPr/>
          <p:nvPr/>
        </p:nvGrpSpPr>
        <p:grpSpPr>
          <a:xfrm rot="0">
            <a:off x="5808459" y="4723362"/>
            <a:ext cx="4815335" cy="2496741"/>
            <a:chOff x="0" y="0"/>
            <a:chExt cx="6420447" cy="3328988"/>
          </a:xfrm>
        </p:grpSpPr>
        <p:sp>
          <p:nvSpPr>
            <p:cNvPr name="Freeform 16" id="16"/>
            <p:cNvSpPr/>
            <p:nvPr/>
          </p:nvSpPr>
          <p:spPr>
            <a:xfrm flipH="false" flipV="false" rot="0">
              <a:off x="0" y="0"/>
              <a:ext cx="6420485" cy="3329051"/>
            </a:xfrm>
            <a:custGeom>
              <a:avLst/>
              <a:gdLst/>
              <a:ahLst/>
              <a:cxnLst/>
              <a:rect r="r" b="b" t="t" l="l"/>
              <a:pathLst>
                <a:path h="3329051" w="6420485">
                  <a:moveTo>
                    <a:pt x="0" y="46101"/>
                  </a:moveTo>
                  <a:cubicBezTo>
                    <a:pt x="0" y="20574"/>
                    <a:pt x="20574" y="0"/>
                    <a:pt x="46101" y="0"/>
                  </a:cubicBezTo>
                  <a:lnTo>
                    <a:pt x="6374384" y="0"/>
                  </a:lnTo>
                  <a:cubicBezTo>
                    <a:pt x="6399784" y="0"/>
                    <a:pt x="6420485" y="20574"/>
                    <a:pt x="6420485" y="46101"/>
                  </a:cubicBezTo>
                  <a:lnTo>
                    <a:pt x="6420485" y="3282950"/>
                  </a:lnTo>
                  <a:cubicBezTo>
                    <a:pt x="6420485" y="3308350"/>
                    <a:pt x="6399911" y="3329051"/>
                    <a:pt x="6374384" y="3329051"/>
                  </a:cubicBezTo>
                  <a:lnTo>
                    <a:pt x="46101" y="3329051"/>
                  </a:lnTo>
                  <a:cubicBezTo>
                    <a:pt x="20701" y="3329051"/>
                    <a:pt x="0" y="3308477"/>
                    <a:pt x="0" y="3282950"/>
                  </a:cubicBezTo>
                  <a:close/>
                </a:path>
              </a:pathLst>
            </a:custGeom>
            <a:solidFill>
              <a:srgbClr val="F2EEEE"/>
            </a:solidFill>
          </p:spPr>
        </p:sp>
      </p:grpSp>
      <p:grpSp>
        <p:nvGrpSpPr>
          <p:cNvPr name="Group 17" id="17"/>
          <p:cNvGrpSpPr/>
          <p:nvPr/>
        </p:nvGrpSpPr>
        <p:grpSpPr>
          <a:xfrm rot="0">
            <a:off x="6038698" y="4953591"/>
            <a:ext cx="691010" cy="691010"/>
            <a:chOff x="0" y="0"/>
            <a:chExt cx="921347" cy="921347"/>
          </a:xfrm>
        </p:grpSpPr>
        <p:sp>
          <p:nvSpPr>
            <p:cNvPr name="Freeform 18" id="18"/>
            <p:cNvSpPr/>
            <p:nvPr/>
          </p:nvSpPr>
          <p:spPr>
            <a:xfrm flipH="false" flipV="false" rot="0">
              <a:off x="0" y="0"/>
              <a:ext cx="921385" cy="921385"/>
            </a:xfrm>
            <a:custGeom>
              <a:avLst/>
              <a:gdLst/>
              <a:ahLst/>
              <a:cxnLst/>
              <a:rect r="r" b="b" t="t" l="l"/>
              <a:pathLst>
                <a:path h="921385" w="921385">
                  <a:moveTo>
                    <a:pt x="0" y="460629"/>
                  </a:moveTo>
                  <a:cubicBezTo>
                    <a:pt x="0" y="206248"/>
                    <a:pt x="206248" y="0"/>
                    <a:pt x="460629" y="0"/>
                  </a:cubicBezTo>
                  <a:cubicBezTo>
                    <a:pt x="715010" y="0"/>
                    <a:pt x="921385" y="206248"/>
                    <a:pt x="921385" y="460629"/>
                  </a:cubicBezTo>
                  <a:cubicBezTo>
                    <a:pt x="921385" y="715010"/>
                    <a:pt x="715137" y="921385"/>
                    <a:pt x="460629" y="921385"/>
                  </a:cubicBezTo>
                  <a:cubicBezTo>
                    <a:pt x="206121" y="921385"/>
                    <a:pt x="0" y="715137"/>
                    <a:pt x="0" y="460629"/>
                  </a:cubicBezTo>
                  <a:close/>
                </a:path>
              </a:pathLst>
            </a:custGeom>
            <a:solidFill>
              <a:srgbClr val="E04F00"/>
            </a:solidFill>
          </p:spPr>
        </p:sp>
      </p:grpSp>
      <p:sp>
        <p:nvSpPr>
          <p:cNvPr name="Freeform 19" id="19" descr="preencoded.png"/>
          <p:cNvSpPr/>
          <p:nvPr/>
        </p:nvSpPr>
        <p:spPr>
          <a:xfrm flipH="false" flipV="false" rot="0">
            <a:off x="6228759" y="5143500"/>
            <a:ext cx="310906" cy="310906"/>
          </a:xfrm>
          <a:custGeom>
            <a:avLst/>
            <a:gdLst/>
            <a:ahLst/>
            <a:cxnLst/>
            <a:rect r="r" b="b" t="t" l="l"/>
            <a:pathLst>
              <a:path h="310906" w="310906">
                <a:moveTo>
                  <a:pt x="0" y="0"/>
                </a:moveTo>
                <a:lnTo>
                  <a:pt x="310906" y="0"/>
                </a:lnTo>
                <a:lnTo>
                  <a:pt x="310906" y="310906"/>
                </a:lnTo>
                <a:lnTo>
                  <a:pt x="0" y="3109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0" id="20"/>
          <p:cNvGrpSpPr/>
          <p:nvPr/>
        </p:nvGrpSpPr>
        <p:grpSpPr>
          <a:xfrm rot="0">
            <a:off x="806206" y="7407173"/>
            <a:ext cx="9817598" cy="2162766"/>
            <a:chOff x="0" y="0"/>
            <a:chExt cx="13090131" cy="2883687"/>
          </a:xfrm>
        </p:grpSpPr>
        <p:sp>
          <p:nvSpPr>
            <p:cNvPr name="Freeform 21" id="21"/>
            <p:cNvSpPr/>
            <p:nvPr/>
          </p:nvSpPr>
          <p:spPr>
            <a:xfrm flipH="false" flipV="false" rot="0">
              <a:off x="0" y="0"/>
              <a:ext cx="13090144" cy="2883662"/>
            </a:xfrm>
            <a:custGeom>
              <a:avLst/>
              <a:gdLst/>
              <a:ahLst/>
              <a:cxnLst/>
              <a:rect r="r" b="b" t="t" l="l"/>
              <a:pathLst>
                <a:path h="2883662" w="13090144">
                  <a:moveTo>
                    <a:pt x="0" y="46101"/>
                  </a:moveTo>
                  <a:cubicBezTo>
                    <a:pt x="0" y="20574"/>
                    <a:pt x="20574" y="0"/>
                    <a:pt x="46101" y="0"/>
                  </a:cubicBezTo>
                  <a:lnTo>
                    <a:pt x="13044043" y="0"/>
                  </a:lnTo>
                  <a:cubicBezTo>
                    <a:pt x="13069443" y="0"/>
                    <a:pt x="13090144" y="20574"/>
                    <a:pt x="13090144" y="46101"/>
                  </a:cubicBezTo>
                  <a:lnTo>
                    <a:pt x="13090144" y="2837561"/>
                  </a:lnTo>
                  <a:cubicBezTo>
                    <a:pt x="13090144" y="2862961"/>
                    <a:pt x="13069570" y="2883662"/>
                    <a:pt x="13044043" y="2883662"/>
                  </a:cubicBezTo>
                  <a:lnTo>
                    <a:pt x="46101" y="2883662"/>
                  </a:lnTo>
                  <a:cubicBezTo>
                    <a:pt x="20701" y="2883662"/>
                    <a:pt x="0" y="2863088"/>
                    <a:pt x="0" y="2837561"/>
                  </a:cubicBezTo>
                  <a:close/>
                </a:path>
              </a:pathLst>
            </a:custGeom>
            <a:solidFill>
              <a:srgbClr val="F2EEEE"/>
            </a:solidFill>
          </p:spPr>
        </p:sp>
      </p:grpSp>
      <p:grpSp>
        <p:nvGrpSpPr>
          <p:cNvPr name="Group 22" id="22"/>
          <p:cNvGrpSpPr/>
          <p:nvPr/>
        </p:nvGrpSpPr>
        <p:grpSpPr>
          <a:xfrm rot="0">
            <a:off x="1036434" y="7637412"/>
            <a:ext cx="691010" cy="691010"/>
            <a:chOff x="0" y="0"/>
            <a:chExt cx="921347" cy="921347"/>
          </a:xfrm>
        </p:grpSpPr>
        <p:sp>
          <p:nvSpPr>
            <p:cNvPr name="Freeform 23" id="23"/>
            <p:cNvSpPr/>
            <p:nvPr/>
          </p:nvSpPr>
          <p:spPr>
            <a:xfrm flipH="false" flipV="false" rot="0">
              <a:off x="0" y="0"/>
              <a:ext cx="921385" cy="921385"/>
            </a:xfrm>
            <a:custGeom>
              <a:avLst/>
              <a:gdLst/>
              <a:ahLst/>
              <a:cxnLst/>
              <a:rect r="r" b="b" t="t" l="l"/>
              <a:pathLst>
                <a:path h="921385" w="921385">
                  <a:moveTo>
                    <a:pt x="0" y="460629"/>
                  </a:moveTo>
                  <a:cubicBezTo>
                    <a:pt x="0" y="206248"/>
                    <a:pt x="206248" y="0"/>
                    <a:pt x="460629" y="0"/>
                  </a:cubicBezTo>
                  <a:cubicBezTo>
                    <a:pt x="715010" y="0"/>
                    <a:pt x="921385" y="206248"/>
                    <a:pt x="921385" y="460629"/>
                  </a:cubicBezTo>
                  <a:cubicBezTo>
                    <a:pt x="921385" y="715010"/>
                    <a:pt x="715137" y="921385"/>
                    <a:pt x="460629" y="921385"/>
                  </a:cubicBezTo>
                  <a:cubicBezTo>
                    <a:pt x="206121" y="921385"/>
                    <a:pt x="0" y="715137"/>
                    <a:pt x="0" y="460629"/>
                  </a:cubicBezTo>
                  <a:close/>
                </a:path>
              </a:pathLst>
            </a:custGeom>
            <a:solidFill>
              <a:srgbClr val="E04F00"/>
            </a:solidFill>
          </p:spPr>
        </p:sp>
      </p:grpSp>
      <p:sp>
        <p:nvSpPr>
          <p:cNvPr name="Freeform 24" id="24" descr="preencoded.png"/>
          <p:cNvSpPr/>
          <p:nvPr/>
        </p:nvSpPr>
        <p:spPr>
          <a:xfrm flipH="false" flipV="false" rot="0">
            <a:off x="1226496" y="7827321"/>
            <a:ext cx="310906" cy="310906"/>
          </a:xfrm>
          <a:custGeom>
            <a:avLst/>
            <a:gdLst/>
            <a:ahLst/>
            <a:cxnLst/>
            <a:rect r="r" b="b" t="t" l="l"/>
            <a:pathLst>
              <a:path h="310906" w="310906">
                <a:moveTo>
                  <a:pt x="0" y="0"/>
                </a:moveTo>
                <a:lnTo>
                  <a:pt x="310906" y="0"/>
                </a:lnTo>
                <a:lnTo>
                  <a:pt x="310906" y="310906"/>
                </a:lnTo>
                <a:lnTo>
                  <a:pt x="0" y="310906"/>
                </a:lnTo>
                <a:lnTo>
                  <a:pt x="0" y="0"/>
                </a:lnTo>
                <a:close/>
              </a:path>
            </a:pathLst>
          </a:custGeom>
          <a:blipFill>
            <a:blip r:embed="rId8">
              <a:extLst>
                <a:ext uri="{96DAC541-7B7A-43D3-8B79-37D633B846F1}">
                  <asvg:svgBlip xmlns:asvg="http://schemas.microsoft.com/office/drawing/2016/SVG/main" r:embed="rId9"/>
                </a:ext>
              </a:extLst>
            </a:blip>
            <a:stretch>
              <a:fillRect l="-6059" t="0" r="-6059" b="0"/>
            </a:stretch>
          </a:blipFill>
        </p:spPr>
      </p:sp>
      <p:sp>
        <p:nvSpPr>
          <p:cNvPr name="TextBox 25" id="25"/>
          <p:cNvSpPr txBox="true"/>
          <p:nvPr/>
        </p:nvSpPr>
        <p:spPr>
          <a:xfrm rot="0">
            <a:off x="806206" y="697859"/>
            <a:ext cx="9817598" cy="1530553"/>
          </a:xfrm>
          <a:prstGeom prst="rect">
            <a:avLst/>
          </a:prstGeom>
        </p:spPr>
        <p:txBody>
          <a:bodyPr anchor="t" rtlCol="false" tIns="0" lIns="0" bIns="0" rIns="0">
            <a:spAutoFit/>
          </a:bodyPr>
          <a:lstStyle/>
          <a:p>
            <a:pPr algn="l">
              <a:lnSpc>
                <a:spcPts val="5937"/>
              </a:lnSpc>
            </a:pPr>
            <a:r>
              <a:rPr lang="en-US" sz="4750">
                <a:solidFill>
                  <a:srgbClr val="020202"/>
                </a:solidFill>
                <a:latin typeface="PT Serif"/>
                <a:ea typeface="PT Serif"/>
                <a:cs typeface="PT Serif"/>
                <a:sym typeface="PT Serif"/>
              </a:rPr>
              <a:t>The Core Pillars of IT Cost Estimation</a:t>
            </a:r>
          </a:p>
        </p:txBody>
      </p:sp>
      <p:sp>
        <p:nvSpPr>
          <p:cNvPr name="TextBox 26" id="26"/>
          <p:cNvSpPr txBox="true"/>
          <p:nvPr/>
        </p:nvSpPr>
        <p:spPr>
          <a:xfrm rot="0">
            <a:off x="806206" y="2461470"/>
            <a:ext cx="9587351" cy="2069980"/>
          </a:xfrm>
          <a:prstGeom prst="rect">
            <a:avLst/>
          </a:prstGeom>
        </p:spPr>
        <p:txBody>
          <a:bodyPr anchor="t" rtlCol="false" tIns="0" lIns="0" bIns="0" rIns="0">
            <a:spAutoFit/>
          </a:bodyPr>
          <a:lstStyle/>
          <a:p>
            <a:pPr algn="l">
              <a:lnSpc>
                <a:spcPts val="3362"/>
              </a:lnSpc>
            </a:pPr>
            <a:r>
              <a:rPr lang="en-US" sz="2322">
                <a:solidFill>
                  <a:srgbClr val="000000"/>
                </a:solidFill>
                <a:latin typeface="DM Sans"/>
                <a:ea typeface="DM Sans"/>
                <a:cs typeface="DM Sans"/>
                <a:sym typeface="DM Sans"/>
              </a:rPr>
              <a:t>Good</a:t>
            </a:r>
            <a:r>
              <a:rPr lang="en-US" sz="2322">
                <a:solidFill>
                  <a:srgbClr val="000000"/>
                </a:solidFill>
                <a:latin typeface="DM Sans"/>
                <a:ea typeface="DM Sans"/>
                <a:cs typeface="DM Sans"/>
                <a:sym typeface="DM Sans"/>
              </a:rPr>
              <a:t> IT estimation relies on People, Process, and Technology.</a:t>
            </a:r>
          </a:p>
          <a:p>
            <a:pPr algn="l">
              <a:lnSpc>
                <a:spcPts val="3362"/>
              </a:lnSpc>
            </a:pPr>
            <a:r>
              <a:rPr lang="en-US" sz="2322">
                <a:solidFill>
                  <a:srgbClr val="000000"/>
                </a:solidFill>
                <a:latin typeface="DM Sans"/>
                <a:ea typeface="DM Sans"/>
                <a:cs typeface="DM Sans"/>
                <a:sym typeface="DM Sans"/>
              </a:rPr>
              <a:t>Pe</a:t>
            </a:r>
            <a:r>
              <a:rPr lang="en-US" sz="2322">
                <a:solidFill>
                  <a:srgbClr val="000000"/>
                </a:solidFill>
                <a:latin typeface="DM Sans"/>
                <a:ea typeface="DM Sans"/>
                <a:cs typeface="DM Sans"/>
                <a:sym typeface="DM Sans"/>
              </a:rPr>
              <a:t>ople are your biggest expense, including developers and security experts. You also need to budget for cloud services, hardware, licenses, and the cost of fixing old code. Mastering these areas turns random guesses into accurate, data-driven budgets.</a:t>
            </a:r>
          </a:p>
        </p:txBody>
      </p:sp>
      <p:sp>
        <p:nvSpPr>
          <p:cNvPr name="TextBox 27" id="27"/>
          <p:cNvSpPr txBox="true"/>
          <p:nvPr/>
        </p:nvSpPr>
        <p:spPr>
          <a:xfrm rot="0">
            <a:off x="1036434" y="5822156"/>
            <a:ext cx="3023597" cy="387553"/>
          </a:xfrm>
          <a:prstGeom prst="rect">
            <a:avLst/>
          </a:prstGeom>
        </p:spPr>
        <p:txBody>
          <a:bodyPr anchor="t" rtlCol="false" tIns="0" lIns="0" bIns="0" rIns="0">
            <a:spAutoFit/>
          </a:bodyPr>
          <a:lstStyle/>
          <a:p>
            <a:pPr algn="l">
              <a:lnSpc>
                <a:spcPts val="2937"/>
              </a:lnSpc>
            </a:pPr>
            <a:r>
              <a:rPr lang="en-US" sz="2375">
                <a:solidFill>
                  <a:srgbClr val="000000"/>
                </a:solidFill>
                <a:latin typeface="PT Serif"/>
                <a:ea typeface="PT Serif"/>
                <a:cs typeface="PT Serif"/>
                <a:sym typeface="PT Serif"/>
              </a:rPr>
              <a:t>People</a:t>
            </a:r>
          </a:p>
        </p:txBody>
      </p:sp>
      <p:sp>
        <p:nvSpPr>
          <p:cNvPr name="TextBox 28" id="28"/>
          <p:cNvSpPr txBox="true"/>
          <p:nvPr/>
        </p:nvSpPr>
        <p:spPr>
          <a:xfrm rot="0">
            <a:off x="1036434" y="6274298"/>
            <a:ext cx="4354716" cy="715566"/>
          </a:xfrm>
          <a:prstGeom prst="rect">
            <a:avLst/>
          </a:prstGeom>
        </p:spPr>
        <p:txBody>
          <a:bodyPr anchor="t" rtlCol="false" tIns="0" lIns="0" bIns="0" rIns="0">
            <a:spAutoFit/>
          </a:bodyPr>
          <a:lstStyle/>
          <a:p>
            <a:pPr algn="l">
              <a:lnSpc>
                <a:spcPts val="2625"/>
              </a:lnSpc>
            </a:pPr>
            <a:r>
              <a:rPr lang="en-US" sz="1812">
                <a:solidFill>
                  <a:srgbClr val="000000"/>
                </a:solidFill>
                <a:latin typeface="DM Sans"/>
                <a:ea typeface="DM Sans"/>
                <a:cs typeface="DM Sans"/>
                <a:sym typeface="DM Sans"/>
              </a:rPr>
              <a:t>Specialized labor of developers, architects, and security experts</a:t>
            </a:r>
          </a:p>
        </p:txBody>
      </p:sp>
      <p:sp>
        <p:nvSpPr>
          <p:cNvPr name="TextBox 29" id="29"/>
          <p:cNvSpPr txBox="true"/>
          <p:nvPr/>
        </p:nvSpPr>
        <p:spPr>
          <a:xfrm rot="0">
            <a:off x="6038698" y="5822156"/>
            <a:ext cx="3023597" cy="387553"/>
          </a:xfrm>
          <a:prstGeom prst="rect">
            <a:avLst/>
          </a:prstGeom>
        </p:spPr>
        <p:txBody>
          <a:bodyPr anchor="t" rtlCol="false" tIns="0" lIns="0" bIns="0" rIns="0">
            <a:spAutoFit/>
          </a:bodyPr>
          <a:lstStyle/>
          <a:p>
            <a:pPr algn="l">
              <a:lnSpc>
                <a:spcPts val="2937"/>
              </a:lnSpc>
            </a:pPr>
            <a:r>
              <a:rPr lang="en-US" sz="2375">
                <a:solidFill>
                  <a:srgbClr val="000000"/>
                </a:solidFill>
                <a:latin typeface="PT Serif"/>
                <a:ea typeface="PT Serif"/>
                <a:cs typeface="PT Serif"/>
                <a:sym typeface="PT Serif"/>
              </a:rPr>
              <a:t>Process</a:t>
            </a:r>
          </a:p>
        </p:txBody>
      </p:sp>
      <p:sp>
        <p:nvSpPr>
          <p:cNvPr name="TextBox 30" id="30"/>
          <p:cNvSpPr txBox="true"/>
          <p:nvPr/>
        </p:nvSpPr>
        <p:spPr>
          <a:xfrm rot="0">
            <a:off x="6038698" y="6274298"/>
            <a:ext cx="4354859" cy="715566"/>
          </a:xfrm>
          <a:prstGeom prst="rect">
            <a:avLst/>
          </a:prstGeom>
        </p:spPr>
        <p:txBody>
          <a:bodyPr anchor="t" rtlCol="false" tIns="0" lIns="0" bIns="0" rIns="0">
            <a:spAutoFit/>
          </a:bodyPr>
          <a:lstStyle/>
          <a:p>
            <a:pPr algn="l">
              <a:lnSpc>
                <a:spcPts val="2625"/>
              </a:lnSpc>
            </a:pPr>
            <a:r>
              <a:rPr lang="en-US" sz="1812">
                <a:solidFill>
                  <a:srgbClr val="000000"/>
                </a:solidFill>
                <a:latin typeface="DM Sans"/>
                <a:ea typeface="DM Sans"/>
                <a:cs typeface="DM Sans"/>
                <a:sym typeface="DM Sans"/>
              </a:rPr>
              <a:t>Infrastructure, cloud services, and hardware requirements</a:t>
            </a:r>
          </a:p>
        </p:txBody>
      </p:sp>
      <p:sp>
        <p:nvSpPr>
          <p:cNvPr name="TextBox 31" id="31"/>
          <p:cNvSpPr txBox="true"/>
          <p:nvPr/>
        </p:nvSpPr>
        <p:spPr>
          <a:xfrm rot="0">
            <a:off x="1036434" y="8505977"/>
            <a:ext cx="3023597" cy="387553"/>
          </a:xfrm>
          <a:prstGeom prst="rect">
            <a:avLst/>
          </a:prstGeom>
        </p:spPr>
        <p:txBody>
          <a:bodyPr anchor="t" rtlCol="false" tIns="0" lIns="0" bIns="0" rIns="0">
            <a:spAutoFit/>
          </a:bodyPr>
          <a:lstStyle/>
          <a:p>
            <a:pPr algn="l">
              <a:lnSpc>
                <a:spcPts val="2937"/>
              </a:lnSpc>
            </a:pPr>
            <a:r>
              <a:rPr lang="en-US" sz="2375">
                <a:solidFill>
                  <a:srgbClr val="000000"/>
                </a:solidFill>
                <a:latin typeface="PT Serif"/>
                <a:ea typeface="PT Serif"/>
                <a:cs typeface="PT Serif"/>
                <a:sym typeface="PT Serif"/>
              </a:rPr>
              <a:t>Technology</a:t>
            </a:r>
          </a:p>
        </p:txBody>
      </p:sp>
      <p:sp>
        <p:nvSpPr>
          <p:cNvPr name="TextBox 32" id="32"/>
          <p:cNvSpPr txBox="true"/>
          <p:nvPr/>
        </p:nvSpPr>
        <p:spPr>
          <a:xfrm rot="0">
            <a:off x="1036434" y="8958110"/>
            <a:ext cx="9357122" cy="381591"/>
          </a:xfrm>
          <a:prstGeom prst="rect">
            <a:avLst/>
          </a:prstGeom>
        </p:spPr>
        <p:txBody>
          <a:bodyPr anchor="t" rtlCol="false" tIns="0" lIns="0" bIns="0" rIns="0">
            <a:spAutoFit/>
          </a:bodyPr>
          <a:lstStyle/>
          <a:p>
            <a:pPr algn="l">
              <a:lnSpc>
                <a:spcPts val="2625"/>
              </a:lnSpc>
            </a:pPr>
            <a:r>
              <a:rPr lang="en-US" sz="1812">
                <a:solidFill>
                  <a:srgbClr val="000000"/>
                </a:solidFill>
                <a:latin typeface="DM Sans"/>
                <a:ea typeface="DM Sans"/>
                <a:cs typeface="DM Sans"/>
                <a:sym typeface="DM Sans"/>
              </a:rPr>
              <a:t>Software licensing and hidden costs of technical debt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914248"/>
            <a:ext cx="15493756" cy="968426"/>
          </a:xfrm>
          <a:prstGeom prst="rect">
            <a:avLst/>
          </a:prstGeom>
        </p:spPr>
        <p:txBody>
          <a:bodyPr anchor="t" rtlCol="false" tIns="0" lIns="0" bIns="0" rIns="0">
            <a:spAutoFit/>
          </a:bodyPr>
          <a:lstStyle/>
          <a:p>
            <a:pPr algn="l">
              <a:lnSpc>
                <a:spcPts val="7312"/>
              </a:lnSpc>
            </a:pPr>
            <a:r>
              <a:rPr lang="en-US" sz="5812">
                <a:solidFill>
                  <a:srgbClr val="020202"/>
                </a:solidFill>
                <a:latin typeface="PT Serif"/>
                <a:ea typeface="PT Serif"/>
                <a:cs typeface="PT Serif"/>
                <a:sym typeface="PT Serif"/>
              </a:rPr>
              <a:t>Methodologies: From Top-Down to Bottom-Up</a:t>
            </a:r>
          </a:p>
        </p:txBody>
      </p:sp>
      <p:sp>
        <p:nvSpPr>
          <p:cNvPr name="TextBox 7" id="7"/>
          <p:cNvSpPr txBox="true"/>
          <p:nvPr/>
        </p:nvSpPr>
        <p:spPr>
          <a:xfrm rot="0">
            <a:off x="992238" y="2316366"/>
            <a:ext cx="16303523" cy="617085"/>
          </a:xfrm>
          <a:prstGeom prst="rect">
            <a:avLst/>
          </a:prstGeom>
        </p:spPr>
        <p:txBody>
          <a:bodyPr anchor="t" rtlCol="false" tIns="0" lIns="0" bIns="0" rIns="0">
            <a:spAutoFit/>
          </a:bodyPr>
          <a:lstStyle/>
          <a:p>
            <a:pPr algn="l">
              <a:lnSpc>
                <a:spcPts val="5191"/>
              </a:lnSpc>
            </a:pPr>
            <a:r>
              <a:rPr lang="en-US" sz="3187">
                <a:solidFill>
                  <a:srgbClr val="000000"/>
                </a:solidFill>
                <a:latin typeface="DM Sans"/>
                <a:ea typeface="DM Sans"/>
                <a:cs typeface="DM Sans"/>
                <a:sym typeface="DM Sans"/>
              </a:rPr>
              <a:t>Choosing the right approach depends on the project's current phase.</a:t>
            </a:r>
          </a:p>
        </p:txBody>
      </p:sp>
      <p:grpSp>
        <p:nvGrpSpPr>
          <p:cNvPr name="Group 8" id="8"/>
          <p:cNvGrpSpPr/>
          <p:nvPr/>
        </p:nvGrpSpPr>
        <p:grpSpPr>
          <a:xfrm rot="0">
            <a:off x="973188" y="3522164"/>
            <a:ext cx="5073853" cy="5512594"/>
            <a:chOff x="0" y="0"/>
            <a:chExt cx="6765138" cy="7350125"/>
          </a:xfrm>
        </p:grpSpPr>
        <p:sp>
          <p:nvSpPr>
            <p:cNvPr name="Freeform 9" id="9"/>
            <p:cNvSpPr/>
            <p:nvPr/>
          </p:nvSpPr>
          <p:spPr>
            <a:xfrm flipH="false" flipV="false" rot="0">
              <a:off x="25400" y="25400"/>
              <a:ext cx="6714363" cy="7299325"/>
            </a:xfrm>
            <a:custGeom>
              <a:avLst/>
              <a:gdLst/>
              <a:ahLst/>
              <a:cxnLst/>
              <a:rect r="r" b="b" t="t" l="l"/>
              <a:pathLst>
                <a:path h="7299325" w="6714363">
                  <a:moveTo>
                    <a:pt x="0" y="243967"/>
                  </a:moveTo>
                  <a:cubicBezTo>
                    <a:pt x="0" y="109220"/>
                    <a:pt x="109220" y="0"/>
                    <a:pt x="243840" y="0"/>
                  </a:cubicBezTo>
                  <a:lnTo>
                    <a:pt x="6470523" y="0"/>
                  </a:lnTo>
                  <a:cubicBezTo>
                    <a:pt x="6605143" y="0"/>
                    <a:pt x="6714363" y="109220"/>
                    <a:pt x="6714363" y="243967"/>
                  </a:cubicBezTo>
                  <a:lnTo>
                    <a:pt x="6714363" y="7055358"/>
                  </a:lnTo>
                  <a:cubicBezTo>
                    <a:pt x="6714363" y="7190105"/>
                    <a:pt x="6605143" y="7299325"/>
                    <a:pt x="6470523" y="7299325"/>
                  </a:cubicBezTo>
                  <a:lnTo>
                    <a:pt x="243840" y="7299325"/>
                  </a:lnTo>
                  <a:cubicBezTo>
                    <a:pt x="109220" y="7299325"/>
                    <a:pt x="0" y="7190105"/>
                    <a:pt x="0" y="7055358"/>
                  </a:cubicBezTo>
                  <a:close/>
                </a:path>
              </a:pathLst>
            </a:custGeom>
            <a:solidFill>
              <a:srgbClr val="FFFFFF"/>
            </a:solidFill>
          </p:spPr>
        </p:sp>
        <p:sp>
          <p:nvSpPr>
            <p:cNvPr name="Freeform 10" id="10"/>
            <p:cNvSpPr/>
            <p:nvPr/>
          </p:nvSpPr>
          <p:spPr>
            <a:xfrm flipH="false" flipV="false" rot="0">
              <a:off x="0" y="0"/>
              <a:ext cx="6765163" cy="7350125"/>
            </a:xfrm>
            <a:custGeom>
              <a:avLst/>
              <a:gdLst/>
              <a:ahLst/>
              <a:cxnLst/>
              <a:rect r="r" b="b" t="t" l="l"/>
              <a:pathLst>
                <a:path h="7350125" w="6765163">
                  <a:moveTo>
                    <a:pt x="0" y="269367"/>
                  </a:moveTo>
                  <a:cubicBezTo>
                    <a:pt x="0" y="120650"/>
                    <a:pt x="120523" y="0"/>
                    <a:pt x="269240" y="0"/>
                  </a:cubicBezTo>
                  <a:lnTo>
                    <a:pt x="6495923" y="0"/>
                  </a:lnTo>
                  <a:lnTo>
                    <a:pt x="6495923" y="25400"/>
                  </a:lnTo>
                  <a:lnTo>
                    <a:pt x="6495923" y="0"/>
                  </a:lnTo>
                  <a:cubicBezTo>
                    <a:pt x="6644640" y="0"/>
                    <a:pt x="6765163" y="120650"/>
                    <a:pt x="6765163" y="269367"/>
                  </a:cubicBezTo>
                  <a:lnTo>
                    <a:pt x="6739763" y="269367"/>
                  </a:lnTo>
                  <a:lnTo>
                    <a:pt x="6765163" y="269367"/>
                  </a:lnTo>
                  <a:lnTo>
                    <a:pt x="6765163" y="7080758"/>
                  </a:lnTo>
                  <a:lnTo>
                    <a:pt x="6739763" y="7080758"/>
                  </a:lnTo>
                  <a:lnTo>
                    <a:pt x="6765163" y="7080758"/>
                  </a:lnTo>
                  <a:cubicBezTo>
                    <a:pt x="6765163" y="7229475"/>
                    <a:pt x="6644640" y="7350125"/>
                    <a:pt x="6495923" y="7350125"/>
                  </a:cubicBezTo>
                  <a:lnTo>
                    <a:pt x="6495923" y="7324725"/>
                  </a:lnTo>
                  <a:lnTo>
                    <a:pt x="6495923" y="7350125"/>
                  </a:lnTo>
                  <a:lnTo>
                    <a:pt x="269240" y="7350125"/>
                  </a:lnTo>
                  <a:lnTo>
                    <a:pt x="269240" y="7324725"/>
                  </a:lnTo>
                  <a:lnTo>
                    <a:pt x="269240" y="7350125"/>
                  </a:lnTo>
                  <a:cubicBezTo>
                    <a:pt x="120523" y="7350125"/>
                    <a:pt x="0" y="7229475"/>
                    <a:pt x="0" y="7080758"/>
                  </a:cubicBezTo>
                  <a:lnTo>
                    <a:pt x="0" y="269367"/>
                  </a:lnTo>
                  <a:lnTo>
                    <a:pt x="25400" y="269367"/>
                  </a:lnTo>
                  <a:lnTo>
                    <a:pt x="0" y="269367"/>
                  </a:lnTo>
                  <a:moveTo>
                    <a:pt x="50800" y="269367"/>
                  </a:moveTo>
                  <a:lnTo>
                    <a:pt x="50800" y="7080758"/>
                  </a:lnTo>
                  <a:lnTo>
                    <a:pt x="25400" y="7080758"/>
                  </a:lnTo>
                  <a:lnTo>
                    <a:pt x="50800" y="7080758"/>
                  </a:lnTo>
                  <a:cubicBezTo>
                    <a:pt x="50800" y="7201535"/>
                    <a:pt x="148590" y="7299325"/>
                    <a:pt x="269240" y="7299325"/>
                  </a:cubicBezTo>
                  <a:lnTo>
                    <a:pt x="6495923" y="7299325"/>
                  </a:lnTo>
                  <a:cubicBezTo>
                    <a:pt x="6616573" y="7299325"/>
                    <a:pt x="6714363" y="7201408"/>
                    <a:pt x="6714363" y="7080758"/>
                  </a:cubicBezTo>
                  <a:lnTo>
                    <a:pt x="6714363" y="269367"/>
                  </a:lnTo>
                  <a:cubicBezTo>
                    <a:pt x="6714363" y="148590"/>
                    <a:pt x="6616573" y="50800"/>
                    <a:pt x="6495923" y="50800"/>
                  </a:cubicBezTo>
                  <a:lnTo>
                    <a:pt x="269240" y="50800"/>
                  </a:lnTo>
                  <a:lnTo>
                    <a:pt x="269240" y="25400"/>
                  </a:lnTo>
                  <a:lnTo>
                    <a:pt x="269240" y="50800"/>
                  </a:lnTo>
                  <a:cubicBezTo>
                    <a:pt x="148590" y="50800"/>
                    <a:pt x="50800" y="148717"/>
                    <a:pt x="50800" y="269367"/>
                  </a:cubicBezTo>
                  <a:close/>
                </a:path>
              </a:pathLst>
            </a:custGeom>
            <a:solidFill>
              <a:srgbClr val="D8D4D4"/>
            </a:solidFill>
          </p:spPr>
        </p:sp>
      </p:grpSp>
      <p:grpSp>
        <p:nvGrpSpPr>
          <p:cNvPr name="Group 11" id="11"/>
          <p:cNvGrpSpPr/>
          <p:nvPr/>
        </p:nvGrpSpPr>
        <p:grpSpPr>
          <a:xfrm rot="0">
            <a:off x="954138" y="3541214"/>
            <a:ext cx="152400" cy="5474494"/>
            <a:chOff x="0" y="0"/>
            <a:chExt cx="203200" cy="7299325"/>
          </a:xfrm>
        </p:grpSpPr>
        <p:sp>
          <p:nvSpPr>
            <p:cNvPr name="Freeform 12" id="12"/>
            <p:cNvSpPr/>
            <p:nvPr/>
          </p:nvSpPr>
          <p:spPr>
            <a:xfrm flipH="false" flipV="false" rot="0">
              <a:off x="0" y="0"/>
              <a:ext cx="203200" cy="7299325"/>
            </a:xfrm>
            <a:custGeom>
              <a:avLst/>
              <a:gdLst/>
              <a:ahLst/>
              <a:cxnLst/>
              <a:rect r="r" b="b" t="t" l="l"/>
              <a:pathLst>
                <a:path h="7299325" w="203200">
                  <a:moveTo>
                    <a:pt x="0" y="56769"/>
                  </a:moveTo>
                  <a:cubicBezTo>
                    <a:pt x="0" y="25400"/>
                    <a:pt x="25400" y="0"/>
                    <a:pt x="56769" y="0"/>
                  </a:cubicBezTo>
                  <a:lnTo>
                    <a:pt x="146558" y="0"/>
                  </a:lnTo>
                  <a:cubicBezTo>
                    <a:pt x="177800" y="0"/>
                    <a:pt x="203200" y="25400"/>
                    <a:pt x="203200" y="56769"/>
                  </a:cubicBezTo>
                  <a:lnTo>
                    <a:pt x="203200" y="7242556"/>
                  </a:lnTo>
                  <a:cubicBezTo>
                    <a:pt x="203200" y="7273925"/>
                    <a:pt x="177800" y="7299325"/>
                    <a:pt x="146431" y="7299325"/>
                  </a:cubicBezTo>
                  <a:lnTo>
                    <a:pt x="56769" y="7299325"/>
                  </a:lnTo>
                  <a:cubicBezTo>
                    <a:pt x="25400" y="7299325"/>
                    <a:pt x="0" y="7273925"/>
                    <a:pt x="0" y="7242556"/>
                  </a:cubicBezTo>
                  <a:close/>
                </a:path>
              </a:pathLst>
            </a:custGeom>
            <a:solidFill>
              <a:srgbClr val="E04F00"/>
            </a:solidFill>
          </p:spPr>
        </p:sp>
      </p:grpSp>
      <p:sp>
        <p:nvSpPr>
          <p:cNvPr name="TextBox 13" id="13"/>
          <p:cNvSpPr txBox="true"/>
          <p:nvPr/>
        </p:nvSpPr>
        <p:spPr>
          <a:xfrm rot="0">
            <a:off x="1428159" y="3843785"/>
            <a:ext cx="3721303" cy="484137"/>
          </a:xfrm>
          <a:prstGeom prst="rect">
            <a:avLst/>
          </a:prstGeom>
        </p:spPr>
        <p:txBody>
          <a:bodyPr anchor="t" rtlCol="false" tIns="0" lIns="0" bIns="0" rIns="0">
            <a:spAutoFit/>
          </a:bodyPr>
          <a:lstStyle/>
          <a:p>
            <a:pPr algn="l">
              <a:lnSpc>
                <a:spcPts val="3625"/>
              </a:lnSpc>
            </a:pPr>
            <a:r>
              <a:rPr lang="en-US" sz="2874">
                <a:solidFill>
                  <a:srgbClr val="000000"/>
                </a:solidFill>
                <a:latin typeface="PT Serif"/>
                <a:ea typeface="PT Serif"/>
                <a:cs typeface="PT Serif"/>
                <a:sym typeface="PT Serif"/>
              </a:rPr>
              <a:t>Top-Down Estimating</a:t>
            </a:r>
          </a:p>
        </p:txBody>
      </p:sp>
      <p:sp>
        <p:nvSpPr>
          <p:cNvPr name="TextBox 14" id="14"/>
          <p:cNvSpPr txBox="true"/>
          <p:nvPr/>
        </p:nvSpPr>
        <p:spPr>
          <a:xfrm rot="0">
            <a:off x="1428159" y="4487618"/>
            <a:ext cx="4278211" cy="3509963"/>
          </a:xfrm>
          <a:prstGeom prst="rect">
            <a:avLst/>
          </a:prstGeom>
        </p:spPr>
        <p:txBody>
          <a:bodyPr anchor="t" rtlCol="false" tIns="0" lIns="0" bIns="0" rIns="0">
            <a:spAutoFit/>
          </a:bodyPr>
          <a:lstStyle/>
          <a:p>
            <a:pPr algn="l">
              <a:lnSpc>
                <a:spcPts val="4702"/>
              </a:lnSpc>
            </a:pPr>
            <a:r>
              <a:rPr lang="en-US" sz="2887">
                <a:solidFill>
                  <a:srgbClr val="000000"/>
                </a:solidFill>
                <a:latin typeface="DM Sans"/>
                <a:ea typeface="DM Sans"/>
                <a:cs typeface="DM Sans"/>
                <a:sym typeface="DM Sans"/>
              </a:rPr>
              <a:t>Used during the early discovery phase. It relies on historical data from previous IT projects to provide a high-level figure.</a:t>
            </a:r>
          </a:p>
        </p:txBody>
      </p:sp>
      <p:grpSp>
        <p:nvGrpSpPr>
          <p:cNvPr name="Group 15" id="15"/>
          <p:cNvGrpSpPr/>
          <p:nvPr/>
        </p:nvGrpSpPr>
        <p:grpSpPr>
          <a:xfrm rot="0">
            <a:off x="6292453" y="3522164"/>
            <a:ext cx="5073996" cy="5512594"/>
            <a:chOff x="0" y="0"/>
            <a:chExt cx="6765328" cy="7350125"/>
          </a:xfrm>
        </p:grpSpPr>
        <p:sp>
          <p:nvSpPr>
            <p:cNvPr name="Freeform 16" id="16"/>
            <p:cNvSpPr/>
            <p:nvPr/>
          </p:nvSpPr>
          <p:spPr>
            <a:xfrm flipH="false" flipV="false" rot="0">
              <a:off x="25400" y="25400"/>
              <a:ext cx="6714490" cy="7299325"/>
            </a:xfrm>
            <a:custGeom>
              <a:avLst/>
              <a:gdLst/>
              <a:ahLst/>
              <a:cxnLst/>
              <a:rect r="r" b="b" t="t" l="l"/>
              <a:pathLst>
                <a:path h="7299325" w="6714490">
                  <a:moveTo>
                    <a:pt x="0" y="243967"/>
                  </a:moveTo>
                  <a:cubicBezTo>
                    <a:pt x="0" y="109220"/>
                    <a:pt x="109220" y="0"/>
                    <a:pt x="243840" y="0"/>
                  </a:cubicBezTo>
                  <a:lnTo>
                    <a:pt x="6470650" y="0"/>
                  </a:lnTo>
                  <a:cubicBezTo>
                    <a:pt x="6605397" y="0"/>
                    <a:pt x="6714490" y="109220"/>
                    <a:pt x="6714490" y="243967"/>
                  </a:cubicBezTo>
                  <a:lnTo>
                    <a:pt x="6714490" y="7055358"/>
                  </a:lnTo>
                  <a:cubicBezTo>
                    <a:pt x="6714490" y="7190105"/>
                    <a:pt x="6605270" y="7299325"/>
                    <a:pt x="6470650" y="7299325"/>
                  </a:cubicBezTo>
                  <a:lnTo>
                    <a:pt x="243840" y="7299325"/>
                  </a:lnTo>
                  <a:cubicBezTo>
                    <a:pt x="109093" y="7299325"/>
                    <a:pt x="0" y="7190105"/>
                    <a:pt x="0" y="7055358"/>
                  </a:cubicBezTo>
                  <a:close/>
                </a:path>
              </a:pathLst>
            </a:custGeom>
            <a:solidFill>
              <a:srgbClr val="FFFFFF"/>
            </a:solidFill>
          </p:spPr>
        </p:sp>
        <p:sp>
          <p:nvSpPr>
            <p:cNvPr name="Freeform 17" id="17"/>
            <p:cNvSpPr/>
            <p:nvPr/>
          </p:nvSpPr>
          <p:spPr>
            <a:xfrm flipH="false" flipV="false" rot="0">
              <a:off x="0" y="0"/>
              <a:ext cx="6765290" cy="7350125"/>
            </a:xfrm>
            <a:custGeom>
              <a:avLst/>
              <a:gdLst/>
              <a:ahLst/>
              <a:cxnLst/>
              <a:rect r="r" b="b" t="t" l="l"/>
              <a:pathLst>
                <a:path h="7350125" w="6765290">
                  <a:moveTo>
                    <a:pt x="0" y="269367"/>
                  </a:moveTo>
                  <a:cubicBezTo>
                    <a:pt x="0" y="120650"/>
                    <a:pt x="120523" y="0"/>
                    <a:pt x="269240" y="0"/>
                  </a:cubicBezTo>
                  <a:lnTo>
                    <a:pt x="6496050" y="0"/>
                  </a:lnTo>
                  <a:lnTo>
                    <a:pt x="6496050" y="25400"/>
                  </a:lnTo>
                  <a:lnTo>
                    <a:pt x="6496050" y="0"/>
                  </a:lnTo>
                  <a:cubicBezTo>
                    <a:pt x="6644767" y="0"/>
                    <a:pt x="6765290" y="120650"/>
                    <a:pt x="6765290" y="269367"/>
                  </a:cubicBezTo>
                  <a:lnTo>
                    <a:pt x="6739890" y="269367"/>
                  </a:lnTo>
                  <a:lnTo>
                    <a:pt x="6765290" y="269367"/>
                  </a:lnTo>
                  <a:lnTo>
                    <a:pt x="6765290" y="7080758"/>
                  </a:lnTo>
                  <a:lnTo>
                    <a:pt x="6739890" y="7080758"/>
                  </a:lnTo>
                  <a:lnTo>
                    <a:pt x="6765290" y="7080758"/>
                  </a:lnTo>
                  <a:cubicBezTo>
                    <a:pt x="6765290" y="7229601"/>
                    <a:pt x="6644767" y="7350125"/>
                    <a:pt x="6496050" y="7350125"/>
                  </a:cubicBezTo>
                  <a:lnTo>
                    <a:pt x="6496050" y="7324725"/>
                  </a:lnTo>
                  <a:lnTo>
                    <a:pt x="6496050" y="7350125"/>
                  </a:lnTo>
                  <a:lnTo>
                    <a:pt x="269240" y="7350125"/>
                  </a:lnTo>
                  <a:lnTo>
                    <a:pt x="269240" y="7324725"/>
                  </a:lnTo>
                  <a:lnTo>
                    <a:pt x="269240" y="7350125"/>
                  </a:lnTo>
                  <a:cubicBezTo>
                    <a:pt x="120523" y="7350125"/>
                    <a:pt x="0" y="7229475"/>
                    <a:pt x="0" y="7080758"/>
                  </a:cubicBezTo>
                  <a:lnTo>
                    <a:pt x="0" y="269367"/>
                  </a:lnTo>
                  <a:lnTo>
                    <a:pt x="25400" y="269367"/>
                  </a:lnTo>
                  <a:lnTo>
                    <a:pt x="0" y="269367"/>
                  </a:lnTo>
                  <a:moveTo>
                    <a:pt x="50800" y="269367"/>
                  </a:moveTo>
                  <a:lnTo>
                    <a:pt x="50800" y="7080758"/>
                  </a:lnTo>
                  <a:lnTo>
                    <a:pt x="25400" y="7080758"/>
                  </a:lnTo>
                  <a:lnTo>
                    <a:pt x="50800" y="7080758"/>
                  </a:lnTo>
                  <a:cubicBezTo>
                    <a:pt x="50800" y="7201535"/>
                    <a:pt x="148590" y="7299325"/>
                    <a:pt x="269240" y="7299325"/>
                  </a:cubicBezTo>
                  <a:lnTo>
                    <a:pt x="6496050" y="7299325"/>
                  </a:lnTo>
                  <a:cubicBezTo>
                    <a:pt x="6616700" y="7299325"/>
                    <a:pt x="6714490" y="7201408"/>
                    <a:pt x="6714490" y="7080758"/>
                  </a:cubicBezTo>
                  <a:lnTo>
                    <a:pt x="6714490" y="269367"/>
                  </a:lnTo>
                  <a:cubicBezTo>
                    <a:pt x="6714490" y="148717"/>
                    <a:pt x="6616700" y="50800"/>
                    <a:pt x="6496050" y="50800"/>
                  </a:cubicBezTo>
                  <a:lnTo>
                    <a:pt x="269240" y="50800"/>
                  </a:lnTo>
                  <a:lnTo>
                    <a:pt x="269240" y="25400"/>
                  </a:lnTo>
                  <a:lnTo>
                    <a:pt x="269240" y="50800"/>
                  </a:lnTo>
                  <a:cubicBezTo>
                    <a:pt x="148590" y="50800"/>
                    <a:pt x="50800" y="148717"/>
                    <a:pt x="50800" y="269367"/>
                  </a:cubicBezTo>
                  <a:close/>
                </a:path>
              </a:pathLst>
            </a:custGeom>
            <a:solidFill>
              <a:srgbClr val="D8D4D4"/>
            </a:solidFill>
          </p:spPr>
        </p:sp>
      </p:grpSp>
      <p:grpSp>
        <p:nvGrpSpPr>
          <p:cNvPr name="Group 18" id="18"/>
          <p:cNvGrpSpPr/>
          <p:nvPr/>
        </p:nvGrpSpPr>
        <p:grpSpPr>
          <a:xfrm rot="0">
            <a:off x="6273403" y="3541214"/>
            <a:ext cx="152400" cy="5474494"/>
            <a:chOff x="0" y="0"/>
            <a:chExt cx="203200" cy="7299325"/>
          </a:xfrm>
        </p:grpSpPr>
        <p:sp>
          <p:nvSpPr>
            <p:cNvPr name="Freeform 19" id="19"/>
            <p:cNvSpPr/>
            <p:nvPr/>
          </p:nvSpPr>
          <p:spPr>
            <a:xfrm flipH="false" flipV="false" rot="0">
              <a:off x="0" y="0"/>
              <a:ext cx="203200" cy="7299325"/>
            </a:xfrm>
            <a:custGeom>
              <a:avLst/>
              <a:gdLst/>
              <a:ahLst/>
              <a:cxnLst/>
              <a:rect r="r" b="b" t="t" l="l"/>
              <a:pathLst>
                <a:path h="7299325" w="203200">
                  <a:moveTo>
                    <a:pt x="0" y="56769"/>
                  </a:moveTo>
                  <a:cubicBezTo>
                    <a:pt x="0" y="25400"/>
                    <a:pt x="25400" y="0"/>
                    <a:pt x="56769" y="0"/>
                  </a:cubicBezTo>
                  <a:lnTo>
                    <a:pt x="146558" y="0"/>
                  </a:lnTo>
                  <a:cubicBezTo>
                    <a:pt x="177800" y="0"/>
                    <a:pt x="203200" y="25400"/>
                    <a:pt x="203200" y="56769"/>
                  </a:cubicBezTo>
                  <a:lnTo>
                    <a:pt x="203200" y="7242556"/>
                  </a:lnTo>
                  <a:cubicBezTo>
                    <a:pt x="203200" y="7273925"/>
                    <a:pt x="177800" y="7299325"/>
                    <a:pt x="146431" y="7299325"/>
                  </a:cubicBezTo>
                  <a:lnTo>
                    <a:pt x="56769" y="7299325"/>
                  </a:lnTo>
                  <a:cubicBezTo>
                    <a:pt x="25400" y="7299325"/>
                    <a:pt x="0" y="7273925"/>
                    <a:pt x="0" y="7242556"/>
                  </a:cubicBezTo>
                  <a:close/>
                </a:path>
              </a:pathLst>
            </a:custGeom>
            <a:solidFill>
              <a:srgbClr val="E04F00"/>
            </a:solidFill>
          </p:spPr>
        </p:sp>
      </p:grpSp>
      <p:sp>
        <p:nvSpPr>
          <p:cNvPr name="TextBox 20" id="20"/>
          <p:cNvSpPr txBox="true"/>
          <p:nvPr/>
        </p:nvSpPr>
        <p:spPr>
          <a:xfrm rot="0">
            <a:off x="6747424" y="3843785"/>
            <a:ext cx="3744220" cy="484137"/>
          </a:xfrm>
          <a:prstGeom prst="rect">
            <a:avLst/>
          </a:prstGeom>
        </p:spPr>
        <p:txBody>
          <a:bodyPr anchor="t" rtlCol="false" tIns="0" lIns="0" bIns="0" rIns="0">
            <a:spAutoFit/>
          </a:bodyPr>
          <a:lstStyle/>
          <a:p>
            <a:pPr algn="l">
              <a:lnSpc>
                <a:spcPts val="3625"/>
              </a:lnSpc>
            </a:pPr>
            <a:r>
              <a:rPr lang="en-US" sz="2874">
                <a:solidFill>
                  <a:srgbClr val="000000"/>
                </a:solidFill>
                <a:latin typeface="PT Serif"/>
                <a:ea typeface="PT Serif"/>
                <a:cs typeface="PT Serif"/>
                <a:sym typeface="PT Serif"/>
              </a:rPr>
              <a:t>Bottom-Up Estimating</a:t>
            </a:r>
          </a:p>
        </p:txBody>
      </p:sp>
      <p:sp>
        <p:nvSpPr>
          <p:cNvPr name="TextBox 21" id="21"/>
          <p:cNvSpPr txBox="true"/>
          <p:nvPr/>
        </p:nvSpPr>
        <p:spPr>
          <a:xfrm rot="0">
            <a:off x="6747424" y="4516193"/>
            <a:ext cx="4278363" cy="4005262"/>
          </a:xfrm>
          <a:prstGeom prst="rect">
            <a:avLst/>
          </a:prstGeom>
        </p:spPr>
        <p:txBody>
          <a:bodyPr anchor="t" rtlCol="false" tIns="0" lIns="0" bIns="0" rIns="0">
            <a:spAutoFit/>
          </a:bodyPr>
          <a:lstStyle/>
          <a:p>
            <a:pPr algn="l">
              <a:lnSpc>
                <a:spcPts val="3562"/>
              </a:lnSpc>
            </a:pPr>
            <a:r>
              <a:rPr lang="en-US" sz="2187">
                <a:solidFill>
                  <a:srgbClr val="000000"/>
                </a:solidFill>
                <a:latin typeface="DM Sans"/>
                <a:ea typeface="DM Sans"/>
                <a:cs typeface="DM Sans"/>
                <a:sym typeface="DM Sans"/>
              </a:rPr>
              <a:t>This is the gold standard for accuracy. Here, the project is decomposed into the smallest possible tasks. By estimating the cost of each individual component, such as API integration or UI design, and rolling them up, we create a granular and defensible budget.</a:t>
            </a:r>
          </a:p>
        </p:txBody>
      </p:sp>
      <p:grpSp>
        <p:nvGrpSpPr>
          <p:cNvPr name="Group 22" id="22"/>
          <p:cNvGrpSpPr/>
          <p:nvPr/>
        </p:nvGrpSpPr>
        <p:grpSpPr>
          <a:xfrm rot="0">
            <a:off x="12048677" y="3650161"/>
            <a:ext cx="5256457" cy="5256457"/>
            <a:chOff x="0" y="0"/>
            <a:chExt cx="7008609" cy="7008609"/>
          </a:xfrm>
        </p:grpSpPr>
        <p:sp>
          <p:nvSpPr>
            <p:cNvPr name="Freeform 23" id="23" descr="preencoded.png"/>
            <p:cNvSpPr/>
            <p:nvPr/>
          </p:nvSpPr>
          <p:spPr>
            <a:xfrm flipH="false" flipV="false" rot="0">
              <a:off x="0" y="0"/>
              <a:ext cx="7008622" cy="7008622"/>
            </a:xfrm>
            <a:custGeom>
              <a:avLst/>
              <a:gdLst/>
              <a:ahLst/>
              <a:cxnLst/>
              <a:rect r="r" b="b" t="t" l="l"/>
              <a:pathLst>
                <a:path h="7008622" w="7008622">
                  <a:moveTo>
                    <a:pt x="0" y="0"/>
                  </a:moveTo>
                  <a:lnTo>
                    <a:pt x="7008622" y="0"/>
                  </a:lnTo>
                  <a:lnTo>
                    <a:pt x="7008622" y="7008622"/>
                  </a:lnTo>
                  <a:lnTo>
                    <a:pt x="0" y="7008622"/>
                  </a:lnTo>
                  <a:lnTo>
                    <a:pt x="0" y="0"/>
                  </a:lnTo>
                  <a:close/>
                </a:path>
              </a:pathLst>
            </a:custGeom>
            <a:blipFill>
              <a:blip r:embed="rId3"/>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76760" y="855021"/>
            <a:ext cx="16334480" cy="1860052"/>
          </a:xfrm>
          <a:prstGeom prst="rect">
            <a:avLst/>
          </a:prstGeom>
        </p:spPr>
        <p:txBody>
          <a:bodyPr anchor="t" rtlCol="false" tIns="0" lIns="0" bIns="0" rIns="0">
            <a:spAutoFit/>
          </a:bodyPr>
          <a:lstStyle/>
          <a:p>
            <a:pPr algn="l">
              <a:lnSpc>
                <a:spcPts val="7187"/>
              </a:lnSpc>
            </a:pPr>
            <a:r>
              <a:rPr lang="en-US" sz="5749">
                <a:solidFill>
                  <a:srgbClr val="020202"/>
                </a:solidFill>
                <a:latin typeface="PT Serif"/>
                <a:ea typeface="PT Serif"/>
                <a:cs typeface="PT Serif"/>
                <a:sym typeface="PT Serif"/>
              </a:rPr>
              <a:t>Advanced Estimation: Parametric and Three-Point Modeling</a:t>
            </a:r>
          </a:p>
        </p:txBody>
      </p:sp>
      <p:sp>
        <p:nvSpPr>
          <p:cNvPr name="TextBox 7" id="7"/>
          <p:cNvSpPr txBox="true"/>
          <p:nvPr/>
        </p:nvSpPr>
        <p:spPr>
          <a:xfrm rot="0">
            <a:off x="976760" y="3178816"/>
            <a:ext cx="16334480" cy="478019"/>
          </a:xfrm>
          <a:prstGeom prst="rect">
            <a:avLst/>
          </a:prstGeom>
        </p:spPr>
        <p:txBody>
          <a:bodyPr anchor="t" rtlCol="false" tIns="0" lIns="0" bIns="0" rIns="0">
            <a:spAutoFit/>
          </a:bodyPr>
          <a:lstStyle/>
          <a:p>
            <a:pPr algn="l">
              <a:lnSpc>
                <a:spcPts val="4066"/>
              </a:lnSpc>
            </a:pPr>
            <a:r>
              <a:rPr lang="en-US" sz="2587">
                <a:solidFill>
                  <a:srgbClr val="000000"/>
                </a:solidFill>
                <a:latin typeface="DM Sans"/>
                <a:ea typeface="DM Sans"/>
                <a:cs typeface="DM Sans"/>
                <a:sym typeface="DM Sans"/>
              </a:rPr>
              <a:t>To account for uncertainty, IT managers use mathematical models.</a:t>
            </a:r>
          </a:p>
        </p:txBody>
      </p:sp>
      <p:grpSp>
        <p:nvGrpSpPr>
          <p:cNvPr name="Group 8" id="8"/>
          <p:cNvGrpSpPr/>
          <p:nvPr/>
        </p:nvGrpSpPr>
        <p:grpSpPr>
          <a:xfrm rot="0">
            <a:off x="957710" y="3997376"/>
            <a:ext cx="8067970" cy="5425078"/>
            <a:chOff x="0" y="0"/>
            <a:chExt cx="10757294" cy="7233437"/>
          </a:xfrm>
        </p:grpSpPr>
        <p:sp>
          <p:nvSpPr>
            <p:cNvPr name="Freeform 9" id="9"/>
            <p:cNvSpPr/>
            <p:nvPr/>
          </p:nvSpPr>
          <p:spPr>
            <a:xfrm flipH="false" flipV="false" rot="0">
              <a:off x="25400" y="25400"/>
              <a:ext cx="10706608" cy="7182612"/>
            </a:xfrm>
            <a:custGeom>
              <a:avLst/>
              <a:gdLst/>
              <a:ahLst/>
              <a:cxnLst/>
              <a:rect r="r" b="b" t="t" l="l"/>
              <a:pathLst>
                <a:path h="7182612" w="10706608">
                  <a:moveTo>
                    <a:pt x="0" y="243840"/>
                  </a:moveTo>
                  <a:cubicBezTo>
                    <a:pt x="0" y="109220"/>
                    <a:pt x="109474" y="0"/>
                    <a:pt x="244475" y="0"/>
                  </a:cubicBezTo>
                  <a:lnTo>
                    <a:pt x="10462133" y="0"/>
                  </a:lnTo>
                  <a:cubicBezTo>
                    <a:pt x="10597134" y="0"/>
                    <a:pt x="10706608" y="109220"/>
                    <a:pt x="10706608" y="243840"/>
                  </a:cubicBezTo>
                  <a:lnTo>
                    <a:pt x="10706608" y="6938772"/>
                  </a:lnTo>
                  <a:cubicBezTo>
                    <a:pt x="10706608" y="7073392"/>
                    <a:pt x="10597134" y="7182612"/>
                    <a:pt x="10462133" y="7182612"/>
                  </a:cubicBezTo>
                  <a:lnTo>
                    <a:pt x="244475" y="7182612"/>
                  </a:lnTo>
                  <a:cubicBezTo>
                    <a:pt x="109474" y="7182612"/>
                    <a:pt x="0" y="7073392"/>
                    <a:pt x="0" y="6938772"/>
                  </a:cubicBezTo>
                  <a:close/>
                </a:path>
              </a:pathLst>
            </a:custGeom>
            <a:solidFill>
              <a:srgbClr val="FFFFFF"/>
            </a:solidFill>
          </p:spPr>
        </p:sp>
        <p:sp>
          <p:nvSpPr>
            <p:cNvPr name="Freeform 10" id="10"/>
            <p:cNvSpPr/>
            <p:nvPr/>
          </p:nvSpPr>
          <p:spPr>
            <a:xfrm flipH="false" flipV="false" rot="0">
              <a:off x="0" y="0"/>
              <a:ext cx="10757408" cy="7233412"/>
            </a:xfrm>
            <a:custGeom>
              <a:avLst/>
              <a:gdLst/>
              <a:ahLst/>
              <a:cxnLst/>
              <a:rect r="r" b="b" t="t" l="l"/>
              <a:pathLst>
                <a:path h="7233412" w="10757408">
                  <a:moveTo>
                    <a:pt x="0" y="269240"/>
                  </a:moveTo>
                  <a:cubicBezTo>
                    <a:pt x="0" y="120523"/>
                    <a:pt x="120904" y="0"/>
                    <a:pt x="269875" y="0"/>
                  </a:cubicBezTo>
                  <a:lnTo>
                    <a:pt x="10487533" y="0"/>
                  </a:lnTo>
                  <a:lnTo>
                    <a:pt x="10487533" y="25400"/>
                  </a:lnTo>
                  <a:lnTo>
                    <a:pt x="10487533" y="0"/>
                  </a:lnTo>
                  <a:cubicBezTo>
                    <a:pt x="10636503" y="0"/>
                    <a:pt x="10757408" y="120523"/>
                    <a:pt x="10757408" y="269240"/>
                  </a:cubicBezTo>
                  <a:lnTo>
                    <a:pt x="10732008" y="269240"/>
                  </a:lnTo>
                  <a:lnTo>
                    <a:pt x="10757408" y="269240"/>
                  </a:lnTo>
                  <a:lnTo>
                    <a:pt x="10757408" y="6964172"/>
                  </a:lnTo>
                  <a:lnTo>
                    <a:pt x="10732008" y="6964172"/>
                  </a:lnTo>
                  <a:lnTo>
                    <a:pt x="10757408" y="6964172"/>
                  </a:lnTo>
                  <a:cubicBezTo>
                    <a:pt x="10757408" y="7112889"/>
                    <a:pt x="10636503" y="7233412"/>
                    <a:pt x="10487533" y="7233412"/>
                  </a:cubicBezTo>
                  <a:lnTo>
                    <a:pt x="10487533" y="7208012"/>
                  </a:lnTo>
                  <a:lnTo>
                    <a:pt x="10487533" y="7233412"/>
                  </a:lnTo>
                  <a:lnTo>
                    <a:pt x="269875" y="7233412"/>
                  </a:lnTo>
                  <a:lnTo>
                    <a:pt x="269875" y="7208012"/>
                  </a:lnTo>
                  <a:lnTo>
                    <a:pt x="269875" y="7233412"/>
                  </a:lnTo>
                  <a:cubicBezTo>
                    <a:pt x="120904" y="7233412"/>
                    <a:pt x="0" y="7112889"/>
                    <a:pt x="0" y="6964172"/>
                  </a:cubicBezTo>
                  <a:lnTo>
                    <a:pt x="0" y="269240"/>
                  </a:lnTo>
                  <a:lnTo>
                    <a:pt x="25400" y="269240"/>
                  </a:lnTo>
                  <a:lnTo>
                    <a:pt x="0" y="269240"/>
                  </a:lnTo>
                  <a:moveTo>
                    <a:pt x="50800" y="269240"/>
                  </a:moveTo>
                  <a:lnTo>
                    <a:pt x="50800" y="6964172"/>
                  </a:lnTo>
                  <a:lnTo>
                    <a:pt x="25400" y="6964172"/>
                  </a:lnTo>
                  <a:lnTo>
                    <a:pt x="50800" y="6964172"/>
                  </a:lnTo>
                  <a:cubicBezTo>
                    <a:pt x="50800" y="7084822"/>
                    <a:pt x="148844" y="7182612"/>
                    <a:pt x="269875" y="7182612"/>
                  </a:cubicBezTo>
                  <a:lnTo>
                    <a:pt x="10487533" y="7182612"/>
                  </a:lnTo>
                  <a:cubicBezTo>
                    <a:pt x="10608564" y="7182612"/>
                    <a:pt x="10706608" y="7084695"/>
                    <a:pt x="10706608" y="6964172"/>
                  </a:cubicBezTo>
                  <a:lnTo>
                    <a:pt x="10706608" y="269240"/>
                  </a:lnTo>
                  <a:cubicBezTo>
                    <a:pt x="10706608" y="148590"/>
                    <a:pt x="10608564" y="50800"/>
                    <a:pt x="10487533" y="50800"/>
                  </a:cubicBezTo>
                  <a:lnTo>
                    <a:pt x="269875" y="50800"/>
                  </a:lnTo>
                  <a:lnTo>
                    <a:pt x="269875" y="25400"/>
                  </a:lnTo>
                  <a:lnTo>
                    <a:pt x="269875" y="50800"/>
                  </a:lnTo>
                  <a:cubicBezTo>
                    <a:pt x="148844" y="50800"/>
                    <a:pt x="50800" y="148717"/>
                    <a:pt x="50800" y="269240"/>
                  </a:cubicBezTo>
                  <a:close/>
                </a:path>
              </a:pathLst>
            </a:custGeom>
            <a:solidFill>
              <a:srgbClr val="D8D4D4"/>
            </a:solidFill>
          </p:spPr>
        </p:sp>
      </p:grpSp>
      <p:grpSp>
        <p:nvGrpSpPr>
          <p:cNvPr name="Group 11" id="11"/>
          <p:cNvGrpSpPr/>
          <p:nvPr/>
        </p:nvGrpSpPr>
        <p:grpSpPr>
          <a:xfrm rot="0">
            <a:off x="938660" y="4016426"/>
            <a:ext cx="152400" cy="5386978"/>
            <a:chOff x="0" y="0"/>
            <a:chExt cx="203200" cy="7182637"/>
          </a:xfrm>
        </p:grpSpPr>
        <p:sp>
          <p:nvSpPr>
            <p:cNvPr name="Freeform 12" id="12"/>
            <p:cNvSpPr/>
            <p:nvPr/>
          </p:nvSpPr>
          <p:spPr>
            <a:xfrm flipH="false" flipV="false" rot="0">
              <a:off x="0" y="0"/>
              <a:ext cx="203200" cy="7182739"/>
            </a:xfrm>
            <a:custGeom>
              <a:avLst/>
              <a:gdLst/>
              <a:ahLst/>
              <a:cxnLst/>
              <a:rect r="r" b="b" t="t" l="l"/>
              <a:pathLst>
                <a:path h="7182739" w="203200">
                  <a:moveTo>
                    <a:pt x="0" y="55880"/>
                  </a:moveTo>
                  <a:cubicBezTo>
                    <a:pt x="0" y="25019"/>
                    <a:pt x="25019" y="0"/>
                    <a:pt x="55880" y="0"/>
                  </a:cubicBezTo>
                  <a:lnTo>
                    <a:pt x="147320" y="0"/>
                  </a:lnTo>
                  <a:cubicBezTo>
                    <a:pt x="178181" y="0"/>
                    <a:pt x="203200" y="25019"/>
                    <a:pt x="203200" y="55880"/>
                  </a:cubicBezTo>
                  <a:lnTo>
                    <a:pt x="203200" y="7126859"/>
                  </a:lnTo>
                  <a:cubicBezTo>
                    <a:pt x="203200" y="7157720"/>
                    <a:pt x="178181" y="7182739"/>
                    <a:pt x="147320" y="7182739"/>
                  </a:cubicBezTo>
                  <a:lnTo>
                    <a:pt x="55880" y="7182739"/>
                  </a:lnTo>
                  <a:cubicBezTo>
                    <a:pt x="25019" y="7182739"/>
                    <a:pt x="0" y="7157720"/>
                    <a:pt x="0" y="7126859"/>
                  </a:cubicBezTo>
                  <a:close/>
                </a:path>
              </a:pathLst>
            </a:custGeom>
            <a:solidFill>
              <a:srgbClr val="E04F00"/>
            </a:solidFill>
          </p:spPr>
        </p:sp>
      </p:grpSp>
      <p:sp>
        <p:nvSpPr>
          <p:cNvPr name="TextBox 13" id="13"/>
          <p:cNvSpPr txBox="true"/>
          <p:nvPr/>
        </p:nvSpPr>
        <p:spPr>
          <a:xfrm rot="0">
            <a:off x="1408214" y="4324055"/>
            <a:ext cx="3663105" cy="467316"/>
          </a:xfrm>
          <a:prstGeom prst="rect">
            <a:avLst/>
          </a:prstGeom>
        </p:spPr>
        <p:txBody>
          <a:bodyPr anchor="t" rtlCol="false" tIns="0" lIns="0" bIns="0" rIns="0">
            <a:spAutoFit/>
          </a:bodyPr>
          <a:lstStyle/>
          <a:p>
            <a:pPr algn="l">
              <a:lnSpc>
                <a:spcPts val="3562"/>
              </a:lnSpc>
            </a:pPr>
            <a:r>
              <a:rPr lang="en-US" sz="2874">
                <a:solidFill>
                  <a:srgbClr val="000000"/>
                </a:solidFill>
                <a:latin typeface="PT Serif"/>
                <a:ea typeface="PT Serif"/>
                <a:cs typeface="PT Serif"/>
                <a:sym typeface="PT Serif"/>
              </a:rPr>
              <a:t>Parametric Estimating</a:t>
            </a:r>
          </a:p>
        </p:txBody>
      </p:sp>
      <p:sp>
        <p:nvSpPr>
          <p:cNvPr name="TextBox 14" id="14"/>
          <p:cNvSpPr txBox="true"/>
          <p:nvPr/>
        </p:nvSpPr>
        <p:spPr>
          <a:xfrm rot="0">
            <a:off x="1408214" y="4841824"/>
            <a:ext cx="7281272" cy="2550025"/>
          </a:xfrm>
          <a:prstGeom prst="rect">
            <a:avLst/>
          </a:prstGeom>
        </p:spPr>
        <p:txBody>
          <a:bodyPr anchor="t" rtlCol="false" tIns="0" lIns="0" bIns="0" rIns="0">
            <a:spAutoFit/>
          </a:bodyPr>
          <a:lstStyle/>
          <a:p>
            <a:pPr algn="l">
              <a:lnSpc>
                <a:spcPts val="5166"/>
              </a:lnSpc>
            </a:pPr>
            <a:r>
              <a:rPr lang="en-US" sz="3287">
                <a:solidFill>
                  <a:srgbClr val="000000"/>
                </a:solidFill>
                <a:latin typeface="DM Sans"/>
                <a:ea typeface="DM Sans"/>
                <a:cs typeface="DM Sans"/>
                <a:sym typeface="DM Sans"/>
              </a:rPr>
              <a:t>Uses statistical relationships between historical data and variables (e.g., cost per lines of code or cost per database schema).</a:t>
            </a:r>
          </a:p>
        </p:txBody>
      </p:sp>
      <p:grpSp>
        <p:nvGrpSpPr>
          <p:cNvPr name="Group 15" id="15"/>
          <p:cNvGrpSpPr/>
          <p:nvPr/>
        </p:nvGrpSpPr>
        <p:grpSpPr>
          <a:xfrm rot="0">
            <a:off x="9262320" y="3997376"/>
            <a:ext cx="8067970" cy="5425078"/>
            <a:chOff x="0" y="0"/>
            <a:chExt cx="10757294" cy="7233437"/>
          </a:xfrm>
        </p:grpSpPr>
        <p:sp>
          <p:nvSpPr>
            <p:cNvPr name="Freeform 16" id="16"/>
            <p:cNvSpPr/>
            <p:nvPr/>
          </p:nvSpPr>
          <p:spPr>
            <a:xfrm flipH="false" flipV="false" rot="0">
              <a:off x="25400" y="25400"/>
              <a:ext cx="10706608" cy="7182612"/>
            </a:xfrm>
            <a:custGeom>
              <a:avLst/>
              <a:gdLst/>
              <a:ahLst/>
              <a:cxnLst/>
              <a:rect r="r" b="b" t="t" l="l"/>
              <a:pathLst>
                <a:path h="7182612" w="10706608">
                  <a:moveTo>
                    <a:pt x="0" y="243840"/>
                  </a:moveTo>
                  <a:cubicBezTo>
                    <a:pt x="0" y="109220"/>
                    <a:pt x="109474" y="0"/>
                    <a:pt x="244475" y="0"/>
                  </a:cubicBezTo>
                  <a:lnTo>
                    <a:pt x="10462133" y="0"/>
                  </a:lnTo>
                  <a:cubicBezTo>
                    <a:pt x="10597134" y="0"/>
                    <a:pt x="10706608" y="109220"/>
                    <a:pt x="10706608" y="243840"/>
                  </a:cubicBezTo>
                  <a:lnTo>
                    <a:pt x="10706608" y="6938772"/>
                  </a:lnTo>
                  <a:cubicBezTo>
                    <a:pt x="10706608" y="7073392"/>
                    <a:pt x="10597134" y="7182612"/>
                    <a:pt x="10462133" y="7182612"/>
                  </a:cubicBezTo>
                  <a:lnTo>
                    <a:pt x="244475" y="7182612"/>
                  </a:lnTo>
                  <a:cubicBezTo>
                    <a:pt x="109474" y="7182612"/>
                    <a:pt x="0" y="7073392"/>
                    <a:pt x="0" y="6938772"/>
                  </a:cubicBezTo>
                  <a:close/>
                </a:path>
              </a:pathLst>
            </a:custGeom>
            <a:solidFill>
              <a:srgbClr val="FFFFFF"/>
            </a:solidFill>
          </p:spPr>
        </p:sp>
        <p:sp>
          <p:nvSpPr>
            <p:cNvPr name="Freeform 17" id="17"/>
            <p:cNvSpPr/>
            <p:nvPr/>
          </p:nvSpPr>
          <p:spPr>
            <a:xfrm flipH="false" flipV="false" rot="0">
              <a:off x="0" y="0"/>
              <a:ext cx="10757408" cy="7233412"/>
            </a:xfrm>
            <a:custGeom>
              <a:avLst/>
              <a:gdLst/>
              <a:ahLst/>
              <a:cxnLst/>
              <a:rect r="r" b="b" t="t" l="l"/>
              <a:pathLst>
                <a:path h="7233412" w="10757408">
                  <a:moveTo>
                    <a:pt x="0" y="269240"/>
                  </a:moveTo>
                  <a:cubicBezTo>
                    <a:pt x="0" y="120523"/>
                    <a:pt x="120904" y="0"/>
                    <a:pt x="269875" y="0"/>
                  </a:cubicBezTo>
                  <a:lnTo>
                    <a:pt x="10487533" y="0"/>
                  </a:lnTo>
                  <a:lnTo>
                    <a:pt x="10487533" y="25400"/>
                  </a:lnTo>
                  <a:lnTo>
                    <a:pt x="10487533" y="0"/>
                  </a:lnTo>
                  <a:cubicBezTo>
                    <a:pt x="10636503" y="0"/>
                    <a:pt x="10757408" y="120523"/>
                    <a:pt x="10757408" y="269240"/>
                  </a:cubicBezTo>
                  <a:lnTo>
                    <a:pt x="10732008" y="269240"/>
                  </a:lnTo>
                  <a:lnTo>
                    <a:pt x="10757408" y="269240"/>
                  </a:lnTo>
                  <a:lnTo>
                    <a:pt x="10757408" y="6964172"/>
                  </a:lnTo>
                  <a:lnTo>
                    <a:pt x="10732008" y="6964172"/>
                  </a:lnTo>
                  <a:lnTo>
                    <a:pt x="10757408" y="6964172"/>
                  </a:lnTo>
                  <a:cubicBezTo>
                    <a:pt x="10757408" y="7112889"/>
                    <a:pt x="10636503" y="7233412"/>
                    <a:pt x="10487533" y="7233412"/>
                  </a:cubicBezTo>
                  <a:lnTo>
                    <a:pt x="10487533" y="7208012"/>
                  </a:lnTo>
                  <a:lnTo>
                    <a:pt x="10487533" y="7233412"/>
                  </a:lnTo>
                  <a:lnTo>
                    <a:pt x="269875" y="7233412"/>
                  </a:lnTo>
                  <a:lnTo>
                    <a:pt x="269875" y="7208012"/>
                  </a:lnTo>
                  <a:lnTo>
                    <a:pt x="269875" y="7233412"/>
                  </a:lnTo>
                  <a:cubicBezTo>
                    <a:pt x="120904" y="7233412"/>
                    <a:pt x="0" y="7112889"/>
                    <a:pt x="0" y="6964172"/>
                  </a:cubicBezTo>
                  <a:lnTo>
                    <a:pt x="0" y="269240"/>
                  </a:lnTo>
                  <a:lnTo>
                    <a:pt x="25400" y="269240"/>
                  </a:lnTo>
                  <a:lnTo>
                    <a:pt x="0" y="269240"/>
                  </a:lnTo>
                  <a:moveTo>
                    <a:pt x="50800" y="269240"/>
                  </a:moveTo>
                  <a:lnTo>
                    <a:pt x="50800" y="6964172"/>
                  </a:lnTo>
                  <a:lnTo>
                    <a:pt x="25400" y="6964172"/>
                  </a:lnTo>
                  <a:lnTo>
                    <a:pt x="50800" y="6964172"/>
                  </a:lnTo>
                  <a:cubicBezTo>
                    <a:pt x="50800" y="7084822"/>
                    <a:pt x="148844" y="7182612"/>
                    <a:pt x="269875" y="7182612"/>
                  </a:cubicBezTo>
                  <a:lnTo>
                    <a:pt x="10487533" y="7182612"/>
                  </a:lnTo>
                  <a:cubicBezTo>
                    <a:pt x="10608564" y="7182612"/>
                    <a:pt x="10706608" y="7084695"/>
                    <a:pt x="10706608" y="6964172"/>
                  </a:cubicBezTo>
                  <a:lnTo>
                    <a:pt x="10706608" y="269240"/>
                  </a:lnTo>
                  <a:cubicBezTo>
                    <a:pt x="10706608" y="148590"/>
                    <a:pt x="10608564" y="50800"/>
                    <a:pt x="10487533" y="50800"/>
                  </a:cubicBezTo>
                  <a:lnTo>
                    <a:pt x="269875" y="50800"/>
                  </a:lnTo>
                  <a:lnTo>
                    <a:pt x="269875" y="25400"/>
                  </a:lnTo>
                  <a:lnTo>
                    <a:pt x="269875" y="50800"/>
                  </a:lnTo>
                  <a:cubicBezTo>
                    <a:pt x="148844" y="50800"/>
                    <a:pt x="50800" y="148717"/>
                    <a:pt x="50800" y="269240"/>
                  </a:cubicBezTo>
                  <a:close/>
                </a:path>
              </a:pathLst>
            </a:custGeom>
            <a:solidFill>
              <a:srgbClr val="D8D4D4"/>
            </a:solidFill>
          </p:spPr>
        </p:sp>
      </p:grpSp>
      <p:grpSp>
        <p:nvGrpSpPr>
          <p:cNvPr name="Group 18" id="18"/>
          <p:cNvGrpSpPr/>
          <p:nvPr/>
        </p:nvGrpSpPr>
        <p:grpSpPr>
          <a:xfrm rot="0">
            <a:off x="9243270" y="4016426"/>
            <a:ext cx="152400" cy="5386978"/>
            <a:chOff x="0" y="0"/>
            <a:chExt cx="203200" cy="7182637"/>
          </a:xfrm>
        </p:grpSpPr>
        <p:sp>
          <p:nvSpPr>
            <p:cNvPr name="Freeform 19" id="19"/>
            <p:cNvSpPr/>
            <p:nvPr/>
          </p:nvSpPr>
          <p:spPr>
            <a:xfrm flipH="false" flipV="false" rot="0">
              <a:off x="0" y="0"/>
              <a:ext cx="203200" cy="7182739"/>
            </a:xfrm>
            <a:custGeom>
              <a:avLst/>
              <a:gdLst/>
              <a:ahLst/>
              <a:cxnLst/>
              <a:rect r="r" b="b" t="t" l="l"/>
              <a:pathLst>
                <a:path h="7182739" w="203200">
                  <a:moveTo>
                    <a:pt x="0" y="55880"/>
                  </a:moveTo>
                  <a:cubicBezTo>
                    <a:pt x="0" y="25019"/>
                    <a:pt x="25019" y="0"/>
                    <a:pt x="55880" y="0"/>
                  </a:cubicBezTo>
                  <a:lnTo>
                    <a:pt x="147320" y="0"/>
                  </a:lnTo>
                  <a:cubicBezTo>
                    <a:pt x="178181" y="0"/>
                    <a:pt x="203200" y="25019"/>
                    <a:pt x="203200" y="55880"/>
                  </a:cubicBezTo>
                  <a:lnTo>
                    <a:pt x="203200" y="7126859"/>
                  </a:lnTo>
                  <a:cubicBezTo>
                    <a:pt x="203200" y="7157720"/>
                    <a:pt x="178181" y="7182739"/>
                    <a:pt x="147320" y="7182739"/>
                  </a:cubicBezTo>
                  <a:lnTo>
                    <a:pt x="55880" y="7182739"/>
                  </a:lnTo>
                  <a:cubicBezTo>
                    <a:pt x="25019" y="7182739"/>
                    <a:pt x="0" y="7157720"/>
                    <a:pt x="0" y="7126859"/>
                  </a:cubicBezTo>
                  <a:close/>
                </a:path>
              </a:pathLst>
            </a:custGeom>
            <a:solidFill>
              <a:srgbClr val="E04F00"/>
            </a:solidFill>
          </p:spPr>
        </p:sp>
      </p:grpSp>
      <p:sp>
        <p:nvSpPr>
          <p:cNvPr name="TextBox 20" id="20"/>
          <p:cNvSpPr txBox="true"/>
          <p:nvPr/>
        </p:nvSpPr>
        <p:spPr>
          <a:xfrm rot="0">
            <a:off x="9712823" y="4324055"/>
            <a:ext cx="3842890" cy="467316"/>
          </a:xfrm>
          <a:prstGeom prst="rect">
            <a:avLst/>
          </a:prstGeom>
        </p:spPr>
        <p:txBody>
          <a:bodyPr anchor="t" rtlCol="false" tIns="0" lIns="0" bIns="0" rIns="0">
            <a:spAutoFit/>
          </a:bodyPr>
          <a:lstStyle/>
          <a:p>
            <a:pPr algn="l">
              <a:lnSpc>
                <a:spcPts val="3562"/>
              </a:lnSpc>
            </a:pPr>
            <a:r>
              <a:rPr lang="en-US" sz="2874">
                <a:solidFill>
                  <a:srgbClr val="000000"/>
                </a:solidFill>
                <a:latin typeface="PT Serif"/>
                <a:ea typeface="PT Serif"/>
                <a:cs typeface="PT Serif"/>
                <a:sym typeface="PT Serif"/>
              </a:rPr>
              <a:t>Three-Point Estimating</a:t>
            </a:r>
          </a:p>
        </p:txBody>
      </p:sp>
      <p:sp>
        <p:nvSpPr>
          <p:cNvPr name="TextBox 21" id="21"/>
          <p:cNvSpPr txBox="true"/>
          <p:nvPr/>
        </p:nvSpPr>
        <p:spPr>
          <a:xfrm rot="0">
            <a:off x="9712823" y="4870399"/>
            <a:ext cx="7281272" cy="1414463"/>
          </a:xfrm>
          <a:prstGeom prst="rect">
            <a:avLst/>
          </a:prstGeom>
        </p:spPr>
        <p:txBody>
          <a:bodyPr anchor="t" rtlCol="false" tIns="0" lIns="0" bIns="0" rIns="0">
            <a:spAutoFit/>
          </a:bodyPr>
          <a:lstStyle/>
          <a:p>
            <a:pPr algn="l">
              <a:lnSpc>
                <a:spcPts val="3437"/>
              </a:lnSpc>
            </a:pPr>
            <a:r>
              <a:rPr lang="en-US" sz="2187">
                <a:solidFill>
                  <a:srgbClr val="000000"/>
                </a:solidFill>
                <a:latin typeface="DM Sans"/>
                <a:ea typeface="DM Sans"/>
                <a:cs typeface="DM Sans"/>
                <a:sym typeface="DM Sans"/>
              </a:rPr>
              <a:t>Instead of a single number, we calculate a weighted average to account for risk. Using the PERT (Program Evaluation and Review Technique) formula:</a:t>
            </a:r>
          </a:p>
        </p:txBody>
      </p:sp>
      <p:grpSp>
        <p:nvGrpSpPr>
          <p:cNvPr name="Group 22" id="22"/>
          <p:cNvGrpSpPr/>
          <p:nvPr/>
        </p:nvGrpSpPr>
        <p:grpSpPr>
          <a:xfrm rot="0">
            <a:off x="9712823" y="6632524"/>
            <a:ext cx="7281272" cy="777326"/>
            <a:chOff x="0" y="0"/>
            <a:chExt cx="9708363" cy="1036434"/>
          </a:xfrm>
        </p:grpSpPr>
        <p:sp>
          <p:nvSpPr>
            <p:cNvPr name="Freeform 23" id="23" descr="preencoded.png"/>
            <p:cNvSpPr/>
            <p:nvPr/>
          </p:nvSpPr>
          <p:spPr>
            <a:xfrm flipH="false" flipV="false" rot="0">
              <a:off x="0" y="0"/>
              <a:ext cx="9708388" cy="1036447"/>
            </a:xfrm>
            <a:custGeom>
              <a:avLst/>
              <a:gdLst/>
              <a:ahLst/>
              <a:cxnLst/>
              <a:rect r="r" b="b" t="t" l="l"/>
              <a:pathLst>
                <a:path h="1036447" w="9708388">
                  <a:moveTo>
                    <a:pt x="0" y="0"/>
                  </a:moveTo>
                  <a:lnTo>
                    <a:pt x="9708388" y="0"/>
                  </a:lnTo>
                  <a:lnTo>
                    <a:pt x="9708388" y="1036447"/>
                  </a:lnTo>
                  <a:lnTo>
                    <a:pt x="0" y="1036447"/>
                  </a:lnTo>
                  <a:lnTo>
                    <a:pt x="0" y="0"/>
                  </a:lnTo>
                  <a:close/>
                </a:path>
              </a:pathLst>
            </a:custGeom>
            <a:blipFill>
              <a:blip r:embed="rId3"/>
              <a:stretch>
                <a:fillRect l="0" t="-202" r="0" b="-202"/>
              </a:stretch>
            </a:blipFill>
          </p:spPr>
        </p:sp>
      </p:grpSp>
      <p:sp>
        <p:nvSpPr>
          <p:cNvPr name="TextBox 24" id="24"/>
          <p:cNvSpPr txBox="true"/>
          <p:nvPr/>
        </p:nvSpPr>
        <p:spPr>
          <a:xfrm rot="0">
            <a:off x="9712823" y="7671797"/>
            <a:ext cx="7281272" cy="1414463"/>
          </a:xfrm>
          <a:prstGeom prst="rect">
            <a:avLst/>
          </a:prstGeom>
        </p:spPr>
        <p:txBody>
          <a:bodyPr anchor="t" rtlCol="false" tIns="0" lIns="0" bIns="0" rIns="0">
            <a:spAutoFit/>
          </a:bodyPr>
          <a:lstStyle/>
          <a:p>
            <a:pPr algn="l">
              <a:lnSpc>
                <a:spcPts val="3437"/>
              </a:lnSpc>
            </a:pPr>
            <a:r>
              <a:rPr lang="en-US" sz="2187">
                <a:solidFill>
                  <a:srgbClr val="000000"/>
                </a:solidFill>
                <a:latin typeface="DM Sans"/>
                <a:ea typeface="DM Sans"/>
                <a:cs typeface="DM Sans"/>
                <a:sym typeface="DM Sans"/>
              </a:rPr>
              <a:t>Where </a:t>
            </a:r>
            <a:r>
              <a:rPr lang="en-US" sz="2187" i="true">
                <a:solidFill>
                  <a:srgbClr val="000000"/>
                </a:solidFill>
                <a:latin typeface="DM Sans Italics"/>
                <a:ea typeface="DM Sans Italics"/>
                <a:cs typeface="DM Sans Italics"/>
                <a:sym typeface="DM Sans Italics"/>
              </a:rPr>
              <a:t>O</a:t>
            </a:r>
            <a:r>
              <a:rPr lang="en-US" sz="2187">
                <a:solidFill>
                  <a:srgbClr val="000000"/>
                </a:solidFill>
                <a:latin typeface="DM Sans"/>
                <a:ea typeface="DM Sans"/>
                <a:cs typeface="DM Sans"/>
                <a:sym typeface="DM Sans"/>
              </a:rPr>
              <a:t> is the Optimistic cost, </a:t>
            </a:r>
            <a:r>
              <a:rPr lang="en-US" sz="2187" i="true">
                <a:solidFill>
                  <a:srgbClr val="000000"/>
                </a:solidFill>
                <a:latin typeface="DM Sans Italics"/>
                <a:ea typeface="DM Sans Italics"/>
                <a:cs typeface="DM Sans Italics"/>
                <a:sym typeface="DM Sans Italics"/>
              </a:rPr>
              <a:t>M</a:t>
            </a:r>
            <a:r>
              <a:rPr lang="en-US" sz="2187">
                <a:solidFill>
                  <a:srgbClr val="000000"/>
                </a:solidFill>
                <a:latin typeface="DM Sans"/>
                <a:ea typeface="DM Sans"/>
                <a:cs typeface="DM Sans"/>
                <a:sym typeface="DM Sans"/>
              </a:rPr>
              <a:t> is the Most Likely, and </a:t>
            </a:r>
            <a:r>
              <a:rPr lang="en-US" sz="2187" i="true">
                <a:solidFill>
                  <a:srgbClr val="000000"/>
                </a:solidFill>
                <a:latin typeface="DM Sans Italics"/>
                <a:ea typeface="DM Sans Italics"/>
                <a:cs typeface="DM Sans Italics"/>
                <a:sym typeface="DM Sans Italics"/>
              </a:rPr>
              <a:t>P</a:t>
            </a:r>
            <a:r>
              <a:rPr lang="en-US" sz="2187">
                <a:solidFill>
                  <a:srgbClr val="000000"/>
                </a:solidFill>
                <a:latin typeface="DM Sans"/>
                <a:ea typeface="DM Sans"/>
                <a:cs typeface="DM Sans"/>
                <a:sym typeface="DM Sans"/>
              </a:rPr>
              <a:t> is the Pessimistic. This ensures the IT budget isn't built on a "best-case scenario" that rarely happens.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1196130" y="696668"/>
            <a:ext cx="10340130" cy="774802"/>
          </a:xfrm>
          <a:prstGeom prst="rect">
            <a:avLst/>
          </a:prstGeom>
        </p:spPr>
        <p:txBody>
          <a:bodyPr anchor="t" rtlCol="false" tIns="0" lIns="0" bIns="0" rIns="0">
            <a:spAutoFit/>
          </a:bodyPr>
          <a:lstStyle/>
          <a:p>
            <a:pPr algn="l">
              <a:lnSpc>
                <a:spcPts val="5937"/>
              </a:lnSpc>
            </a:pPr>
            <a:r>
              <a:rPr lang="en-US" sz="4750">
                <a:solidFill>
                  <a:srgbClr val="020202"/>
                </a:solidFill>
                <a:latin typeface="PT Serif"/>
                <a:ea typeface="PT Serif"/>
                <a:cs typeface="PT Serif"/>
                <a:sym typeface="PT Serif"/>
              </a:rPr>
              <a:t>The Role of WBS in Financial Accuracy</a:t>
            </a:r>
          </a:p>
        </p:txBody>
      </p:sp>
      <p:sp>
        <p:nvSpPr>
          <p:cNvPr name="TextBox 7" id="7"/>
          <p:cNvSpPr txBox="true"/>
          <p:nvPr/>
        </p:nvSpPr>
        <p:spPr>
          <a:xfrm rot="0">
            <a:off x="1196130" y="1788614"/>
            <a:ext cx="15895587" cy="2171832"/>
          </a:xfrm>
          <a:prstGeom prst="rect">
            <a:avLst/>
          </a:prstGeom>
        </p:spPr>
        <p:txBody>
          <a:bodyPr anchor="t" rtlCol="false" tIns="0" lIns="0" bIns="0" rIns="0">
            <a:spAutoFit/>
          </a:bodyPr>
          <a:lstStyle/>
          <a:p>
            <a:pPr algn="l">
              <a:lnSpc>
                <a:spcPts val="3493"/>
              </a:lnSpc>
            </a:pPr>
            <a:r>
              <a:rPr lang="en-US" sz="2412">
                <a:solidFill>
                  <a:srgbClr val="000000"/>
                </a:solidFill>
                <a:latin typeface="DM Sans"/>
                <a:ea typeface="DM Sans"/>
                <a:cs typeface="DM Sans"/>
                <a:sym typeface="DM Sans"/>
              </a:rPr>
              <a:t>The Work Breakdown Structure (WBS) is the bridge between project scope and the budget. In IT, the WBS breaks down complex deliverables (like a mobile app) into manageable work packages (like user authentication or payment gateway integration). Without a comprehensive WBS, items like system testing, documentation, and security audits are often forgotten, leading to significant budget overruns. Every line item in your budget should correspond to a specific point in your WBS.</a:t>
            </a:r>
          </a:p>
        </p:txBody>
      </p:sp>
      <p:grpSp>
        <p:nvGrpSpPr>
          <p:cNvPr name="Group 8" id="8"/>
          <p:cNvGrpSpPr/>
          <p:nvPr/>
        </p:nvGrpSpPr>
        <p:grpSpPr>
          <a:xfrm rot="0">
            <a:off x="1196130" y="3901994"/>
            <a:ext cx="15895587" cy="5634628"/>
            <a:chOff x="0" y="0"/>
            <a:chExt cx="21194116" cy="7512837"/>
          </a:xfrm>
        </p:grpSpPr>
        <p:sp>
          <p:nvSpPr>
            <p:cNvPr name="Freeform 9" id="9" descr="preencoded.png"/>
            <p:cNvSpPr/>
            <p:nvPr/>
          </p:nvSpPr>
          <p:spPr>
            <a:xfrm flipH="false" flipV="false" rot="0">
              <a:off x="0" y="0"/>
              <a:ext cx="21194140" cy="7512812"/>
            </a:xfrm>
            <a:custGeom>
              <a:avLst/>
              <a:gdLst/>
              <a:ahLst/>
              <a:cxnLst/>
              <a:rect r="r" b="b" t="t" l="l"/>
              <a:pathLst>
                <a:path h="7512812" w="21194140">
                  <a:moveTo>
                    <a:pt x="0" y="0"/>
                  </a:moveTo>
                  <a:lnTo>
                    <a:pt x="21194140" y="0"/>
                  </a:lnTo>
                  <a:lnTo>
                    <a:pt x="21194140" y="7512812"/>
                  </a:lnTo>
                  <a:lnTo>
                    <a:pt x="0" y="7512812"/>
                  </a:lnTo>
                  <a:lnTo>
                    <a:pt x="0" y="0"/>
                  </a:lnTo>
                  <a:close/>
                </a:path>
              </a:pathLst>
            </a:custGeom>
            <a:blipFill>
              <a:blip r:embed="rId3"/>
              <a:stretch>
                <a:fillRect l="0" t="-31" r="0" b="-32"/>
              </a:stretch>
            </a:blipFill>
          </p:spPr>
        </p:sp>
      </p:grpSp>
      <p:sp>
        <p:nvSpPr>
          <p:cNvPr name="TextBox 10" id="10"/>
          <p:cNvSpPr txBox="true"/>
          <p:nvPr/>
        </p:nvSpPr>
        <p:spPr>
          <a:xfrm rot="0">
            <a:off x="1571987" y="5578051"/>
            <a:ext cx="3563179" cy="480565"/>
          </a:xfrm>
          <a:prstGeom prst="rect">
            <a:avLst/>
          </a:prstGeom>
        </p:spPr>
        <p:txBody>
          <a:bodyPr anchor="t" rtlCol="false" tIns="0" lIns="0" bIns="0" rIns="0">
            <a:spAutoFit/>
          </a:bodyPr>
          <a:lstStyle/>
          <a:p>
            <a:pPr algn="r">
              <a:lnSpc>
                <a:spcPts val="3625"/>
              </a:lnSpc>
            </a:pPr>
            <a:r>
              <a:rPr lang="en-US" sz="2874">
                <a:solidFill>
                  <a:srgbClr val="000000"/>
                </a:solidFill>
                <a:latin typeface="PT Serif"/>
                <a:ea typeface="PT Serif"/>
                <a:cs typeface="PT Serif"/>
                <a:sym typeface="PT Serif"/>
              </a:rPr>
              <a:t>Work Packages</a:t>
            </a:r>
          </a:p>
        </p:txBody>
      </p:sp>
      <p:sp>
        <p:nvSpPr>
          <p:cNvPr name="TextBox 11" id="11"/>
          <p:cNvSpPr txBox="true"/>
          <p:nvPr/>
        </p:nvSpPr>
        <p:spPr>
          <a:xfrm rot="0">
            <a:off x="1571987" y="6183641"/>
            <a:ext cx="3563179" cy="637327"/>
          </a:xfrm>
          <a:prstGeom prst="rect">
            <a:avLst/>
          </a:prstGeom>
        </p:spPr>
        <p:txBody>
          <a:bodyPr anchor="t" rtlCol="false" tIns="0" lIns="0" bIns="0" rIns="0">
            <a:spAutoFit/>
          </a:bodyPr>
          <a:lstStyle/>
          <a:p>
            <a:pPr algn="r">
              <a:lnSpc>
                <a:spcPts val="2500"/>
              </a:lnSpc>
            </a:pPr>
            <a:r>
              <a:rPr lang="en-US" sz="2187">
                <a:solidFill>
                  <a:srgbClr val="000000"/>
                </a:solidFill>
                <a:latin typeface="DM Sans"/>
                <a:ea typeface="DM Sans"/>
                <a:cs typeface="DM Sans"/>
                <a:sym typeface="DM Sans"/>
              </a:rPr>
              <a:t>Auth, Payments, Testing, Docs, Security</a:t>
            </a:r>
          </a:p>
        </p:txBody>
      </p:sp>
      <p:sp>
        <p:nvSpPr>
          <p:cNvPr name="TextBox 12" id="12"/>
          <p:cNvSpPr txBox="true"/>
          <p:nvPr/>
        </p:nvSpPr>
        <p:spPr>
          <a:xfrm rot="0">
            <a:off x="12839748" y="6812662"/>
            <a:ext cx="3692109" cy="480565"/>
          </a:xfrm>
          <a:prstGeom prst="rect">
            <a:avLst/>
          </a:prstGeom>
        </p:spPr>
        <p:txBody>
          <a:bodyPr anchor="t" rtlCol="false" tIns="0" lIns="0" bIns="0" rIns="0">
            <a:spAutoFit/>
          </a:bodyPr>
          <a:lstStyle/>
          <a:p>
            <a:pPr algn="l">
              <a:lnSpc>
                <a:spcPts val="3625"/>
              </a:lnSpc>
            </a:pPr>
            <a:r>
              <a:rPr lang="en-US" sz="2874">
                <a:solidFill>
                  <a:srgbClr val="000000"/>
                </a:solidFill>
                <a:latin typeface="PT Serif"/>
                <a:ea typeface="PT Serif"/>
                <a:cs typeface="PT Serif"/>
                <a:sym typeface="PT Serif"/>
              </a:rPr>
              <a:t>Mobile App</a:t>
            </a:r>
          </a:p>
        </p:txBody>
      </p:sp>
      <p:sp>
        <p:nvSpPr>
          <p:cNvPr name="TextBox 13" id="13"/>
          <p:cNvSpPr txBox="true"/>
          <p:nvPr/>
        </p:nvSpPr>
        <p:spPr>
          <a:xfrm rot="0">
            <a:off x="12839748" y="7418252"/>
            <a:ext cx="3875732" cy="637327"/>
          </a:xfrm>
          <a:prstGeom prst="rect">
            <a:avLst/>
          </a:prstGeom>
        </p:spPr>
        <p:txBody>
          <a:bodyPr anchor="t" rtlCol="false" tIns="0" lIns="0" bIns="0" rIns="0">
            <a:spAutoFit/>
          </a:bodyPr>
          <a:lstStyle/>
          <a:p>
            <a:pPr algn="l">
              <a:lnSpc>
                <a:spcPts val="2500"/>
              </a:lnSpc>
            </a:pPr>
            <a:r>
              <a:rPr lang="en-US" sz="2187">
                <a:solidFill>
                  <a:srgbClr val="000000"/>
                </a:solidFill>
                <a:latin typeface="DM Sans"/>
                <a:ea typeface="DM Sans"/>
                <a:cs typeface="DM Sans"/>
                <a:sym typeface="DM Sans"/>
              </a:rPr>
              <a:t>Top-level deliverable for the project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10163323" y="1247631"/>
            <a:ext cx="8124677" cy="9039369"/>
            <a:chOff x="0" y="0"/>
            <a:chExt cx="10832902" cy="12052492"/>
          </a:xfrm>
        </p:grpSpPr>
        <p:sp>
          <p:nvSpPr>
            <p:cNvPr name="Freeform 7" id="7"/>
            <p:cNvSpPr/>
            <p:nvPr/>
          </p:nvSpPr>
          <p:spPr>
            <a:xfrm flipH="false" flipV="false" rot="0">
              <a:off x="0" y="0"/>
              <a:ext cx="10832953" cy="12052505"/>
            </a:xfrm>
            <a:custGeom>
              <a:avLst/>
              <a:gdLst/>
              <a:ahLst/>
              <a:cxnLst/>
              <a:rect r="r" b="b" t="t" l="l"/>
              <a:pathLst>
                <a:path h="12052505" w="10832953">
                  <a:moveTo>
                    <a:pt x="0" y="309431"/>
                  </a:moveTo>
                  <a:cubicBezTo>
                    <a:pt x="0" y="138448"/>
                    <a:pt x="21848" y="0"/>
                    <a:pt x="48831" y="0"/>
                  </a:cubicBezTo>
                  <a:lnTo>
                    <a:pt x="10784115" y="0"/>
                  </a:lnTo>
                  <a:cubicBezTo>
                    <a:pt x="10811097" y="0"/>
                    <a:pt x="10832953" y="138448"/>
                    <a:pt x="10832953" y="309431"/>
                  </a:cubicBezTo>
                  <a:lnTo>
                    <a:pt x="10832953" y="11743131"/>
                  </a:lnTo>
                  <a:cubicBezTo>
                    <a:pt x="10832953" y="11914114"/>
                    <a:pt x="10811097" y="12052505"/>
                    <a:pt x="10784115" y="12052505"/>
                  </a:cubicBezTo>
                  <a:lnTo>
                    <a:pt x="48831" y="12052505"/>
                  </a:lnTo>
                  <a:cubicBezTo>
                    <a:pt x="21848" y="12052505"/>
                    <a:pt x="0" y="11914114"/>
                    <a:pt x="0" y="11743131"/>
                  </a:cubicBezTo>
                  <a:close/>
                </a:path>
              </a:pathLst>
            </a:custGeom>
            <a:solidFill>
              <a:srgbClr val="F2EEEE"/>
            </a:solidFill>
          </p:spPr>
        </p:sp>
      </p:grpSp>
      <p:sp>
        <p:nvSpPr>
          <p:cNvPr name="Freeform 8" id="8"/>
          <p:cNvSpPr/>
          <p:nvPr/>
        </p:nvSpPr>
        <p:spPr>
          <a:xfrm flipH="false" flipV="false" rot="0">
            <a:off x="0" y="0"/>
            <a:ext cx="9944152" cy="10304821"/>
          </a:xfrm>
          <a:custGeom>
            <a:avLst/>
            <a:gdLst/>
            <a:ahLst/>
            <a:cxnLst/>
            <a:rect r="r" b="b" t="t" l="l"/>
            <a:pathLst>
              <a:path h="10304821" w="9944152">
                <a:moveTo>
                  <a:pt x="0" y="0"/>
                </a:moveTo>
                <a:lnTo>
                  <a:pt x="9944152" y="0"/>
                </a:lnTo>
                <a:lnTo>
                  <a:pt x="9944152" y="10304821"/>
                </a:lnTo>
                <a:lnTo>
                  <a:pt x="0" y="10304821"/>
                </a:lnTo>
                <a:lnTo>
                  <a:pt x="0" y="0"/>
                </a:lnTo>
                <a:close/>
              </a:path>
            </a:pathLst>
          </a:custGeom>
          <a:blipFill>
            <a:blip r:embed="rId3"/>
            <a:stretch>
              <a:fillRect l="0" t="0" r="0" b="0"/>
            </a:stretch>
          </a:blipFill>
        </p:spPr>
      </p:sp>
      <p:sp>
        <p:nvSpPr>
          <p:cNvPr name="TextBox 9" id="9"/>
          <p:cNvSpPr txBox="true"/>
          <p:nvPr/>
        </p:nvSpPr>
        <p:spPr>
          <a:xfrm rot="0">
            <a:off x="10163323" y="319391"/>
            <a:ext cx="7788241" cy="709309"/>
          </a:xfrm>
          <a:prstGeom prst="rect">
            <a:avLst/>
          </a:prstGeom>
        </p:spPr>
        <p:txBody>
          <a:bodyPr anchor="t" rtlCol="false" tIns="0" lIns="0" bIns="0" rIns="0">
            <a:spAutoFit/>
          </a:bodyPr>
          <a:lstStyle/>
          <a:p>
            <a:pPr algn="l">
              <a:lnSpc>
                <a:spcPts val="5649"/>
              </a:lnSpc>
            </a:pPr>
            <a:r>
              <a:rPr lang="en-US" sz="4490">
                <a:solidFill>
                  <a:srgbClr val="020202"/>
                </a:solidFill>
                <a:latin typeface="PT Serif"/>
                <a:ea typeface="PT Serif"/>
                <a:cs typeface="PT Serif"/>
                <a:sym typeface="PT Serif"/>
              </a:rPr>
              <a:t>Real Example - Cosmix Project</a:t>
            </a:r>
          </a:p>
        </p:txBody>
      </p:sp>
      <p:sp>
        <p:nvSpPr>
          <p:cNvPr name="TextBox 10" id="10"/>
          <p:cNvSpPr txBox="true"/>
          <p:nvPr/>
        </p:nvSpPr>
        <p:spPr>
          <a:xfrm rot="0">
            <a:off x="10354368" y="1321486"/>
            <a:ext cx="7406151" cy="8796409"/>
          </a:xfrm>
          <a:prstGeom prst="rect">
            <a:avLst/>
          </a:prstGeom>
        </p:spPr>
        <p:txBody>
          <a:bodyPr anchor="t" rtlCol="false" tIns="0" lIns="0" bIns="0" rIns="0">
            <a:spAutoFit/>
          </a:bodyPr>
          <a:lstStyle/>
          <a:p>
            <a:pPr algn="l">
              <a:lnSpc>
                <a:spcPts val="3711"/>
              </a:lnSpc>
            </a:pPr>
            <a:r>
              <a:rPr lang="en-US" sz="2279">
                <a:solidFill>
                  <a:srgbClr val="000000"/>
                </a:solidFill>
                <a:latin typeface="DM Sans"/>
                <a:ea typeface="DM Sans"/>
                <a:cs typeface="DM Sans"/>
                <a:sym typeface="DM Sans"/>
              </a:rPr>
              <a:t>For the Cosmix - Student </a:t>
            </a:r>
            <a:r>
              <a:rPr lang="en-US" sz="2279">
                <a:solidFill>
                  <a:srgbClr val="000000"/>
                </a:solidFill>
                <a:latin typeface="DM Sans"/>
                <a:ea typeface="DM Sans"/>
                <a:cs typeface="DM Sans"/>
                <a:sym typeface="DM Sans"/>
              </a:rPr>
              <a:t>Tools project, we chose to build mostly on the client-side to keep costs at zero while maintaining high speed.</a:t>
            </a:r>
          </a:p>
          <a:p>
            <a:pPr algn="l">
              <a:lnSpc>
                <a:spcPts val="3711"/>
              </a:lnSpc>
            </a:pPr>
            <a:r>
              <a:rPr lang="en-US" sz="2279">
                <a:solidFill>
                  <a:srgbClr val="000000"/>
                </a:solidFill>
                <a:latin typeface="DM Sans"/>
                <a:ea typeface="DM Sans"/>
                <a:cs typeface="DM Sans"/>
                <a:sym typeface="DM Sans"/>
              </a:rPr>
              <a:t>This decision paid off. The app is fast, easy to manage, and costs nothing to run. Because it is cached, each user essentially sends just one request to the Vercel hosting servers, and the rest runs locally on their device.</a:t>
            </a:r>
          </a:p>
          <a:p>
            <a:pPr algn="l">
              <a:lnSpc>
                <a:spcPts val="3711"/>
              </a:lnSpc>
            </a:pPr>
            <a:r>
              <a:rPr lang="en-US" sz="2279">
                <a:solidFill>
                  <a:srgbClr val="000000"/>
                </a:solidFill>
                <a:latin typeface="DM Sans"/>
                <a:ea typeface="DM Sans"/>
                <a:cs typeface="DM Sans"/>
                <a:sym typeface="DM Sans"/>
              </a:rPr>
              <a:t>Why This Worked</a:t>
            </a:r>
          </a:p>
          <a:p>
            <a:pPr algn="l" marL="492150" indent="-246075" lvl="1">
              <a:lnSpc>
                <a:spcPts val="3711"/>
              </a:lnSpc>
              <a:buFont typeface="Arial"/>
              <a:buChar char="•"/>
            </a:pPr>
            <a:r>
              <a:rPr lang="en-US" sz="2279">
                <a:solidFill>
                  <a:srgbClr val="000000"/>
                </a:solidFill>
                <a:latin typeface="DM Sans"/>
                <a:ea typeface="DM Sans"/>
                <a:cs typeface="DM Sans"/>
                <a:sym typeface="DM Sans"/>
              </a:rPr>
              <a:t>Zero Hosting Costs: By offloading the work to the user's browser (client-side), we don't need expensive backend servers to process data.</a:t>
            </a:r>
          </a:p>
          <a:p>
            <a:pPr algn="l" marL="492150" indent="-246075" lvl="1">
              <a:lnSpc>
                <a:spcPts val="3711"/>
              </a:lnSpc>
              <a:buFont typeface="Arial"/>
              <a:buChar char="•"/>
            </a:pPr>
            <a:r>
              <a:rPr lang="en-US" sz="2279">
                <a:solidFill>
                  <a:srgbClr val="000000"/>
                </a:solidFill>
                <a:latin typeface="DM Sans"/>
                <a:ea typeface="DM Sans"/>
                <a:cs typeface="DM Sans"/>
                <a:sym typeface="DM Sans"/>
              </a:rPr>
              <a:t>Vercel + Caching: Vercel serves the static files once, and the browser handles the rest. This minimizes server hits and keeps us within free-tier limits.</a:t>
            </a:r>
          </a:p>
          <a:p>
            <a:pPr algn="l" marL="492149" indent="-246074" lvl="1">
              <a:lnSpc>
                <a:spcPts val="3711"/>
              </a:lnSpc>
              <a:buFont typeface="Arial"/>
              <a:buChar char="•"/>
            </a:pPr>
            <a:r>
              <a:rPr lang="en-US" sz="2279">
                <a:solidFill>
                  <a:srgbClr val="000000"/>
                </a:solidFill>
                <a:latin typeface="DM Sans"/>
                <a:ea typeface="DM Sans"/>
                <a:cs typeface="DM Sans"/>
                <a:sym typeface="DM Sans"/>
              </a:rPr>
              <a:t>Performance: Since the logic lives on the user's side, there’s no "waiting for the server" after the initial load. It feels instant.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9382277" y="4546549"/>
            <a:ext cx="3275857" cy="1766145"/>
            <a:chOff x="0" y="0"/>
            <a:chExt cx="4367809" cy="2354859"/>
          </a:xfrm>
        </p:grpSpPr>
        <p:sp>
          <p:nvSpPr>
            <p:cNvPr name="Freeform 7" id="7"/>
            <p:cNvSpPr/>
            <p:nvPr/>
          </p:nvSpPr>
          <p:spPr>
            <a:xfrm flipH="false" flipV="false" rot="0">
              <a:off x="19050" y="19050"/>
              <a:ext cx="4329684" cy="2316734"/>
            </a:xfrm>
            <a:custGeom>
              <a:avLst/>
              <a:gdLst/>
              <a:ahLst/>
              <a:cxnLst/>
              <a:rect r="r" b="b" t="t" l="l"/>
              <a:pathLst>
                <a:path h="2316734" w="4329684">
                  <a:moveTo>
                    <a:pt x="0" y="39878"/>
                  </a:moveTo>
                  <a:cubicBezTo>
                    <a:pt x="0" y="17907"/>
                    <a:pt x="18034" y="0"/>
                    <a:pt x="40132" y="0"/>
                  </a:cubicBezTo>
                  <a:lnTo>
                    <a:pt x="4289552" y="0"/>
                  </a:lnTo>
                  <a:cubicBezTo>
                    <a:pt x="4311777" y="0"/>
                    <a:pt x="4329684" y="17907"/>
                    <a:pt x="4329684" y="39878"/>
                  </a:cubicBezTo>
                  <a:lnTo>
                    <a:pt x="4329684" y="2276856"/>
                  </a:lnTo>
                  <a:cubicBezTo>
                    <a:pt x="4329684" y="2298827"/>
                    <a:pt x="4311650" y="2316734"/>
                    <a:pt x="4289552" y="2316734"/>
                  </a:cubicBezTo>
                  <a:lnTo>
                    <a:pt x="40132" y="2316734"/>
                  </a:lnTo>
                  <a:cubicBezTo>
                    <a:pt x="17907" y="2316734"/>
                    <a:pt x="0" y="2298827"/>
                    <a:pt x="0" y="2276856"/>
                  </a:cubicBezTo>
                  <a:close/>
                </a:path>
              </a:pathLst>
            </a:custGeom>
            <a:solidFill>
              <a:srgbClr val="FFFFFF"/>
            </a:solidFill>
          </p:spPr>
        </p:sp>
        <p:sp>
          <p:nvSpPr>
            <p:cNvPr name="Freeform 8" id="8"/>
            <p:cNvSpPr/>
            <p:nvPr/>
          </p:nvSpPr>
          <p:spPr>
            <a:xfrm flipH="false" flipV="false" rot="0">
              <a:off x="0" y="0"/>
              <a:ext cx="4367784" cy="2354834"/>
            </a:xfrm>
            <a:custGeom>
              <a:avLst/>
              <a:gdLst/>
              <a:ahLst/>
              <a:cxnLst/>
              <a:rect r="r" b="b" t="t" l="l"/>
              <a:pathLst>
                <a:path h="2354834" w="4367784">
                  <a:moveTo>
                    <a:pt x="0" y="58928"/>
                  </a:moveTo>
                  <a:cubicBezTo>
                    <a:pt x="0" y="26289"/>
                    <a:pt x="26670" y="0"/>
                    <a:pt x="59182" y="0"/>
                  </a:cubicBezTo>
                  <a:lnTo>
                    <a:pt x="4308602" y="0"/>
                  </a:lnTo>
                  <a:lnTo>
                    <a:pt x="4308602" y="19050"/>
                  </a:lnTo>
                  <a:lnTo>
                    <a:pt x="4308602" y="0"/>
                  </a:lnTo>
                  <a:cubicBezTo>
                    <a:pt x="4341114" y="0"/>
                    <a:pt x="4367784" y="26289"/>
                    <a:pt x="4367784" y="58928"/>
                  </a:cubicBezTo>
                  <a:lnTo>
                    <a:pt x="4348734" y="58928"/>
                  </a:lnTo>
                  <a:lnTo>
                    <a:pt x="4367784" y="58928"/>
                  </a:lnTo>
                  <a:lnTo>
                    <a:pt x="4367784" y="2295906"/>
                  </a:lnTo>
                  <a:lnTo>
                    <a:pt x="4348734" y="2295906"/>
                  </a:lnTo>
                  <a:lnTo>
                    <a:pt x="4367784" y="2295906"/>
                  </a:lnTo>
                  <a:cubicBezTo>
                    <a:pt x="4367784" y="2328545"/>
                    <a:pt x="4341114" y="2354834"/>
                    <a:pt x="4308602" y="2354834"/>
                  </a:cubicBezTo>
                  <a:lnTo>
                    <a:pt x="4308602" y="2335784"/>
                  </a:lnTo>
                  <a:lnTo>
                    <a:pt x="4308602" y="2354834"/>
                  </a:lnTo>
                  <a:lnTo>
                    <a:pt x="59182" y="2354834"/>
                  </a:lnTo>
                  <a:lnTo>
                    <a:pt x="59182" y="2335784"/>
                  </a:lnTo>
                  <a:lnTo>
                    <a:pt x="59182" y="2354834"/>
                  </a:lnTo>
                  <a:cubicBezTo>
                    <a:pt x="26670" y="2354834"/>
                    <a:pt x="0" y="2328545"/>
                    <a:pt x="0" y="2295906"/>
                  </a:cubicBezTo>
                  <a:lnTo>
                    <a:pt x="0" y="58928"/>
                  </a:lnTo>
                  <a:lnTo>
                    <a:pt x="19050" y="58928"/>
                  </a:lnTo>
                  <a:lnTo>
                    <a:pt x="0" y="58928"/>
                  </a:lnTo>
                  <a:moveTo>
                    <a:pt x="38100" y="58928"/>
                  </a:moveTo>
                  <a:lnTo>
                    <a:pt x="38100" y="2295906"/>
                  </a:lnTo>
                  <a:lnTo>
                    <a:pt x="19050" y="2295906"/>
                  </a:lnTo>
                  <a:lnTo>
                    <a:pt x="38100" y="2295906"/>
                  </a:lnTo>
                  <a:cubicBezTo>
                    <a:pt x="38100" y="2307209"/>
                    <a:pt x="47371" y="2316734"/>
                    <a:pt x="59182" y="2316734"/>
                  </a:cubicBezTo>
                  <a:lnTo>
                    <a:pt x="4308602" y="2316734"/>
                  </a:lnTo>
                  <a:cubicBezTo>
                    <a:pt x="4320413" y="2316734"/>
                    <a:pt x="4329684" y="2307336"/>
                    <a:pt x="4329684" y="2295906"/>
                  </a:cubicBezTo>
                  <a:lnTo>
                    <a:pt x="4329684" y="58928"/>
                  </a:lnTo>
                  <a:cubicBezTo>
                    <a:pt x="4329684" y="47625"/>
                    <a:pt x="4320413" y="38100"/>
                    <a:pt x="4308602" y="38100"/>
                  </a:cubicBezTo>
                  <a:lnTo>
                    <a:pt x="59182" y="38100"/>
                  </a:lnTo>
                  <a:lnTo>
                    <a:pt x="59182" y="19050"/>
                  </a:lnTo>
                  <a:lnTo>
                    <a:pt x="59182" y="38100"/>
                  </a:lnTo>
                  <a:cubicBezTo>
                    <a:pt x="47371" y="38100"/>
                    <a:pt x="38100" y="47498"/>
                    <a:pt x="38100" y="58928"/>
                  </a:cubicBezTo>
                  <a:close/>
                </a:path>
              </a:pathLst>
            </a:custGeom>
            <a:solidFill>
              <a:srgbClr val="D8D4D4"/>
            </a:solidFill>
          </p:spPr>
        </p:sp>
      </p:grpSp>
      <p:grpSp>
        <p:nvGrpSpPr>
          <p:cNvPr name="Group 9" id="9"/>
          <p:cNvGrpSpPr/>
          <p:nvPr/>
        </p:nvGrpSpPr>
        <p:grpSpPr>
          <a:xfrm rot="0">
            <a:off x="12769606" y="4546549"/>
            <a:ext cx="3275857" cy="1766145"/>
            <a:chOff x="0" y="0"/>
            <a:chExt cx="4367809" cy="2354859"/>
          </a:xfrm>
        </p:grpSpPr>
        <p:sp>
          <p:nvSpPr>
            <p:cNvPr name="Freeform 10" id="10"/>
            <p:cNvSpPr/>
            <p:nvPr/>
          </p:nvSpPr>
          <p:spPr>
            <a:xfrm flipH="false" flipV="false" rot="0">
              <a:off x="19050" y="19050"/>
              <a:ext cx="4329684" cy="2316734"/>
            </a:xfrm>
            <a:custGeom>
              <a:avLst/>
              <a:gdLst/>
              <a:ahLst/>
              <a:cxnLst/>
              <a:rect r="r" b="b" t="t" l="l"/>
              <a:pathLst>
                <a:path h="2316734" w="4329684">
                  <a:moveTo>
                    <a:pt x="0" y="39878"/>
                  </a:moveTo>
                  <a:cubicBezTo>
                    <a:pt x="0" y="17907"/>
                    <a:pt x="18034" y="0"/>
                    <a:pt x="40132" y="0"/>
                  </a:cubicBezTo>
                  <a:lnTo>
                    <a:pt x="4289552" y="0"/>
                  </a:lnTo>
                  <a:cubicBezTo>
                    <a:pt x="4311777" y="0"/>
                    <a:pt x="4329684" y="17907"/>
                    <a:pt x="4329684" y="39878"/>
                  </a:cubicBezTo>
                  <a:lnTo>
                    <a:pt x="4329684" y="2276856"/>
                  </a:lnTo>
                  <a:cubicBezTo>
                    <a:pt x="4329684" y="2298827"/>
                    <a:pt x="4311650" y="2316734"/>
                    <a:pt x="4289552" y="2316734"/>
                  </a:cubicBezTo>
                  <a:lnTo>
                    <a:pt x="40132" y="2316734"/>
                  </a:lnTo>
                  <a:cubicBezTo>
                    <a:pt x="17907" y="2316734"/>
                    <a:pt x="0" y="2298827"/>
                    <a:pt x="0" y="2276856"/>
                  </a:cubicBezTo>
                  <a:close/>
                </a:path>
              </a:pathLst>
            </a:custGeom>
            <a:solidFill>
              <a:srgbClr val="FFFFFF"/>
            </a:solidFill>
          </p:spPr>
        </p:sp>
        <p:sp>
          <p:nvSpPr>
            <p:cNvPr name="Freeform 11" id="11"/>
            <p:cNvSpPr/>
            <p:nvPr/>
          </p:nvSpPr>
          <p:spPr>
            <a:xfrm flipH="false" flipV="false" rot="0">
              <a:off x="0" y="0"/>
              <a:ext cx="4367784" cy="2354834"/>
            </a:xfrm>
            <a:custGeom>
              <a:avLst/>
              <a:gdLst/>
              <a:ahLst/>
              <a:cxnLst/>
              <a:rect r="r" b="b" t="t" l="l"/>
              <a:pathLst>
                <a:path h="2354834" w="4367784">
                  <a:moveTo>
                    <a:pt x="0" y="58928"/>
                  </a:moveTo>
                  <a:cubicBezTo>
                    <a:pt x="0" y="26289"/>
                    <a:pt x="26670" y="0"/>
                    <a:pt x="59182" y="0"/>
                  </a:cubicBezTo>
                  <a:lnTo>
                    <a:pt x="4308602" y="0"/>
                  </a:lnTo>
                  <a:lnTo>
                    <a:pt x="4308602" y="19050"/>
                  </a:lnTo>
                  <a:lnTo>
                    <a:pt x="4308602" y="0"/>
                  </a:lnTo>
                  <a:cubicBezTo>
                    <a:pt x="4341114" y="0"/>
                    <a:pt x="4367784" y="26289"/>
                    <a:pt x="4367784" y="58928"/>
                  </a:cubicBezTo>
                  <a:lnTo>
                    <a:pt x="4348734" y="58928"/>
                  </a:lnTo>
                  <a:lnTo>
                    <a:pt x="4367784" y="58928"/>
                  </a:lnTo>
                  <a:lnTo>
                    <a:pt x="4367784" y="2295906"/>
                  </a:lnTo>
                  <a:lnTo>
                    <a:pt x="4348734" y="2295906"/>
                  </a:lnTo>
                  <a:lnTo>
                    <a:pt x="4367784" y="2295906"/>
                  </a:lnTo>
                  <a:cubicBezTo>
                    <a:pt x="4367784" y="2328545"/>
                    <a:pt x="4341114" y="2354834"/>
                    <a:pt x="4308602" y="2354834"/>
                  </a:cubicBezTo>
                  <a:lnTo>
                    <a:pt x="4308602" y="2335784"/>
                  </a:lnTo>
                  <a:lnTo>
                    <a:pt x="4308602" y="2354834"/>
                  </a:lnTo>
                  <a:lnTo>
                    <a:pt x="59182" y="2354834"/>
                  </a:lnTo>
                  <a:lnTo>
                    <a:pt x="59182" y="2335784"/>
                  </a:lnTo>
                  <a:lnTo>
                    <a:pt x="59182" y="2354834"/>
                  </a:lnTo>
                  <a:cubicBezTo>
                    <a:pt x="26670" y="2354834"/>
                    <a:pt x="0" y="2328545"/>
                    <a:pt x="0" y="2295906"/>
                  </a:cubicBezTo>
                  <a:lnTo>
                    <a:pt x="0" y="58928"/>
                  </a:lnTo>
                  <a:lnTo>
                    <a:pt x="19050" y="58928"/>
                  </a:lnTo>
                  <a:lnTo>
                    <a:pt x="0" y="58928"/>
                  </a:lnTo>
                  <a:moveTo>
                    <a:pt x="38100" y="58928"/>
                  </a:moveTo>
                  <a:lnTo>
                    <a:pt x="38100" y="2295906"/>
                  </a:lnTo>
                  <a:lnTo>
                    <a:pt x="19050" y="2295906"/>
                  </a:lnTo>
                  <a:lnTo>
                    <a:pt x="38100" y="2295906"/>
                  </a:lnTo>
                  <a:cubicBezTo>
                    <a:pt x="38100" y="2307209"/>
                    <a:pt x="47371" y="2316734"/>
                    <a:pt x="59182" y="2316734"/>
                  </a:cubicBezTo>
                  <a:lnTo>
                    <a:pt x="4308602" y="2316734"/>
                  </a:lnTo>
                  <a:cubicBezTo>
                    <a:pt x="4320413" y="2316734"/>
                    <a:pt x="4329684" y="2307336"/>
                    <a:pt x="4329684" y="2295906"/>
                  </a:cubicBezTo>
                  <a:lnTo>
                    <a:pt x="4329684" y="58928"/>
                  </a:lnTo>
                  <a:cubicBezTo>
                    <a:pt x="4329684" y="47625"/>
                    <a:pt x="4320413" y="38100"/>
                    <a:pt x="4308602" y="38100"/>
                  </a:cubicBezTo>
                  <a:lnTo>
                    <a:pt x="59182" y="38100"/>
                  </a:lnTo>
                  <a:lnTo>
                    <a:pt x="59182" y="19050"/>
                  </a:lnTo>
                  <a:lnTo>
                    <a:pt x="59182" y="38100"/>
                  </a:lnTo>
                  <a:cubicBezTo>
                    <a:pt x="47371" y="38100"/>
                    <a:pt x="38100" y="47498"/>
                    <a:pt x="38100" y="58928"/>
                  </a:cubicBezTo>
                  <a:close/>
                </a:path>
              </a:pathLst>
            </a:custGeom>
            <a:solidFill>
              <a:srgbClr val="D8D4D4"/>
            </a:solidFill>
          </p:spPr>
        </p:sp>
      </p:grpSp>
      <p:grpSp>
        <p:nvGrpSpPr>
          <p:cNvPr name="Group 12" id="12"/>
          <p:cNvGrpSpPr/>
          <p:nvPr/>
        </p:nvGrpSpPr>
        <p:grpSpPr>
          <a:xfrm rot="0">
            <a:off x="9382277" y="6424165"/>
            <a:ext cx="6663185" cy="1494530"/>
            <a:chOff x="0" y="0"/>
            <a:chExt cx="8884247" cy="1992706"/>
          </a:xfrm>
        </p:grpSpPr>
        <p:sp>
          <p:nvSpPr>
            <p:cNvPr name="Freeform 13" id="13"/>
            <p:cNvSpPr/>
            <p:nvPr/>
          </p:nvSpPr>
          <p:spPr>
            <a:xfrm flipH="false" flipV="false" rot="0">
              <a:off x="19050" y="19050"/>
              <a:ext cx="8846185" cy="1954657"/>
            </a:xfrm>
            <a:custGeom>
              <a:avLst/>
              <a:gdLst/>
              <a:ahLst/>
              <a:cxnLst/>
              <a:rect r="r" b="b" t="t" l="l"/>
              <a:pathLst>
                <a:path h="1954657" w="8846185">
                  <a:moveTo>
                    <a:pt x="0" y="39878"/>
                  </a:moveTo>
                  <a:cubicBezTo>
                    <a:pt x="0" y="17907"/>
                    <a:pt x="18161" y="0"/>
                    <a:pt x="40513" y="0"/>
                  </a:cubicBezTo>
                  <a:lnTo>
                    <a:pt x="8805672" y="0"/>
                  </a:lnTo>
                  <a:cubicBezTo>
                    <a:pt x="8828024" y="0"/>
                    <a:pt x="8846185" y="17907"/>
                    <a:pt x="8846185" y="39878"/>
                  </a:cubicBezTo>
                  <a:lnTo>
                    <a:pt x="8846185" y="1914779"/>
                  </a:lnTo>
                  <a:cubicBezTo>
                    <a:pt x="8846185" y="1936750"/>
                    <a:pt x="8828024" y="1954657"/>
                    <a:pt x="8805672" y="1954657"/>
                  </a:cubicBezTo>
                  <a:lnTo>
                    <a:pt x="40513" y="1954657"/>
                  </a:lnTo>
                  <a:cubicBezTo>
                    <a:pt x="18161" y="1954657"/>
                    <a:pt x="0" y="1936750"/>
                    <a:pt x="0" y="1914779"/>
                  </a:cubicBezTo>
                  <a:close/>
                </a:path>
              </a:pathLst>
            </a:custGeom>
            <a:solidFill>
              <a:srgbClr val="FFFFFF"/>
            </a:solidFill>
          </p:spPr>
        </p:sp>
        <p:sp>
          <p:nvSpPr>
            <p:cNvPr name="Freeform 14" id="14"/>
            <p:cNvSpPr/>
            <p:nvPr/>
          </p:nvSpPr>
          <p:spPr>
            <a:xfrm flipH="false" flipV="false" rot="0">
              <a:off x="0" y="0"/>
              <a:ext cx="8884285" cy="1992757"/>
            </a:xfrm>
            <a:custGeom>
              <a:avLst/>
              <a:gdLst/>
              <a:ahLst/>
              <a:cxnLst/>
              <a:rect r="r" b="b" t="t" l="l"/>
              <a:pathLst>
                <a:path h="1992757" w="8884285">
                  <a:moveTo>
                    <a:pt x="0" y="58928"/>
                  </a:moveTo>
                  <a:cubicBezTo>
                    <a:pt x="0" y="26162"/>
                    <a:pt x="26924" y="0"/>
                    <a:pt x="59563" y="0"/>
                  </a:cubicBezTo>
                  <a:lnTo>
                    <a:pt x="8824722" y="0"/>
                  </a:lnTo>
                  <a:lnTo>
                    <a:pt x="8824722" y="19050"/>
                  </a:lnTo>
                  <a:lnTo>
                    <a:pt x="8824722" y="0"/>
                  </a:lnTo>
                  <a:cubicBezTo>
                    <a:pt x="8857361" y="0"/>
                    <a:pt x="8884285" y="26162"/>
                    <a:pt x="8884285" y="58928"/>
                  </a:cubicBezTo>
                  <a:lnTo>
                    <a:pt x="8865235" y="58928"/>
                  </a:lnTo>
                  <a:lnTo>
                    <a:pt x="8884285" y="58928"/>
                  </a:lnTo>
                  <a:lnTo>
                    <a:pt x="8884285" y="1933829"/>
                  </a:lnTo>
                  <a:lnTo>
                    <a:pt x="8865235" y="1933829"/>
                  </a:lnTo>
                  <a:lnTo>
                    <a:pt x="8884285" y="1933829"/>
                  </a:lnTo>
                  <a:cubicBezTo>
                    <a:pt x="8884285" y="1966595"/>
                    <a:pt x="8857361" y="1992757"/>
                    <a:pt x="8824722" y="1992757"/>
                  </a:cubicBezTo>
                  <a:lnTo>
                    <a:pt x="8824722" y="1973707"/>
                  </a:lnTo>
                  <a:lnTo>
                    <a:pt x="8824722" y="1992757"/>
                  </a:lnTo>
                  <a:lnTo>
                    <a:pt x="59563" y="1992757"/>
                  </a:lnTo>
                  <a:lnTo>
                    <a:pt x="59563" y="1973707"/>
                  </a:lnTo>
                  <a:lnTo>
                    <a:pt x="59563" y="1992757"/>
                  </a:lnTo>
                  <a:cubicBezTo>
                    <a:pt x="26924" y="1992757"/>
                    <a:pt x="0" y="1966595"/>
                    <a:pt x="0" y="1933829"/>
                  </a:cubicBezTo>
                  <a:lnTo>
                    <a:pt x="0" y="58928"/>
                  </a:lnTo>
                  <a:lnTo>
                    <a:pt x="19050" y="58928"/>
                  </a:lnTo>
                  <a:lnTo>
                    <a:pt x="0" y="58928"/>
                  </a:lnTo>
                  <a:moveTo>
                    <a:pt x="38100" y="58928"/>
                  </a:moveTo>
                  <a:lnTo>
                    <a:pt x="38100" y="1933829"/>
                  </a:lnTo>
                  <a:lnTo>
                    <a:pt x="19050" y="1933829"/>
                  </a:lnTo>
                  <a:lnTo>
                    <a:pt x="38100" y="1933829"/>
                  </a:lnTo>
                  <a:cubicBezTo>
                    <a:pt x="38100" y="1945005"/>
                    <a:pt x="47371" y="1954657"/>
                    <a:pt x="59563" y="1954657"/>
                  </a:cubicBezTo>
                  <a:lnTo>
                    <a:pt x="8824722" y="1954657"/>
                  </a:lnTo>
                  <a:cubicBezTo>
                    <a:pt x="8836787" y="1954657"/>
                    <a:pt x="8846185" y="1945005"/>
                    <a:pt x="8846185" y="1933829"/>
                  </a:cubicBezTo>
                  <a:lnTo>
                    <a:pt x="8846185" y="58928"/>
                  </a:lnTo>
                  <a:cubicBezTo>
                    <a:pt x="8846185" y="47752"/>
                    <a:pt x="8836914" y="38100"/>
                    <a:pt x="8824722" y="38100"/>
                  </a:cubicBezTo>
                  <a:lnTo>
                    <a:pt x="59563" y="38100"/>
                  </a:lnTo>
                  <a:lnTo>
                    <a:pt x="59563" y="19050"/>
                  </a:lnTo>
                  <a:lnTo>
                    <a:pt x="59563" y="38100"/>
                  </a:lnTo>
                  <a:cubicBezTo>
                    <a:pt x="47371" y="38100"/>
                    <a:pt x="38100" y="47752"/>
                    <a:pt x="38100" y="58928"/>
                  </a:cubicBezTo>
                  <a:close/>
                </a:path>
              </a:pathLst>
            </a:custGeom>
            <a:solidFill>
              <a:srgbClr val="D8D4D4"/>
            </a:solidFill>
          </p:spPr>
        </p:sp>
      </p:grpSp>
      <p:sp>
        <p:nvSpPr>
          <p:cNvPr name="Freeform 15" id="15"/>
          <p:cNvSpPr/>
          <p:nvPr/>
        </p:nvSpPr>
        <p:spPr>
          <a:xfrm flipH="false" flipV="false" rot="0">
            <a:off x="2266055" y="3061253"/>
            <a:ext cx="6516148" cy="6474577"/>
          </a:xfrm>
          <a:custGeom>
            <a:avLst/>
            <a:gdLst/>
            <a:ahLst/>
            <a:cxnLst/>
            <a:rect r="r" b="b" t="t" l="l"/>
            <a:pathLst>
              <a:path h="6474577" w="6516148">
                <a:moveTo>
                  <a:pt x="0" y="0"/>
                </a:moveTo>
                <a:lnTo>
                  <a:pt x="6516147" y="0"/>
                </a:lnTo>
                <a:lnTo>
                  <a:pt x="6516147" y="6474577"/>
                </a:lnTo>
                <a:lnTo>
                  <a:pt x="0" y="6474577"/>
                </a:lnTo>
                <a:lnTo>
                  <a:pt x="0" y="0"/>
                </a:lnTo>
                <a:close/>
              </a:path>
            </a:pathLst>
          </a:custGeom>
          <a:blipFill>
            <a:blip r:embed="rId3"/>
            <a:stretch>
              <a:fillRect l="0" t="0" r="0" b="0"/>
            </a:stretch>
          </a:blipFill>
        </p:spPr>
      </p:sp>
      <p:sp>
        <p:nvSpPr>
          <p:cNvPr name="TextBox 16" id="16"/>
          <p:cNvSpPr txBox="true"/>
          <p:nvPr/>
        </p:nvSpPr>
        <p:spPr>
          <a:xfrm rot="0">
            <a:off x="2266055" y="550812"/>
            <a:ext cx="10579303" cy="682676"/>
          </a:xfrm>
          <a:prstGeom prst="rect">
            <a:avLst/>
          </a:prstGeom>
        </p:spPr>
        <p:txBody>
          <a:bodyPr anchor="t" rtlCol="false" tIns="0" lIns="0" bIns="0" rIns="0">
            <a:spAutoFit/>
          </a:bodyPr>
          <a:lstStyle/>
          <a:p>
            <a:pPr algn="l">
              <a:lnSpc>
                <a:spcPts val="5125"/>
              </a:lnSpc>
            </a:pPr>
            <a:r>
              <a:rPr lang="en-US" sz="4062">
                <a:solidFill>
                  <a:srgbClr val="020202"/>
                </a:solidFill>
                <a:latin typeface="PT Serif"/>
                <a:ea typeface="PT Serif"/>
                <a:cs typeface="PT Serif"/>
                <a:sym typeface="PT Serif"/>
              </a:rPr>
              <a:t>Budgeting: Developing the Financial Baseline</a:t>
            </a:r>
          </a:p>
        </p:txBody>
      </p:sp>
      <p:sp>
        <p:nvSpPr>
          <p:cNvPr name="TextBox 17" id="17"/>
          <p:cNvSpPr txBox="true"/>
          <p:nvPr/>
        </p:nvSpPr>
        <p:spPr>
          <a:xfrm rot="0">
            <a:off x="2266055" y="1269346"/>
            <a:ext cx="13755738" cy="1646047"/>
          </a:xfrm>
          <a:prstGeom prst="rect">
            <a:avLst/>
          </a:prstGeom>
        </p:spPr>
        <p:txBody>
          <a:bodyPr anchor="t" rtlCol="false" tIns="0" lIns="0" bIns="0" rIns="0">
            <a:spAutoFit/>
          </a:bodyPr>
          <a:lstStyle/>
          <a:p>
            <a:pPr algn="l">
              <a:lnSpc>
                <a:spcPts val="2668"/>
              </a:lnSpc>
            </a:pPr>
            <a:r>
              <a:rPr lang="en-US" sz="1962">
                <a:solidFill>
                  <a:srgbClr val="000000"/>
                </a:solidFill>
                <a:latin typeface="DM Sans"/>
                <a:ea typeface="DM Sans"/>
                <a:cs typeface="DM Sans"/>
                <a:sym typeface="DM Sans"/>
              </a:rPr>
              <a:t>Budgeting is the process of creating estimated cost and attach it to a timeline. In IT, this includes distinguishing between </a:t>
            </a:r>
            <a:r>
              <a:rPr lang="en-US" b="true" sz="1962">
                <a:solidFill>
                  <a:srgbClr val="000000"/>
                </a:solidFill>
                <a:latin typeface="DM Sans Bold"/>
                <a:ea typeface="DM Sans Bold"/>
                <a:cs typeface="DM Sans Bold"/>
                <a:sym typeface="DM Sans Bold"/>
              </a:rPr>
              <a:t>CAPEX</a:t>
            </a:r>
            <a:r>
              <a:rPr lang="en-US" sz="1962">
                <a:solidFill>
                  <a:srgbClr val="000000"/>
                </a:solidFill>
                <a:latin typeface="DM Sans"/>
                <a:ea typeface="DM Sans"/>
                <a:cs typeface="DM Sans"/>
                <a:sym typeface="DM Sans"/>
              </a:rPr>
              <a:t> (Capital Expenditures like new servers) and </a:t>
            </a:r>
            <a:r>
              <a:rPr lang="en-US" b="true" sz="1962">
                <a:solidFill>
                  <a:srgbClr val="000000"/>
                </a:solidFill>
                <a:latin typeface="DM Sans Bold"/>
                <a:ea typeface="DM Sans Bold"/>
                <a:cs typeface="DM Sans Bold"/>
                <a:sym typeface="DM Sans Bold"/>
              </a:rPr>
              <a:t>OPEX</a:t>
            </a:r>
            <a:r>
              <a:rPr lang="en-US" sz="1962">
                <a:solidFill>
                  <a:srgbClr val="000000"/>
                </a:solidFill>
                <a:latin typeface="DM Sans"/>
                <a:ea typeface="DM Sans"/>
                <a:cs typeface="DM Sans"/>
                <a:sym typeface="DM Sans"/>
              </a:rPr>
              <a:t> (Operating Expenses like cloud subscriptions). The result is the </a:t>
            </a:r>
            <a:r>
              <a:rPr lang="en-US" b="true" sz="1962">
                <a:solidFill>
                  <a:srgbClr val="000000"/>
                </a:solidFill>
                <a:latin typeface="DM Sans Bold"/>
                <a:ea typeface="DM Sans Bold"/>
                <a:cs typeface="DM Sans Bold"/>
                <a:sym typeface="DM Sans Bold"/>
              </a:rPr>
              <a:t>Cost Baseline-</a:t>
            </a:r>
            <a:r>
              <a:rPr lang="en-US" sz="1962">
                <a:solidFill>
                  <a:srgbClr val="000000"/>
                </a:solidFill>
                <a:latin typeface="DM Sans"/>
                <a:ea typeface="DM Sans"/>
                <a:cs typeface="DM Sans"/>
                <a:sym typeface="DM Sans"/>
              </a:rPr>
              <a:t>a time-phased budget that the project manager uses to measure and monitor cost performance. This baseline is critical for stakeholders to understand when cash outflows will occur during the development lifecycle.</a:t>
            </a:r>
          </a:p>
        </p:txBody>
      </p:sp>
      <p:sp>
        <p:nvSpPr>
          <p:cNvPr name="TextBox 18" id="18"/>
          <p:cNvSpPr txBox="true"/>
          <p:nvPr/>
        </p:nvSpPr>
        <p:spPr>
          <a:xfrm rot="0">
            <a:off x="9624422" y="4769644"/>
            <a:ext cx="2616546" cy="346024"/>
          </a:xfrm>
          <a:prstGeom prst="rect">
            <a:avLst/>
          </a:prstGeom>
        </p:spPr>
        <p:txBody>
          <a:bodyPr anchor="t" rtlCol="false" tIns="0" lIns="0" bIns="0" rIns="0">
            <a:spAutoFit/>
          </a:bodyPr>
          <a:lstStyle/>
          <a:p>
            <a:pPr algn="l">
              <a:lnSpc>
                <a:spcPts val="2562"/>
              </a:lnSpc>
            </a:pPr>
            <a:r>
              <a:rPr lang="en-US" sz="2000">
                <a:solidFill>
                  <a:srgbClr val="000000"/>
                </a:solidFill>
                <a:latin typeface="PT Serif"/>
                <a:ea typeface="PT Serif"/>
                <a:cs typeface="PT Serif"/>
                <a:sym typeface="PT Serif"/>
              </a:rPr>
              <a:t>CAPEX</a:t>
            </a:r>
          </a:p>
        </p:txBody>
      </p:sp>
      <p:sp>
        <p:nvSpPr>
          <p:cNvPr name="TextBox 19" id="19"/>
          <p:cNvSpPr txBox="true"/>
          <p:nvPr/>
        </p:nvSpPr>
        <p:spPr>
          <a:xfrm rot="0">
            <a:off x="9624422" y="5227139"/>
            <a:ext cx="2791568" cy="843410"/>
          </a:xfrm>
          <a:prstGeom prst="rect">
            <a:avLst/>
          </a:prstGeom>
        </p:spPr>
        <p:txBody>
          <a:bodyPr anchor="t" rtlCol="false" tIns="0" lIns="0" bIns="0" rIns="0">
            <a:spAutoFit/>
          </a:bodyPr>
          <a:lstStyle/>
          <a:p>
            <a:pPr algn="l">
              <a:lnSpc>
                <a:spcPts val="2125"/>
              </a:lnSpc>
            </a:pPr>
            <a:r>
              <a:rPr lang="en-US" sz="1562">
                <a:solidFill>
                  <a:srgbClr val="000000"/>
                </a:solidFill>
                <a:latin typeface="DM Sans"/>
                <a:ea typeface="DM Sans"/>
                <a:cs typeface="DM Sans"/>
                <a:sym typeface="DM Sans"/>
              </a:rPr>
              <a:t>Capital Expenditures — new servers, hardware, infrastructure investments</a:t>
            </a:r>
          </a:p>
        </p:txBody>
      </p:sp>
      <p:sp>
        <p:nvSpPr>
          <p:cNvPr name="TextBox 20" id="20"/>
          <p:cNvSpPr txBox="true"/>
          <p:nvPr/>
        </p:nvSpPr>
        <p:spPr>
          <a:xfrm rot="0">
            <a:off x="13011741" y="4769644"/>
            <a:ext cx="2616546" cy="346024"/>
          </a:xfrm>
          <a:prstGeom prst="rect">
            <a:avLst/>
          </a:prstGeom>
        </p:spPr>
        <p:txBody>
          <a:bodyPr anchor="t" rtlCol="false" tIns="0" lIns="0" bIns="0" rIns="0">
            <a:spAutoFit/>
          </a:bodyPr>
          <a:lstStyle/>
          <a:p>
            <a:pPr algn="l">
              <a:lnSpc>
                <a:spcPts val="2562"/>
              </a:lnSpc>
            </a:pPr>
            <a:r>
              <a:rPr lang="en-US" sz="2000">
                <a:solidFill>
                  <a:srgbClr val="000000"/>
                </a:solidFill>
                <a:latin typeface="PT Serif"/>
                <a:ea typeface="PT Serif"/>
                <a:cs typeface="PT Serif"/>
                <a:sym typeface="PT Serif"/>
              </a:rPr>
              <a:t>OPEX</a:t>
            </a:r>
          </a:p>
        </p:txBody>
      </p:sp>
      <p:sp>
        <p:nvSpPr>
          <p:cNvPr name="TextBox 21" id="21"/>
          <p:cNvSpPr txBox="true"/>
          <p:nvPr/>
        </p:nvSpPr>
        <p:spPr>
          <a:xfrm rot="0">
            <a:off x="13011741" y="5227139"/>
            <a:ext cx="2791568" cy="843410"/>
          </a:xfrm>
          <a:prstGeom prst="rect">
            <a:avLst/>
          </a:prstGeom>
        </p:spPr>
        <p:txBody>
          <a:bodyPr anchor="t" rtlCol="false" tIns="0" lIns="0" bIns="0" rIns="0">
            <a:spAutoFit/>
          </a:bodyPr>
          <a:lstStyle/>
          <a:p>
            <a:pPr algn="l">
              <a:lnSpc>
                <a:spcPts val="2125"/>
              </a:lnSpc>
            </a:pPr>
            <a:r>
              <a:rPr lang="en-US" sz="1562">
                <a:solidFill>
                  <a:srgbClr val="000000"/>
                </a:solidFill>
                <a:latin typeface="DM Sans"/>
                <a:ea typeface="DM Sans"/>
                <a:cs typeface="DM Sans"/>
                <a:sym typeface="DM Sans"/>
              </a:rPr>
              <a:t>Operating Expenses — cloud subscriptions, maintenance, support services</a:t>
            </a:r>
          </a:p>
        </p:txBody>
      </p:sp>
      <p:sp>
        <p:nvSpPr>
          <p:cNvPr name="TextBox 22" id="22"/>
          <p:cNvSpPr txBox="true"/>
          <p:nvPr/>
        </p:nvSpPr>
        <p:spPr>
          <a:xfrm rot="0">
            <a:off x="9624422" y="6647259"/>
            <a:ext cx="2616546" cy="346024"/>
          </a:xfrm>
          <a:prstGeom prst="rect">
            <a:avLst/>
          </a:prstGeom>
        </p:spPr>
        <p:txBody>
          <a:bodyPr anchor="t" rtlCol="false" tIns="0" lIns="0" bIns="0" rIns="0">
            <a:spAutoFit/>
          </a:bodyPr>
          <a:lstStyle/>
          <a:p>
            <a:pPr algn="l">
              <a:lnSpc>
                <a:spcPts val="2562"/>
              </a:lnSpc>
            </a:pPr>
            <a:r>
              <a:rPr lang="en-US" sz="2000">
                <a:solidFill>
                  <a:srgbClr val="000000"/>
                </a:solidFill>
                <a:latin typeface="PT Serif"/>
                <a:ea typeface="PT Serif"/>
                <a:cs typeface="PT Serif"/>
                <a:sym typeface="PT Serif"/>
              </a:rPr>
              <a:t>Cost Baseline</a:t>
            </a:r>
          </a:p>
        </p:txBody>
      </p:sp>
      <p:sp>
        <p:nvSpPr>
          <p:cNvPr name="TextBox 23" id="23"/>
          <p:cNvSpPr txBox="true"/>
          <p:nvPr/>
        </p:nvSpPr>
        <p:spPr>
          <a:xfrm rot="0">
            <a:off x="9624422" y="7104755"/>
            <a:ext cx="6178896" cy="571795"/>
          </a:xfrm>
          <a:prstGeom prst="rect">
            <a:avLst/>
          </a:prstGeom>
        </p:spPr>
        <p:txBody>
          <a:bodyPr anchor="t" rtlCol="false" tIns="0" lIns="0" bIns="0" rIns="0">
            <a:spAutoFit/>
          </a:bodyPr>
          <a:lstStyle/>
          <a:p>
            <a:pPr algn="l">
              <a:lnSpc>
                <a:spcPts val="2125"/>
              </a:lnSpc>
            </a:pPr>
            <a:r>
              <a:rPr lang="en-US" sz="1562">
                <a:solidFill>
                  <a:srgbClr val="000000"/>
                </a:solidFill>
                <a:latin typeface="DM Sans"/>
                <a:ea typeface="DM Sans"/>
                <a:cs typeface="DM Sans"/>
                <a:sym typeface="DM Sans"/>
              </a:rPr>
              <a:t>Time-phased budget used to measure and monitor cost performance throughout the project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945506" y="3867173"/>
            <a:ext cx="5449831" cy="4447780"/>
            <a:chOff x="0" y="0"/>
            <a:chExt cx="6839153" cy="5581650"/>
          </a:xfrm>
        </p:grpSpPr>
        <p:sp>
          <p:nvSpPr>
            <p:cNvPr name="Freeform 7" id="7"/>
            <p:cNvSpPr/>
            <p:nvPr/>
          </p:nvSpPr>
          <p:spPr>
            <a:xfrm flipH="false" flipV="false" rot="0">
              <a:off x="19050" y="19050"/>
              <a:ext cx="6801103" cy="5543550"/>
            </a:xfrm>
            <a:custGeom>
              <a:avLst/>
              <a:gdLst/>
              <a:ahLst/>
              <a:cxnLst/>
              <a:rect r="r" b="b" t="t" l="l"/>
              <a:pathLst>
                <a:path h="5543550" w="6801103">
                  <a:moveTo>
                    <a:pt x="0" y="182880"/>
                  </a:moveTo>
                  <a:cubicBezTo>
                    <a:pt x="0" y="81915"/>
                    <a:pt x="82042" y="0"/>
                    <a:pt x="183134" y="0"/>
                  </a:cubicBezTo>
                  <a:lnTo>
                    <a:pt x="6617970" y="0"/>
                  </a:lnTo>
                  <a:cubicBezTo>
                    <a:pt x="6719062" y="0"/>
                    <a:pt x="6801103" y="81915"/>
                    <a:pt x="6801103" y="182880"/>
                  </a:cubicBezTo>
                  <a:lnTo>
                    <a:pt x="6801103" y="5360670"/>
                  </a:lnTo>
                  <a:cubicBezTo>
                    <a:pt x="6801103" y="5461635"/>
                    <a:pt x="6719062" y="5543550"/>
                    <a:pt x="6617970" y="5543550"/>
                  </a:cubicBezTo>
                  <a:lnTo>
                    <a:pt x="183134" y="5543550"/>
                  </a:lnTo>
                  <a:cubicBezTo>
                    <a:pt x="82042" y="5543550"/>
                    <a:pt x="0" y="5461635"/>
                    <a:pt x="0" y="5360670"/>
                  </a:cubicBezTo>
                  <a:close/>
                </a:path>
              </a:pathLst>
            </a:custGeom>
            <a:solidFill>
              <a:srgbClr val="FFFFFF"/>
            </a:solidFill>
          </p:spPr>
        </p:sp>
        <p:sp>
          <p:nvSpPr>
            <p:cNvPr name="Freeform 8" id="8"/>
            <p:cNvSpPr/>
            <p:nvPr/>
          </p:nvSpPr>
          <p:spPr>
            <a:xfrm flipH="false" flipV="false" rot="0">
              <a:off x="0" y="0"/>
              <a:ext cx="6839203" cy="5581650"/>
            </a:xfrm>
            <a:custGeom>
              <a:avLst/>
              <a:gdLst/>
              <a:ahLst/>
              <a:cxnLst/>
              <a:rect r="r" b="b" t="t" l="l"/>
              <a:pathLst>
                <a:path h="5581650" w="6839203">
                  <a:moveTo>
                    <a:pt x="0" y="201930"/>
                  </a:moveTo>
                  <a:cubicBezTo>
                    <a:pt x="0" y="90424"/>
                    <a:pt x="90551" y="0"/>
                    <a:pt x="202184" y="0"/>
                  </a:cubicBezTo>
                  <a:lnTo>
                    <a:pt x="6637020" y="0"/>
                  </a:lnTo>
                  <a:lnTo>
                    <a:pt x="6637020" y="19050"/>
                  </a:lnTo>
                  <a:lnTo>
                    <a:pt x="6637020" y="0"/>
                  </a:lnTo>
                  <a:cubicBezTo>
                    <a:pt x="6748652" y="0"/>
                    <a:pt x="6839203" y="90424"/>
                    <a:pt x="6839203" y="201930"/>
                  </a:cubicBezTo>
                  <a:lnTo>
                    <a:pt x="6839203" y="5379720"/>
                  </a:lnTo>
                  <a:lnTo>
                    <a:pt x="6820153" y="5379720"/>
                  </a:lnTo>
                  <a:lnTo>
                    <a:pt x="6839203" y="5379720"/>
                  </a:lnTo>
                  <a:cubicBezTo>
                    <a:pt x="6839203" y="5491226"/>
                    <a:pt x="6748652" y="5581650"/>
                    <a:pt x="6637020" y="5581650"/>
                  </a:cubicBezTo>
                  <a:lnTo>
                    <a:pt x="6637020" y="5562600"/>
                  </a:lnTo>
                  <a:lnTo>
                    <a:pt x="6637020" y="5581650"/>
                  </a:lnTo>
                  <a:lnTo>
                    <a:pt x="202184" y="5581650"/>
                  </a:lnTo>
                  <a:lnTo>
                    <a:pt x="202184" y="5562600"/>
                  </a:lnTo>
                  <a:lnTo>
                    <a:pt x="202184" y="5581650"/>
                  </a:lnTo>
                  <a:cubicBezTo>
                    <a:pt x="90551" y="5581650"/>
                    <a:pt x="0" y="5491226"/>
                    <a:pt x="0" y="5379720"/>
                  </a:cubicBezTo>
                  <a:lnTo>
                    <a:pt x="0" y="201930"/>
                  </a:lnTo>
                  <a:lnTo>
                    <a:pt x="19050" y="201930"/>
                  </a:lnTo>
                  <a:lnTo>
                    <a:pt x="0" y="201930"/>
                  </a:lnTo>
                  <a:moveTo>
                    <a:pt x="38100" y="201930"/>
                  </a:moveTo>
                  <a:lnTo>
                    <a:pt x="38100" y="5379720"/>
                  </a:lnTo>
                  <a:lnTo>
                    <a:pt x="19050" y="5379720"/>
                  </a:lnTo>
                  <a:lnTo>
                    <a:pt x="38100" y="5379720"/>
                  </a:lnTo>
                  <a:cubicBezTo>
                    <a:pt x="38100" y="5470144"/>
                    <a:pt x="111506" y="5543550"/>
                    <a:pt x="202184" y="5543550"/>
                  </a:cubicBezTo>
                  <a:lnTo>
                    <a:pt x="6637020" y="5543550"/>
                  </a:lnTo>
                  <a:cubicBezTo>
                    <a:pt x="6727698" y="5543550"/>
                    <a:pt x="6801103" y="5470144"/>
                    <a:pt x="6801103" y="5379720"/>
                  </a:cubicBezTo>
                  <a:lnTo>
                    <a:pt x="6801103" y="201930"/>
                  </a:lnTo>
                  <a:lnTo>
                    <a:pt x="6820153" y="201930"/>
                  </a:lnTo>
                  <a:lnTo>
                    <a:pt x="6801103" y="201930"/>
                  </a:lnTo>
                  <a:cubicBezTo>
                    <a:pt x="6801103" y="111506"/>
                    <a:pt x="6727698" y="38100"/>
                    <a:pt x="6637020" y="38100"/>
                  </a:cubicBezTo>
                  <a:lnTo>
                    <a:pt x="202184" y="38100"/>
                  </a:lnTo>
                  <a:lnTo>
                    <a:pt x="202184" y="19050"/>
                  </a:lnTo>
                  <a:lnTo>
                    <a:pt x="202184" y="38100"/>
                  </a:lnTo>
                  <a:cubicBezTo>
                    <a:pt x="111506" y="38100"/>
                    <a:pt x="38100" y="111506"/>
                    <a:pt x="38100" y="201930"/>
                  </a:cubicBezTo>
                  <a:close/>
                </a:path>
              </a:pathLst>
            </a:custGeom>
            <a:solidFill>
              <a:srgbClr val="D8D4D4"/>
            </a:solidFill>
          </p:spPr>
        </p:sp>
      </p:grpSp>
      <p:grpSp>
        <p:nvGrpSpPr>
          <p:cNvPr name="Group 9" id="9"/>
          <p:cNvGrpSpPr/>
          <p:nvPr/>
        </p:nvGrpSpPr>
        <p:grpSpPr>
          <a:xfrm rot="0">
            <a:off x="930326" y="3882353"/>
            <a:ext cx="121441" cy="4417420"/>
            <a:chOff x="0" y="0"/>
            <a:chExt cx="152400" cy="5543550"/>
          </a:xfrm>
        </p:grpSpPr>
        <p:sp>
          <p:nvSpPr>
            <p:cNvPr name="Freeform 10" id="10"/>
            <p:cNvSpPr/>
            <p:nvPr/>
          </p:nvSpPr>
          <p:spPr>
            <a:xfrm flipH="false" flipV="false" rot="0">
              <a:off x="0" y="0"/>
              <a:ext cx="152400" cy="5543550"/>
            </a:xfrm>
            <a:custGeom>
              <a:avLst/>
              <a:gdLst/>
              <a:ahLst/>
              <a:cxnLst/>
              <a:rect r="r" b="b" t="t" l="l"/>
              <a:pathLst>
                <a:path h="5543550" w="152400">
                  <a:moveTo>
                    <a:pt x="0" y="53213"/>
                  </a:moveTo>
                  <a:cubicBezTo>
                    <a:pt x="0" y="23749"/>
                    <a:pt x="23749" y="0"/>
                    <a:pt x="53213" y="0"/>
                  </a:cubicBezTo>
                  <a:lnTo>
                    <a:pt x="99187" y="0"/>
                  </a:lnTo>
                  <a:cubicBezTo>
                    <a:pt x="128651" y="0"/>
                    <a:pt x="152400" y="23749"/>
                    <a:pt x="152400" y="53213"/>
                  </a:cubicBezTo>
                  <a:lnTo>
                    <a:pt x="152400" y="5490337"/>
                  </a:lnTo>
                  <a:cubicBezTo>
                    <a:pt x="152400" y="5519674"/>
                    <a:pt x="128651" y="5543550"/>
                    <a:pt x="99187" y="5543550"/>
                  </a:cubicBezTo>
                  <a:lnTo>
                    <a:pt x="53213" y="5543550"/>
                  </a:lnTo>
                  <a:cubicBezTo>
                    <a:pt x="23876" y="5543550"/>
                    <a:pt x="0" y="5519801"/>
                    <a:pt x="0" y="5490337"/>
                  </a:cubicBezTo>
                  <a:close/>
                </a:path>
              </a:pathLst>
            </a:custGeom>
            <a:solidFill>
              <a:srgbClr val="E04F00"/>
            </a:solidFill>
          </p:spPr>
        </p:sp>
      </p:grpSp>
      <p:grpSp>
        <p:nvGrpSpPr>
          <p:cNvPr name="Group 11" id="11"/>
          <p:cNvGrpSpPr/>
          <p:nvPr/>
        </p:nvGrpSpPr>
        <p:grpSpPr>
          <a:xfrm rot="0">
            <a:off x="6629678" y="3867173"/>
            <a:ext cx="5449983" cy="4447780"/>
            <a:chOff x="0" y="0"/>
            <a:chExt cx="6839344" cy="5581650"/>
          </a:xfrm>
        </p:grpSpPr>
        <p:sp>
          <p:nvSpPr>
            <p:cNvPr name="Freeform 12" id="12"/>
            <p:cNvSpPr/>
            <p:nvPr/>
          </p:nvSpPr>
          <p:spPr>
            <a:xfrm flipH="false" flipV="false" rot="0">
              <a:off x="19050" y="19050"/>
              <a:ext cx="6801231" cy="5543550"/>
            </a:xfrm>
            <a:custGeom>
              <a:avLst/>
              <a:gdLst/>
              <a:ahLst/>
              <a:cxnLst/>
              <a:rect r="r" b="b" t="t" l="l"/>
              <a:pathLst>
                <a:path h="5543550" w="6801231">
                  <a:moveTo>
                    <a:pt x="0" y="182880"/>
                  </a:moveTo>
                  <a:cubicBezTo>
                    <a:pt x="0" y="81915"/>
                    <a:pt x="82042" y="0"/>
                    <a:pt x="183134" y="0"/>
                  </a:cubicBezTo>
                  <a:lnTo>
                    <a:pt x="6618097" y="0"/>
                  </a:lnTo>
                  <a:cubicBezTo>
                    <a:pt x="6719189" y="0"/>
                    <a:pt x="6801231" y="81915"/>
                    <a:pt x="6801231" y="182880"/>
                  </a:cubicBezTo>
                  <a:lnTo>
                    <a:pt x="6801231" y="5360670"/>
                  </a:lnTo>
                  <a:cubicBezTo>
                    <a:pt x="6801231" y="5461635"/>
                    <a:pt x="6719189" y="5543550"/>
                    <a:pt x="6618097" y="5543550"/>
                  </a:cubicBezTo>
                  <a:lnTo>
                    <a:pt x="183134" y="5543550"/>
                  </a:lnTo>
                  <a:cubicBezTo>
                    <a:pt x="82042" y="5543550"/>
                    <a:pt x="0" y="5461635"/>
                    <a:pt x="0" y="5360670"/>
                  </a:cubicBezTo>
                  <a:close/>
                </a:path>
              </a:pathLst>
            </a:custGeom>
            <a:solidFill>
              <a:srgbClr val="FFFFFF"/>
            </a:solidFill>
          </p:spPr>
        </p:sp>
        <p:sp>
          <p:nvSpPr>
            <p:cNvPr name="Freeform 13" id="13"/>
            <p:cNvSpPr/>
            <p:nvPr/>
          </p:nvSpPr>
          <p:spPr>
            <a:xfrm flipH="false" flipV="false" rot="0">
              <a:off x="0" y="0"/>
              <a:ext cx="6839331" cy="5581650"/>
            </a:xfrm>
            <a:custGeom>
              <a:avLst/>
              <a:gdLst/>
              <a:ahLst/>
              <a:cxnLst/>
              <a:rect r="r" b="b" t="t" l="l"/>
              <a:pathLst>
                <a:path h="5581650" w="6839331">
                  <a:moveTo>
                    <a:pt x="0" y="201930"/>
                  </a:moveTo>
                  <a:cubicBezTo>
                    <a:pt x="0" y="90424"/>
                    <a:pt x="90551" y="0"/>
                    <a:pt x="202184" y="0"/>
                  </a:cubicBezTo>
                  <a:lnTo>
                    <a:pt x="6637147" y="0"/>
                  </a:lnTo>
                  <a:lnTo>
                    <a:pt x="6637147" y="19050"/>
                  </a:lnTo>
                  <a:lnTo>
                    <a:pt x="6637147" y="0"/>
                  </a:lnTo>
                  <a:cubicBezTo>
                    <a:pt x="6748780" y="0"/>
                    <a:pt x="6839331" y="90424"/>
                    <a:pt x="6839331" y="201930"/>
                  </a:cubicBezTo>
                  <a:lnTo>
                    <a:pt x="6839331" y="5379720"/>
                  </a:lnTo>
                  <a:lnTo>
                    <a:pt x="6820281" y="5379720"/>
                  </a:lnTo>
                  <a:lnTo>
                    <a:pt x="6839331" y="5379720"/>
                  </a:lnTo>
                  <a:cubicBezTo>
                    <a:pt x="6839331" y="5491226"/>
                    <a:pt x="6748780" y="5581650"/>
                    <a:pt x="6637147" y="5581650"/>
                  </a:cubicBezTo>
                  <a:lnTo>
                    <a:pt x="6637147" y="5562600"/>
                  </a:lnTo>
                  <a:lnTo>
                    <a:pt x="6637147" y="5581650"/>
                  </a:lnTo>
                  <a:lnTo>
                    <a:pt x="202184" y="5581650"/>
                  </a:lnTo>
                  <a:lnTo>
                    <a:pt x="202184" y="5562600"/>
                  </a:lnTo>
                  <a:lnTo>
                    <a:pt x="202184" y="5581650"/>
                  </a:lnTo>
                  <a:cubicBezTo>
                    <a:pt x="90551" y="5581650"/>
                    <a:pt x="0" y="5491226"/>
                    <a:pt x="0" y="5379720"/>
                  </a:cubicBezTo>
                  <a:lnTo>
                    <a:pt x="0" y="201930"/>
                  </a:lnTo>
                  <a:lnTo>
                    <a:pt x="19050" y="201930"/>
                  </a:lnTo>
                  <a:lnTo>
                    <a:pt x="0" y="201930"/>
                  </a:lnTo>
                  <a:moveTo>
                    <a:pt x="38100" y="201930"/>
                  </a:moveTo>
                  <a:lnTo>
                    <a:pt x="38100" y="5379720"/>
                  </a:lnTo>
                  <a:lnTo>
                    <a:pt x="19050" y="5379720"/>
                  </a:lnTo>
                  <a:lnTo>
                    <a:pt x="38100" y="5379720"/>
                  </a:lnTo>
                  <a:cubicBezTo>
                    <a:pt x="38100" y="5470144"/>
                    <a:pt x="111506" y="5543550"/>
                    <a:pt x="202184" y="5543550"/>
                  </a:cubicBezTo>
                  <a:lnTo>
                    <a:pt x="6637147" y="5543550"/>
                  </a:lnTo>
                  <a:cubicBezTo>
                    <a:pt x="6727825" y="5543550"/>
                    <a:pt x="6801231" y="5470144"/>
                    <a:pt x="6801231" y="5379720"/>
                  </a:cubicBezTo>
                  <a:lnTo>
                    <a:pt x="6801231" y="201930"/>
                  </a:lnTo>
                  <a:lnTo>
                    <a:pt x="6820281" y="201930"/>
                  </a:lnTo>
                  <a:lnTo>
                    <a:pt x="6801231" y="201930"/>
                  </a:lnTo>
                  <a:cubicBezTo>
                    <a:pt x="6801231" y="111506"/>
                    <a:pt x="6727825" y="38100"/>
                    <a:pt x="6637147" y="38100"/>
                  </a:cubicBezTo>
                  <a:lnTo>
                    <a:pt x="202184" y="38100"/>
                  </a:lnTo>
                  <a:lnTo>
                    <a:pt x="202184" y="19050"/>
                  </a:lnTo>
                  <a:lnTo>
                    <a:pt x="202184" y="38100"/>
                  </a:lnTo>
                  <a:cubicBezTo>
                    <a:pt x="111506" y="38100"/>
                    <a:pt x="38100" y="111506"/>
                    <a:pt x="38100" y="201930"/>
                  </a:cubicBezTo>
                  <a:close/>
                </a:path>
              </a:pathLst>
            </a:custGeom>
            <a:solidFill>
              <a:srgbClr val="D8D4D4"/>
            </a:solidFill>
          </p:spPr>
        </p:sp>
      </p:grpSp>
      <p:grpSp>
        <p:nvGrpSpPr>
          <p:cNvPr name="Group 14" id="14"/>
          <p:cNvGrpSpPr/>
          <p:nvPr/>
        </p:nvGrpSpPr>
        <p:grpSpPr>
          <a:xfrm rot="0">
            <a:off x="6614498" y="3882353"/>
            <a:ext cx="121441" cy="4417420"/>
            <a:chOff x="0" y="0"/>
            <a:chExt cx="152400" cy="5543550"/>
          </a:xfrm>
        </p:grpSpPr>
        <p:sp>
          <p:nvSpPr>
            <p:cNvPr name="Freeform 15" id="15"/>
            <p:cNvSpPr/>
            <p:nvPr/>
          </p:nvSpPr>
          <p:spPr>
            <a:xfrm flipH="false" flipV="false" rot="0">
              <a:off x="0" y="0"/>
              <a:ext cx="152400" cy="5543550"/>
            </a:xfrm>
            <a:custGeom>
              <a:avLst/>
              <a:gdLst/>
              <a:ahLst/>
              <a:cxnLst/>
              <a:rect r="r" b="b" t="t" l="l"/>
              <a:pathLst>
                <a:path h="5543550" w="152400">
                  <a:moveTo>
                    <a:pt x="0" y="53213"/>
                  </a:moveTo>
                  <a:cubicBezTo>
                    <a:pt x="0" y="23749"/>
                    <a:pt x="23749" y="0"/>
                    <a:pt x="53213" y="0"/>
                  </a:cubicBezTo>
                  <a:lnTo>
                    <a:pt x="99187" y="0"/>
                  </a:lnTo>
                  <a:cubicBezTo>
                    <a:pt x="128651" y="0"/>
                    <a:pt x="152400" y="23749"/>
                    <a:pt x="152400" y="53213"/>
                  </a:cubicBezTo>
                  <a:lnTo>
                    <a:pt x="152400" y="5490337"/>
                  </a:lnTo>
                  <a:cubicBezTo>
                    <a:pt x="152400" y="5519674"/>
                    <a:pt x="128651" y="5543550"/>
                    <a:pt x="99187" y="5543550"/>
                  </a:cubicBezTo>
                  <a:lnTo>
                    <a:pt x="53213" y="5543550"/>
                  </a:lnTo>
                  <a:cubicBezTo>
                    <a:pt x="23876" y="5543550"/>
                    <a:pt x="0" y="5519801"/>
                    <a:pt x="0" y="5490337"/>
                  </a:cubicBezTo>
                  <a:close/>
                </a:path>
              </a:pathLst>
            </a:custGeom>
            <a:solidFill>
              <a:srgbClr val="E04F00"/>
            </a:solidFill>
          </p:spPr>
        </p:sp>
      </p:grpSp>
      <p:sp>
        <p:nvSpPr>
          <p:cNvPr name="Freeform 16" id="16"/>
          <p:cNvSpPr/>
          <p:nvPr/>
        </p:nvSpPr>
        <p:spPr>
          <a:xfrm flipH="false" flipV="false" rot="0">
            <a:off x="12298736" y="3479760"/>
            <a:ext cx="5729906" cy="5297205"/>
          </a:xfrm>
          <a:custGeom>
            <a:avLst/>
            <a:gdLst/>
            <a:ahLst/>
            <a:cxnLst/>
            <a:rect r="r" b="b" t="t" l="l"/>
            <a:pathLst>
              <a:path h="5297205" w="5729906">
                <a:moveTo>
                  <a:pt x="0" y="0"/>
                </a:moveTo>
                <a:lnTo>
                  <a:pt x="5729906" y="0"/>
                </a:lnTo>
                <a:lnTo>
                  <a:pt x="5729906" y="5297204"/>
                </a:lnTo>
                <a:lnTo>
                  <a:pt x="0" y="5297204"/>
                </a:lnTo>
                <a:lnTo>
                  <a:pt x="0" y="0"/>
                </a:lnTo>
                <a:close/>
              </a:path>
            </a:pathLst>
          </a:custGeom>
          <a:blipFill>
            <a:blip r:embed="rId3"/>
            <a:stretch>
              <a:fillRect l="0" t="0" r="0" b="-8665"/>
            </a:stretch>
          </a:blipFill>
        </p:spPr>
      </p:sp>
      <p:sp>
        <p:nvSpPr>
          <p:cNvPr name="TextBox 17" id="17"/>
          <p:cNvSpPr txBox="true"/>
          <p:nvPr/>
        </p:nvSpPr>
        <p:spPr>
          <a:xfrm rot="0">
            <a:off x="930326" y="703212"/>
            <a:ext cx="16427348" cy="1772841"/>
          </a:xfrm>
          <a:prstGeom prst="rect">
            <a:avLst/>
          </a:prstGeom>
        </p:spPr>
        <p:txBody>
          <a:bodyPr anchor="t" rtlCol="false" tIns="0" lIns="0" bIns="0" rIns="0">
            <a:spAutoFit/>
          </a:bodyPr>
          <a:lstStyle/>
          <a:p>
            <a:pPr algn="l">
              <a:lnSpc>
                <a:spcPts val="6812"/>
              </a:lnSpc>
            </a:pPr>
            <a:r>
              <a:rPr lang="en-US" sz="5437">
                <a:solidFill>
                  <a:srgbClr val="020202"/>
                </a:solidFill>
                <a:latin typeface="PT Serif"/>
                <a:ea typeface="PT Serif"/>
                <a:cs typeface="PT Serif"/>
                <a:sym typeface="PT Serif"/>
              </a:rPr>
              <a:t>Managing the Unknown: Contingency and Management Reserves</a:t>
            </a:r>
          </a:p>
        </p:txBody>
      </p:sp>
      <p:sp>
        <p:nvSpPr>
          <p:cNvPr name="TextBox 18" id="18"/>
          <p:cNvSpPr txBox="true"/>
          <p:nvPr/>
        </p:nvSpPr>
        <p:spPr>
          <a:xfrm rot="0">
            <a:off x="930326" y="2888609"/>
            <a:ext cx="16427348" cy="483265"/>
          </a:xfrm>
          <a:prstGeom prst="rect">
            <a:avLst/>
          </a:prstGeom>
        </p:spPr>
        <p:txBody>
          <a:bodyPr anchor="t" rtlCol="false" tIns="0" lIns="0" bIns="0" rIns="0">
            <a:spAutoFit/>
          </a:bodyPr>
          <a:lstStyle/>
          <a:p>
            <a:pPr algn="l">
              <a:lnSpc>
                <a:spcPts val="4114"/>
              </a:lnSpc>
            </a:pPr>
            <a:r>
              <a:rPr lang="en-US" sz="2662">
                <a:solidFill>
                  <a:srgbClr val="000000"/>
                </a:solidFill>
                <a:latin typeface="DM Sans"/>
                <a:ea typeface="DM Sans"/>
                <a:cs typeface="DM Sans"/>
                <a:sym typeface="DM Sans"/>
              </a:rPr>
              <a:t>IT projects are notorious for "unknown unknowns." To protect the project, two types of buffers are used:</a:t>
            </a:r>
          </a:p>
        </p:txBody>
      </p:sp>
      <p:sp>
        <p:nvSpPr>
          <p:cNvPr name="TextBox 19" id="19"/>
          <p:cNvSpPr txBox="true"/>
          <p:nvPr/>
        </p:nvSpPr>
        <p:spPr>
          <a:xfrm rot="0">
            <a:off x="1364538" y="4185600"/>
            <a:ext cx="3706646" cy="472833"/>
          </a:xfrm>
          <a:prstGeom prst="rect">
            <a:avLst/>
          </a:prstGeom>
        </p:spPr>
        <p:txBody>
          <a:bodyPr anchor="t" rtlCol="false" tIns="0" lIns="0" bIns="0" rIns="0">
            <a:spAutoFit/>
          </a:bodyPr>
          <a:lstStyle/>
          <a:p>
            <a:pPr algn="l">
              <a:lnSpc>
                <a:spcPts val="3585"/>
              </a:lnSpc>
            </a:pPr>
            <a:r>
              <a:rPr lang="en-US" sz="2855">
                <a:solidFill>
                  <a:srgbClr val="000000"/>
                </a:solidFill>
                <a:latin typeface="PT Serif"/>
                <a:ea typeface="PT Serif"/>
                <a:cs typeface="PT Serif"/>
                <a:sym typeface="PT Serif"/>
              </a:rPr>
              <a:t>Contingency Reserves</a:t>
            </a:r>
          </a:p>
        </p:txBody>
      </p:sp>
      <p:sp>
        <p:nvSpPr>
          <p:cNvPr name="TextBox 20" id="20"/>
          <p:cNvSpPr txBox="true"/>
          <p:nvPr/>
        </p:nvSpPr>
        <p:spPr>
          <a:xfrm rot="0">
            <a:off x="1364538" y="4837419"/>
            <a:ext cx="4702837" cy="2496161"/>
          </a:xfrm>
          <a:prstGeom prst="rect">
            <a:avLst/>
          </a:prstGeom>
        </p:spPr>
        <p:txBody>
          <a:bodyPr anchor="t" rtlCol="false" tIns="0" lIns="0" bIns="0" rIns="0">
            <a:spAutoFit/>
          </a:bodyPr>
          <a:lstStyle/>
          <a:p>
            <a:pPr algn="l">
              <a:lnSpc>
                <a:spcPts val="4004"/>
              </a:lnSpc>
            </a:pPr>
            <a:r>
              <a:rPr lang="en-US" sz="2591">
                <a:solidFill>
                  <a:srgbClr val="000000"/>
                </a:solidFill>
                <a:latin typeface="DM Sans"/>
                <a:ea typeface="DM Sans"/>
                <a:cs typeface="DM Sans"/>
                <a:sym typeface="DM Sans"/>
              </a:rPr>
              <a:t>These are funds allocated for "known risks" (e.g., a vendor might delay a software delivery). These are part of the cost baseline.</a:t>
            </a:r>
          </a:p>
        </p:txBody>
      </p:sp>
      <p:sp>
        <p:nvSpPr>
          <p:cNvPr name="TextBox 21" id="21"/>
          <p:cNvSpPr txBox="true"/>
          <p:nvPr/>
        </p:nvSpPr>
        <p:spPr>
          <a:xfrm rot="0">
            <a:off x="7048711" y="4185600"/>
            <a:ext cx="3706646" cy="472833"/>
          </a:xfrm>
          <a:prstGeom prst="rect">
            <a:avLst/>
          </a:prstGeom>
        </p:spPr>
        <p:txBody>
          <a:bodyPr anchor="t" rtlCol="false" tIns="0" lIns="0" bIns="0" rIns="0">
            <a:spAutoFit/>
          </a:bodyPr>
          <a:lstStyle/>
          <a:p>
            <a:pPr algn="l">
              <a:lnSpc>
                <a:spcPts val="3585"/>
              </a:lnSpc>
            </a:pPr>
            <a:r>
              <a:rPr lang="en-US" sz="2855">
                <a:solidFill>
                  <a:srgbClr val="000000"/>
                </a:solidFill>
                <a:latin typeface="PT Serif"/>
                <a:ea typeface="PT Serif"/>
                <a:cs typeface="PT Serif"/>
                <a:sym typeface="PT Serif"/>
              </a:rPr>
              <a:t>Management Reserves</a:t>
            </a:r>
          </a:p>
        </p:txBody>
      </p:sp>
      <p:sp>
        <p:nvSpPr>
          <p:cNvPr name="TextBox 22" id="22"/>
          <p:cNvSpPr txBox="true"/>
          <p:nvPr/>
        </p:nvSpPr>
        <p:spPr>
          <a:xfrm rot="0">
            <a:off x="7048711" y="4846944"/>
            <a:ext cx="4702999" cy="3140058"/>
          </a:xfrm>
          <a:prstGeom prst="rect">
            <a:avLst/>
          </a:prstGeom>
        </p:spPr>
        <p:txBody>
          <a:bodyPr anchor="t" rtlCol="false" tIns="0" lIns="0" bIns="0" rIns="0">
            <a:spAutoFit/>
          </a:bodyPr>
          <a:lstStyle/>
          <a:p>
            <a:pPr algn="l">
              <a:lnSpc>
                <a:spcPts val="3386"/>
              </a:lnSpc>
            </a:pPr>
            <a:r>
              <a:rPr lang="en-US" sz="2191">
                <a:solidFill>
                  <a:srgbClr val="000000"/>
                </a:solidFill>
                <a:latin typeface="DM Sans"/>
                <a:ea typeface="DM Sans"/>
                <a:cs typeface="DM Sans"/>
                <a:sym typeface="DM Sans"/>
              </a:rPr>
              <a:t>These are for unforeseen changes in scope or major external shifts. Properly managing these reserves ensures that when a technical hurdle appears, the project doesn't stall due to a lack of immediate funding.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61282" y="1167403"/>
            <a:ext cx="16361416" cy="929878"/>
          </a:xfrm>
          <a:prstGeom prst="rect">
            <a:avLst/>
          </a:prstGeom>
        </p:spPr>
        <p:txBody>
          <a:bodyPr anchor="t" rtlCol="false" tIns="0" lIns="0" bIns="0" rIns="0">
            <a:spAutoFit/>
          </a:bodyPr>
          <a:lstStyle/>
          <a:p>
            <a:pPr algn="l">
              <a:lnSpc>
                <a:spcPts val="7062"/>
              </a:lnSpc>
            </a:pPr>
            <a:r>
              <a:rPr lang="en-US" sz="5625">
                <a:solidFill>
                  <a:srgbClr val="020202"/>
                </a:solidFill>
                <a:latin typeface="PT Serif"/>
                <a:ea typeface="PT Serif"/>
                <a:cs typeface="PT Serif"/>
                <a:sym typeface="PT Serif"/>
              </a:rPr>
              <a:t>Cost Control and Earned Value Management (EVM)</a:t>
            </a:r>
          </a:p>
        </p:txBody>
      </p:sp>
      <p:sp>
        <p:nvSpPr>
          <p:cNvPr name="TextBox 7" id="7"/>
          <p:cNvSpPr txBox="true"/>
          <p:nvPr/>
        </p:nvSpPr>
        <p:spPr>
          <a:xfrm rot="0">
            <a:off x="961282" y="2543623"/>
            <a:ext cx="16365436" cy="937708"/>
          </a:xfrm>
          <a:prstGeom prst="rect">
            <a:avLst/>
          </a:prstGeom>
        </p:spPr>
        <p:txBody>
          <a:bodyPr anchor="t" rtlCol="false" tIns="0" lIns="0" bIns="0" rIns="0">
            <a:spAutoFit/>
          </a:bodyPr>
          <a:lstStyle/>
          <a:p>
            <a:pPr algn="l">
              <a:lnSpc>
                <a:spcPts val="3851"/>
              </a:lnSpc>
            </a:pPr>
            <a:r>
              <a:rPr lang="en-US" sz="2424">
                <a:solidFill>
                  <a:srgbClr val="000000"/>
                </a:solidFill>
                <a:latin typeface="DM Sans"/>
                <a:ea typeface="DM Sans"/>
                <a:cs typeface="DM Sans"/>
                <a:sym typeface="DM Sans"/>
              </a:rPr>
              <a:t>Tracking spend is not enough; you must track value. Earned Value Management (EVM) is a powerful IT metric that integrates scope, time, and cost.</a:t>
            </a:r>
          </a:p>
        </p:txBody>
      </p:sp>
      <p:grpSp>
        <p:nvGrpSpPr>
          <p:cNvPr name="Group 8" id="8"/>
          <p:cNvGrpSpPr/>
          <p:nvPr/>
        </p:nvGrpSpPr>
        <p:grpSpPr>
          <a:xfrm rot="0">
            <a:off x="961282" y="4093216"/>
            <a:ext cx="3790798" cy="2130923"/>
            <a:chOff x="0" y="0"/>
            <a:chExt cx="5054397" cy="2841231"/>
          </a:xfrm>
        </p:grpSpPr>
        <p:sp>
          <p:nvSpPr>
            <p:cNvPr name="Freeform 9" id="9"/>
            <p:cNvSpPr/>
            <p:nvPr/>
          </p:nvSpPr>
          <p:spPr>
            <a:xfrm flipH="false" flipV="false" rot="0">
              <a:off x="0" y="0"/>
              <a:ext cx="5054346" cy="2841117"/>
            </a:xfrm>
            <a:custGeom>
              <a:avLst/>
              <a:gdLst/>
              <a:ahLst/>
              <a:cxnLst/>
              <a:rect r="r" b="b" t="t" l="l"/>
              <a:pathLst>
                <a:path h="2841117" w="5054346">
                  <a:moveTo>
                    <a:pt x="0" y="54864"/>
                  </a:moveTo>
                  <a:cubicBezTo>
                    <a:pt x="0" y="24638"/>
                    <a:pt x="24638" y="0"/>
                    <a:pt x="54864" y="0"/>
                  </a:cubicBezTo>
                  <a:lnTo>
                    <a:pt x="4999482" y="0"/>
                  </a:lnTo>
                  <a:cubicBezTo>
                    <a:pt x="5029835" y="0"/>
                    <a:pt x="5054346" y="24638"/>
                    <a:pt x="5054346" y="54864"/>
                  </a:cubicBezTo>
                  <a:lnTo>
                    <a:pt x="5054346" y="2786253"/>
                  </a:lnTo>
                  <a:cubicBezTo>
                    <a:pt x="5054346" y="2816606"/>
                    <a:pt x="5029708" y="2841117"/>
                    <a:pt x="4999482" y="2841117"/>
                  </a:cubicBezTo>
                  <a:lnTo>
                    <a:pt x="54864" y="2841117"/>
                  </a:lnTo>
                  <a:cubicBezTo>
                    <a:pt x="24511" y="2841117"/>
                    <a:pt x="0" y="2816479"/>
                    <a:pt x="0" y="2786253"/>
                  </a:cubicBezTo>
                  <a:close/>
                </a:path>
              </a:pathLst>
            </a:custGeom>
            <a:solidFill>
              <a:srgbClr val="F2EEEE"/>
            </a:solidFill>
          </p:spPr>
        </p:sp>
      </p:grpSp>
      <p:sp>
        <p:nvSpPr>
          <p:cNvPr name="TextBox 10" id="10"/>
          <p:cNvSpPr txBox="true"/>
          <p:nvPr/>
        </p:nvSpPr>
        <p:spPr>
          <a:xfrm rot="0">
            <a:off x="1235869" y="4367803"/>
            <a:ext cx="3241624" cy="450504"/>
          </a:xfrm>
          <a:prstGeom prst="rect">
            <a:avLst/>
          </a:prstGeom>
        </p:spPr>
        <p:txBody>
          <a:bodyPr anchor="t" rtlCol="false" tIns="0" lIns="0" bIns="0" rIns="0">
            <a:spAutoFit/>
          </a:bodyPr>
          <a:lstStyle/>
          <a:p>
            <a:pPr algn="l">
              <a:lnSpc>
                <a:spcPts val="3499"/>
              </a:lnSpc>
            </a:pPr>
            <a:r>
              <a:rPr lang="en-US" sz="2812">
                <a:solidFill>
                  <a:srgbClr val="000000"/>
                </a:solidFill>
                <a:latin typeface="PT Serif"/>
                <a:ea typeface="PT Serif"/>
                <a:cs typeface="PT Serif"/>
                <a:sym typeface="PT Serif"/>
              </a:rPr>
              <a:t>Planned Value (PV)</a:t>
            </a:r>
          </a:p>
        </p:txBody>
      </p:sp>
      <p:sp>
        <p:nvSpPr>
          <p:cNvPr name="TextBox 11" id="11"/>
          <p:cNvSpPr txBox="true"/>
          <p:nvPr/>
        </p:nvSpPr>
        <p:spPr>
          <a:xfrm rot="0">
            <a:off x="1235869" y="5008064"/>
            <a:ext cx="3241624" cy="941489"/>
          </a:xfrm>
          <a:prstGeom prst="rect">
            <a:avLst/>
          </a:prstGeom>
        </p:spPr>
        <p:txBody>
          <a:bodyPr anchor="t" rtlCol="false" tIns="0" lIns="0" bIns="0" rIns="0">
            <a:spAutoFit/>
          </a:bodyPr>
          <a:lstStyle/>
          <a:p>
            <a:pPr algn="l">
              <a:lnSpc>
                <a:spcPts val="3374"/>
              </a:lnSpc>
            </a:pPr>
            <a:r>
              <a:rPr lang="en-US" sz="2125">
                <a:solidFill>
                  <a:srgbClr val="000000"/>
                </a:solidFill>
                <a:latin typeface="DM Sans"/>
                <a:ea typeface="DM Sans"/>
                <a:cs typeface="DM Sans"/>
                <a:sym typeface="DM Sans"/>
              </a:rPr>
              <a:t>What we intended to spend</a:t>
            </a:r>
          </a:p>
        </p:txBody>
      </p:sp>
      <p:grpSp>
        <p:nvGrpSpPr>
          <p:cNvPr name="Group 12" id="12"/>
          <p:cNvGrpSpPr/>
          <p:nvPr/>
        </p:nvGrpSpPr>
        <p:grpSpPr>
          <a:xfrm rot="0">
            <a:off x="5018037" y="4093216"/>
            <a:ext cx="3790950" cy="2130923"/>
            <a:chOff x="0" y="0"/>
            <a:chExt cx="5054600" cy="2841231"/>
          </a:xfrm>
        </p:grpSpPr>
        <p:sp>
          <p:nvSpPr>
            <p:cNvPr name="Freeform 13" id="13"/>
            <p:cNvSpPr/>
            <p:nvPr/>
          </p:nvSpPr>
          <p:spPr>
            <a:xfrm flipH="false" flipV="false" rot="0">
              <a:off x="0" y="0"/>
              <a:ext cx="5054600" cy="2841117"/>
            </a:xfrm>
            <a:custGeom>
              <a:avLst/>
              <a:gdLst/>
              <a:ahLst/>
              <a:cxnLst/>
              <a:rect r="r" b="b" t="t" l="l"/>
              <a:pathLst>
                <a:path h="2841117" w="5054600">
                  <a:moveTo>
                    <a:pt x="0" y="54864"/>
                  </a:moveTo>
                  <a:cubicBezTo>
                    <a:pt x="0" y="24638"/>
                    <a:pt x="24638" y="0"/>
                    <a:pt x="54864" y="0"/>
                  </a:cubicBezTo>
                  <a:lnTo>
                    <a:pt x="4999736" y="0"/>
                  </a:lnTo>
                  <a:cubicBezTo>
                    <a:pt x="5029962" y="0"/>
                    <a:pt x="5054600" y="24638"/>
                    <a:pt x="5054600" y="54864"/>
                  </a:cubicBezTo>
                  <a:lnTo>
                    <a:pt x="5054600" y="2786253"/>
                  </a:lnTo>
                  <a:cubicBezTo>
                    <a:pt x="5054600" y="2816606"/>
                    <a:pt x="5029962" y="2841117"/>
                    <a:pt x="4999736" y="2841117"/>
                  </a:cubicBezTo>
                  <a:lnTo>
                    <a:pt x="54864" y="2841117"/>
                  </a:lnTo>
                  <a:cubicBezTo>
                    <a:pt x="24511" y="2841117"/>
                    <a:pt x="0" y="2816479"/>
                    <a:pt x="0" y="2786253"/>
                  </a:cubicBezTo>
                  <a:close/>
                </a:path>
              </a:pathLst>
            </a:custGeom>
            <a:solidFill>
              <a:srgbClr val="F2EEEE"/>
            </a:solidFill>
          </p:spPr>
        </p:sp>
      </p:grpSp>
      <p:sp>
        <p:nvSpPr>
          <p:cNvPr name="TextBox 14" id="14"/>
          <p:cNvSpPr txBox="true"/>
          <p:nvPr/>
        </p:nvSpPr>
        <p:spPr>
          <a:xfrm rot="0">
            <a:off x="5292623" y="4367803"/>
            <a:ext cx="3241777" cy="450504"/>
          </a:xfrm>
          <a:prstGeom prst="rect">
            <a:avLst/>
          </a:prstGeom>
        </p:spPr>
        <p:txBody>
          <a:bodyPr anchor="t" rtlCol="false" tIns="0" lIns="0" bIns="0" rIns="0">
            <a:spAutoFit/>
          </a:bodyPr>
          <a:lstStyle/>
          <a:p>
            <a:pPr algn="l">
              <a:lnSpc>
                <a:spcPts val="3499"/>
              </a:lnSpc>
            </a:pPr>
            <a:r>
              <a:rPr lang="en-US" sz="2812">
                <a:solidFill>
                  <a:srgbClr val="000000"/>
                </a:solidFill>
                <a:latin typeface="PT Serif"/>
                <a:ea typeface="PT Serif"/>
                <a:cs typeface="PT Serif"/>
                <a:sym typeface="PT Serif"/>
              </a:rPr>
              <a:t>Actual Cost (AC)</a:t>
            </a:r>
          </a:p>
        </p:txBody>
      </p:sp>
      <p:sp>
        <p:nvSpPr>
          <p:cNvPr name="TextBox 15" id="15"/>
          <p:cNvSpPr txBox="true"/>
          <p:nvPr/>
        </p:nvSpPr>
        <p:spPr>
          <a:xfrm rot="0">
            <a:off x="5292623" y="5008064"/>
            <a:ext cx="3241777" cy="941489"/>
          </a:xfrm>
          <a:prstGeom prst="rect">
            <a:avLst/>
          </a:prstGeom>
        </p:spPr>
        <p:txBody>
          <a:bodyPr anchor="t" rtlCol="false" tIns="0" lIns="0" bIns="0" rIns="0">
            <a:spAutoFit/>
          </a:bodyPr>
          <a:lstStyle/>
          <a:p>
            <a:pPr algn="l">
              <a:lnSpc>
                <a:spcPts val="3374"/>
              </a:lnSpc>
            </a:pPr>
            <a:r>
              <a:rPr lang="en-US" sz="2125">
                <a:solidFill>
                  <a:srgbClr val="000000"/>
                </a:solidFill>
                <a:latin typeface="DM Sans"/>
                <a:ea typeface="DM Sans"/>
                <a:cs typeface="DM Sans"/>
                <a:sym typeface="DM Sans"/>
              </a:rPr>
              <a:t>What we have actually spent</a:t>
            </a:r>
          </a:p>
        </p:txBody>
      </p:sp>
      <p:grpSp>
        <p:nvGrpSpPr>
          <p:cNvPr name="Group 16" id="16"/>
          <p:cNvGrpSpPr/>
          <p:nvPr/>
        </p:nvGrpSpPr>
        <p:grpSpPr>
          <a:xfrm rot="0">
            <a:off x="961282" y="6490097"/>
            <a:ext cx="7847705" cy="1698279"/>
            <a:chOff x="0" y="0"/>
            <a:chExt cx="10463606" cy="2264372"/>
          </a:xfrm>
        </p:grpSpPr>
        <p:sp>
          <p:nvSpPr>
            <p:cNvPr name="Freeform 17" id="17"/>
            <p:cNvSpPr/>
            <p:nvPr/>
          </p:nvSpPr>
          <p:spPr>
            <a:xfrm flipH="false" flipV="false" rot="0">
              <a:off x="0" y="0"/>
              <a:ext cx="10463657" cy="2264410"/>
            </a:xfrm>
            <a:custGeom>
              <a:avLst/>
              <a:gdLst/>
              <a:ahLst/>
              <a:cxnLst/>
              <a:rect r="r" b="b" t="t" l="l"/>
              <a:pathLst>
                <a:path h="2264410" w="10463657">
                  <a:moveTo>
                    <a:pt x="0" y="54991"/>
                  </a:moveTo>
                  <a:cubicBezTo>
                    <a:pt x="0" y="24638"/>
                    <a:pt x="24638" y="0"/>
                    <a:pt x="54991" y="0"/>
                  </a:cubicBezTo>
                  <a:lnTo>
                    <a:pt x="10408666" y="0"/>
                  </a:lnTo>
                  <a:cubicBezTo>
                    <a:pt x="10439019" y="0"/>
                    <a:pt x="10463657" y="24638"/>
                    <a:pt x="10463657" y="54991"/>
                  </a:cubicBezTo>
                  <a:lnTo>
                    <a:pt x="10463657" y="2209419"/>
                  </a:lnTo>
                  <a:cubicBezTo>
                    <a:pt x="10463657" y="2239772"/>
                    <a:pt x="10439019" y="2264410"/>
                    <a:pt x="10408666" y="2264410"/>
                  </a:cubicBezTo>
                  <a:lnTo>
                    <a:pt x="54991" y="2264410"/>
                  </a:lnTo>
                  <a:cubicBezTo>
                    <a:pt x="24638" y="2264410"/>
                    <a:pt x="0" y="2239772"/>
                    <a:pt x="0" y="2209419"/>
                  </a:cubicBezTo>
                  <a:close/>
                </a:path>
              </a:pathLst>
            </a:custGeom>
            <a:solidFill>
              <a:srgbClr val="F2EEEE"/>
            </a:solidFill>
          </p:spPr>
        </p:sp>
      </p:grpSp>
      <p:sp>
        <p:nvSpPr>
          <p:cNvPr name="TextBox 18" id="18"/>
          <p:cNvSpPr txBox="true"/>
          <p:nvPr/>
        </p:nvSpPr>
        <p:spPr>
          <a:xfrm rot="0">
            <a:off x="1235869" y="6764684"/>
            <a:ext cx="3605060" cy="450504"/>
          </a:xfrm>
          <a:prstGeom prst="rect">
            <a:avLst/>
          </a:prstGeom>
        </p:spPr>
        <p:txBody>
          <a:bodyPr anchor="t" rtlCol="false" tIns="0" lIns="0" bIns="0" rIns="0">
            <a:spAutoFit/>
          </a:bodyPr>
          <a:lstStyle/>
          <a:p>
            <a:pPr algn="l">
              <a:lnSpc>
                <a:spcPts val="3499"/>
              </a:lnSpc>
            </a:pPr>
            <a:r>
              <a:rPr lang="en-US" sz="2812">
                <a:solidFill>
                  <a:srgbClr val="000000"/>
                </a:solidFill>
                <a:latin typeface="PT Serif"/>
                <a:ea typeface="PT Serif"/>
                <a:cs typeface="PT Serif"/>
                <a:sym typeface="PT Serif"/>
              </a:rPr>
              <a:t>Earned Value (EV)</a:t>
            </a:r>
          </a:p>
        </p:txBody>
      </p:sp>
      <p:sp>
        <p:nvSpPr>
          <p:cNvPr name="TextBox 19" id="19"/>
          <p:cNvSpPr txBox="true"/>
          <p:nvPr/>
        </p:nvSpPr>
        <p:spPr>
          <a:xfrm rot="0">
            <a:off x="1235869" y="7404945"/>
            <a:ext cx="7298531" cy="508845"/>
          </a:xfrm>
          <a:prstGeom prst="rect">
            <a:avLst/>
          </a:prstGeom>
        </p:spPr>
        <p:txBody>
          <a:bodyPr anchor="t" rtlCol="false" tIns="0" lIns="0" bIns="0" rIns="0">
            <a:spAutoFit/>
          </a:bodyPr>
          <a:lstStyle/>
          <a:p>
            <a:pPr algn="l">
              <a:lnSpc>
                <a:spcPts val="3374"/>
              </a:lnSpc>
            </a:pPr>
            <a:r>
              <a:rPr lang="en-US" sz="2125">
                <a:solidFill>
                  <a:srgbClr val="000000"/>
                </a:solidFill>
                <a:latin typeface="DM Sans"/>
                <a:ea typeface="DM Sans"/>
                <a:cs typeface="DM Sans"/>
                <a:sym typeface="DM Sans"/>
              </a:rPr>
              <a:t>The value of the work actually completed</a:t>
            </a:r>
          </a:p>
        </p:txBody>
      </p:sp>
      <p:sp>
        <p:nvSpPr>
          <p:cNvPr name="TextBox 20" id="20"/>
          <p:cNvSpPr txBox="true"/>
          <p:nvPr/>
        </p:nvSpPr>
        <p:spPr>
          <a:xfrm rot="0">
            <a:off x="9488538" y="4059879"/>
            <a:ext cx="4725886" cy="450504"/>
          </a:xfrm>
          <a:prstGeom prst="rect">
            <a:avLst/>
          </a:prstGeom>
        </p:spPr>
        <p:txBody>
          <a:bodyPr anchor="t" rtlCol="false" tIns="0" lIns="0" bIns="0" rIns="0">
            <a:spAutoFit/>
          </a:bodyPr>
          <a:lstStyle/>
          <a:p>
            <a:pPr algn="l">
              <a:lnSpc>
                <a:spcPts val="3499"/>
              </a:lnSpc>
            </a:pPr>
            <a:r>
              <a:rPr lang="en-US" sz="2812">
                <a:solidFill>
                  <a:srgbClr val="020202"/>
                </a:solidFill>
                <a:latin typeface="PT Serif"/>
                <a:ea typeface="PT Serif"/>
                <a:cs typeface="PT Serif"/>
                <a:sym typeface="PT Serif"/>
              </a:rPr>
              <a:t>Cost Performance Index (CPI)</a:t>
            </a:r>
          </a:p>
        </p:txBody>
      </p:sp>
      <p:sp>
        <p:nvSpPr>
          <p:cNvPr name="TextBox 21" id="21"/>
          <p:cNvSpPr txBox="true"/>
          <p:nvPr/>
        </p:nvSpPr>
        <p:spPr>
          <a:xfrm rot="0">
            <a:off x="9488538" y="4700140"/>
            <a:ext cx="7847705" cy="1374134"/>
          </a:xfrm>
          <a:prstGeom prst="rect">
            <a:avLst/>
          </a:prstGeom>
        </p:spPr>
        <p:txBody>
          <a:bodyPr anchor="t" rtlCol="false" tIns="0" lIns="0" bIns="0" rIns="0">
            <a:spAutoFit/>
          </a:bodyPr>
          <a:lstStyle/>
          <a:p>
            <a:pPr algn="l">
              <a:lnSpc>
                <a:spcPts val="3374"/>
              </a:lnSpc>
            </a:pPr>
            <a:r>
              <a:rPr lang="en-US" sz="2125">
                <a:solidFill>
                  <a:srgbClr val="000000"/>
                </a:solidFill>
                <a:latin typeface="DM Sans"/>
                <a:ea typeface="DM Sans"/>
                <a:cs typeface="DM Sans"/>
                <a:sym typeface="DM Sans"/>
              </a:rPr>
              <a:t>By calculating the Cost Performance Index (CPI), an IT manager can tell instantly if the project is over or under budget relative to the work performed.</a:t>
            </a:r>
          </a:p>
        </p:txBody>
      </p:sp>
      <p:grpSp>
        <p:nvGrpSpPr>
          <p:cNvPr name="Group 22" id="22"/>
          <p:cNvGrpSpPr/>
          <p:nvPr/>
        </p:nvGrpSpPr>
        <p:grpSpPr>
          <a:xfrm rot="0">
            <a:off x="9488538" y="6410916"/>
            <a:ext cx="7847705" cy="467620"/>
            <a:chOff x="0" y="0"/>
            <a:chExt cx="10463606" cy="623494"/>
          </a:xfrm>
        </p:grpSpPr>
        <p:sp>
          <p:nvSpPr>
            <p:cNvPr name="Freeform 23" id="23" descr="preencoded.png"/>
            <p:cNvSpPr/>
            <p:nvPr/>
          </p:nvSpPr>
          <p:spPr>
            <a:xfrm flipH="false" flipV="false" rot="0">
              <a:off x="0" y="0"/>
              <a:ext cx="10463657" cy="623443"/>
            </a:xfrm>
            <a:custGeom>
              <a:avLst/>
              <a:gdLst/>
              <a:ahLst/>
              <a:cxnLst/>
              <a:rect r="r" b="b" t="t" l="l"/>
              <a:pathLst>
                <a:path h="623443" w="10463657">
                  <a:moveTo>
                    <a:pt x="0" y="0"/>
                  </a:moveTo>
                  <a:lnTo>
                    <a:pt x="10463657" y="0"/>
                  </a:lnTo>
                  <a:lnTo>
                    <a:pt x="10463657" y="623443"/>
                  </a:lnTo>
                  <a:lnTo>
                    <a:pt x="0" y="623443"/>
                  </a:lnTo>
                  <a:lnTo>
                    <a:pt x="0" y="0"/>
                  </a:lnTo>
                  <a:close/>
                </a:path>
              </a:pathLst>
            </a:custGeom>
            <a:blipFill>
              <a:blip r:embed="rId3"/>
              <a:stretch>
                <a:fillRect l="0" t="-916" r="0" b="-924"/>
              </a:stretch>
            </a:blipFill>
          </p:spPr>
        </p:sp>
      </p:grpSp>
      <p:grpSp>
        <p:nvGrpSpPr>
          <p:cNvPr name="Group 24" id="24"/>
          <p:cNvGrpSpPr/>
          <p:nvPr/>
        </p:nvGrpSpPr>
        <p:grpSpPr>
          <a:xfrm rot="0">
            <a:off x="9488538" y="7215188"/>
            <a:ext cx="7847705" cy="1576540"/>
            <a:chOff x="0" y="0"/>
            <a:chExt cx="10463606" cy="2102053"/>
          </a:xfrm>
        </p:grpSpPr>
        <p:sp>
          <p:nvSpPr>
            <p:cNvPr name="Freeform 25" id="25"/>
            <p:cNvSpPr/>
            <p:nvPr/>
          </p:nvSpPr>
          <p:spPr>
            <a:xfrm flipH="false" flipV="false" rot="0">
              <a:off x="0" y="0"/>
              <a:ext cx="10463530" cy="2101977"/>
            </a:xfrm>
            <a:custGeom>
              <a:avLst/>
              <a:gdLst/>
              <a:ahLst/>
              <a:cxnLst/>
              <a:rect r="r" b="b" t="t" l="l"/>
              <a:pathLst>
                <a:path h="2101977" w="10463530">
                  <a:moveTo>
                    <a:pt x="0" y="54864"/>
                  </a:moveTo>
                  <a:cubicBezTo>
                    <a:pt x="0" y="24638"/>
                    <a:pt x="24638" y="0"/>
                    <a:pt x="54864" y="0"/>
                  </a:cubicBezTo>
                  <a:lnTo>
                    <a:pt x="10408666" y="0"/>
                  </a:lnTo>
                  <a:cubicBezTo>
                    <a:pt x="10439019" y="0"/>
                    <a:pt x="10463530" y="24638"/>
                    <a:pt x="10463530" y="54864"/>
                  </a:cubicBezTo>
                  <a:lnTo>
                    <a:pt x="10463530" y="2047113"/>
                  </a:lnTo>
                  <a:cubicBezTo>
                    <a:pt x="10463530" y="2077466"/>
                    <a:pt x="10438892" y="2101977"/>
                    <a:pt x="10408666" y="2101977"/>
                  </a:cubicBezTo>
                  <a:lnTo>
                    <a:pt x="54864" y="2101977"/>
                  </a:lnTo>
                  <a:cubicBezTo>
                    <a:pt x="24511" y="2101977"/>
                    <a:pt x="0" y="2077339"/>
                    <a:pt x="0" y="2047113"/>
                  </a:cubicBezTo>
                  <a:close/>
                </a:path>
              </a:pathLst>
            </a:custGeom>
            <a:solidFill>
              <a:srgbClr val="B6D6FC"/>
            </a:solidFill>
          </p:spPr>
        </p:sp>
      </p:grpSp>
      <p:grpSp>
        <p:nvGrpSpPr>
          <p:cNvPr name="Group 26" id="26"/>
          <p:cNvGrpSpPr/>
          <p:nvPr/>
        </p:nvGrpSpPr>
        <p:grpSpPr>
          <a:xfrm rot="0">
            <a:off x="9763125" y="7622829"/>
            <a:ext cx="343195" cy="274587"/>
            <a:chOff x="0" y="0"/>
            <a:chExt cx="457594" cy="366116"/>
          </a:xfrm>
        </p:grpSpPr>
        <p:sp>
          <p:nvSpPr>
            <p:cNvPr name="Freeform 27" id="27" descr="preencoded.png"/>
            <p:cNvSpPr/>
            <p:nvPr/>
          </p:nvSpPr>
          <p:spPr>
            <a:xfrm flipH="false" flipV="false" rot="0">
              <a:off x="0" y="0"/>
              <a:ext cx="457581" cy="366141"/>
            </a:xfrm>
            <a:custGeom>
              <a:avLst/>
              <a:gdLst/>
              <a:ahLst/>
              <a:cxnLst/>
              <a:rect r="r" b="b" t="t" l="l"/>
              <a:pathLst>
                <a:path h="366141" w="457581">
                  <a:moveTo>
                    <a:pt x="0" y="0"/>
                  </a:moveTo>
                  <a:lnTo>
                    <a:pt x="457581" y="0"/>
                  </a:lnTo>
                  <a:lnTo>
                    <a:pt x="457581" y="366141"/>
                  </a:lnTo>
                  <a:lnTo>
                    <a:pt x="0" y="366141"/>
                  </a:lnTo>
                  <a:lnTo>
                    <a:pt x="0" y="0"/>
                  </a:lnTo>
                  <a:close/>
                </a:path>
              </a:pathLst>
            </a:custGeom>
            <a:blipFill>
              <a:blip r:embed="rId4"/>
              <a:stretch>
                <a:fillRect l="0" t="-343" r="-2" b="-332"/>
              </a:stretch>
            </a:blipFill>
          </p:spPr>
        </p:sp>
      </p:grpSp>
      <p:sp>
        <p:nvSpPr>
          <p:cNvPr name="TextBox 28" id="28"/>
          <p:cNvSpPr txBox="true"/>
          <p:nvPr/>
        </p:nvSpPr>
        <p:spPr>
          <a:xfrm rot="0">
            <a:off x="10380907" y="7473553"/>
            <a:ext cx="6680749" cy="941489"/>
          </a:xfrm>
          <a:prstGeom prst="rect">
            <a:avLst/>
          </a:prstGeom>
        </p:spPr>
        <p:txBody>
          <a:bodyPr anchor="t" rtlCol="false" tIns="0" lIns="0" bIns="0" rIns="0">
            <a:spAutoFit/>
          </a:bodyPr>
          <a:lstStyle/>
          <a:p>
            <a:pPr algn="l">
              <a:lnSpc>
                <a:spcPts val="3374"/>
              </a:lnSpc>
            </a:pPr>
            <a:r>
              <a:rPr lang="en-US" sz="2125">
                <a:solidFill>
                  <a:srgbClr val="000000"/>
                </a:solidFill>
                <a:latin typeface="DM Sans"/>
                <a:ea typeface="DM Sans"/>
                <a:cs typeface="DM Sans"/>
                <a:sym typeface="DM Sans"/>
              </a:rPr>
              <a:t>A CPI below 1.0 means the project is over budget. A CPI above 1.0 means the project is under budget.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10163323" y="1247631"/>
            <a:ext cx="8124677" cy="9039369"/>
            <a:chOff x="0" y="0"/>
            <a:chExt cx="10832902" cy="12052492"/>
          </a:xfrm>
        </p:grpSpPr>
        <p:sp>
          <p:nvSpPr>
            <p:cNvPr name="Freeform 7" id="7"/>
            <p:cNvSpPr/>
            <p:nvPr/>
          </p:nvSpPr>
          <p:spPr>
            <a:xfrm flipH="false" flipV="false" rot="0">
              <a:off x="0" y="0"/>
              <a:ext cx="10832953" cy="12052505"/>
            </a:xfrm>
            <a:custGeom>
              <a:avLst/>
              <a:gdLst/>
              <a:ahLst/>
              <a:cxnLst/>
              <a:rect r="r" b="b" t="t" l="l"/>
              <a:pathLst>
                <a:path h="12052505" w="10832953">
                  <a:moveTo>
                    <a:pt x="0" y="309431"/>
                  </a:moveTo>
                  <a:cubicBezTo>
                    <a:pt x="0" y="138448"/>
                    <a:pt x="21848" y="0"/>
                    <a:pt x="48831" y="0"/>
                  </a:cubicBezTo>
                  <a:lnTo>
                    <a:pt x="10784115" y="0"/>
                  </a:lnTo>
                  <a:cubicBezTo>
                    <a:pt x="10811097" y="0"/>
                    <a:pt x="10832953" y="138448"/>
                    <a:pt x="10832953" y="309431"/>
                  </a:cubicBezTo>
                  <a:lnTo>
                    <a:pt x="10832953" y="11743131"/>
                  </a:lnTo>
                  <a:cubicBezTo>
                    <a:pt x="10832953" y="11914114"/>
                    <a:pt x="10811097" y="12052505"/>
                    <a:pt x="10784115" y="12052505"/>
                  </a:cubicBezTo>
                  <a:lnTo>
                    <a:pt x="48831" y="12052505"/>
                  </a:lnTo>
                  <a:cubicBezTo>
                    <a:pt x="21848" y="12052505"/>
                    <a:pt x="0" y="11914114"/>
                    <a:pt x="0" y="11743131"/>
                  </a:cubicBezTo>
                  <a:close/>
                </a:path>
              </a:pathLst>
            </a:custGeom>
            <a:solidFill>
              <a:srgbClr val="F2EEEE"/>
            </a:solidFill>
          </p:spPr>
        </p:sp>
      </p:grpSp>
      <p:sp>
        <p:nvSpPr>
          <p:cNvPr name="Freeform 8" id="8"/>
          <p:cNvSpPr/>
          <p:nvPr/>
        </p:nvSpPr>
        <p:spPr>
          <a:xfrm flipH="false" flipV="false" rot="0">
            <a:off x="0" y="0"/>
            <a:ext cx="10032571" cy="10153312"/>
          </a:xfrm>
          <a:custGeom>
            <a:avLst/>
            <a:gdLst/>
            <a:ahLst/>
            <a:cxnLst/>
            <a:rect r="r" b="b" t="t" l="l"/>
            <a:pathLst>
              <a:path h="10153312" w="10032571">
                <a:moveTo>
                  <a:pt x="0" y="0"/>
                </a:moveTo>
                <a:lnTo>
                  <a:pt x="10032571" y="0"/>
                </a:lnTo>
                <a:lnTo>
                  <a:pt x="10032571" y="10153312"/>
                </a:lnTo>
                <a:lnTo>
                  <a:pt x="0" y="10153312"/>
                </a:lnTo>
                <a:lnTo>
                  <a:pt x="0" y="0"/>
                </a:lnTo>
                <a:close/>
              </a:path>
            </a:pathLst>
          </a:custGeom>
          <a:blipFill>
            <a:blip r:embed="rId3"/>
            <a:stretch>
              <a:fillRect l="0" t="0" r="-3207" b="0"/>
            </a:stretch>
          </a:blipFill>
        </p:spPr>
      </p:sp>
      <p:sp>
        <p:nvSpPr>
          <p:cNvPr name="TextBox 9" id="9"/>
          <p:cNvSpPr txBox="true"/>
          <p:nvPr/>
        </p:nvSpPr>
        <p:spPr>
          <a:xfrm rot="0">
            <a:off x="10354368" y="335619"/>
            <a:ext cx="7823034" cy="693081"/>
          </a:xfrm>
          <a:prstGeom prst="rect">
            <a:avLst/>
          </a:prstGeom>
        </p:spPr>
        <p:txBody>
          <a:bodyPr anchor="t" rtlCol="false" tIns="0" lIns="0" bIns="0" rIns="0">
            <a:spAutoFit/>
          </a:bodyPr>
          <a:lstStyle/>
          <a:p>
            <a:pPr algn="l">
              <a:lnSpc>
                <a:spcPts val="5515"/>
              </a:lnSpc>
            </a:pPr>
            <a:r>
              <a:rPr lang="en-US" sz="4383">
                <a:solidFill>
                  <a:srgbClr val="020202"/>
                </a:solidFill>
                <a:latin typeface="PT Serif"/>
                <a:ea typeface="PT Serif"/>
                <a:cs typeface="PT Serif"/>
                <a:sym typeface="PT Serif"/>
              </a:rPr>
              <a:t>Real Example - API Listing Json</a:t>
            </a:r>
          </a:p>
        </p:txBody>
      </p:sp>
      <p:sp>
        <p:nvSpPr>
          <p:cNvPr name="TextBox 10" id="10"/>
          <p:cNvSpPr txBox="true"/>
          <p:nvPr/>
        </p:nvSpPr>
        <p:spPr>
          <a:xfrm rot="0">
            <a:off x="10354368" y="1311961"/>
            <a:ext cx="7715396" cy="8610581"/>
          </a:xfrm>
          <a:prstGeom prst="rect">
            <a:avLst/>
          </a:prstGeom>
        </p:spPr>
        <p:txBody>
          <a:bodyPr anchor="t" rtlCol="false" tIns="0" lIns="0" bIns="0" rIns="0">
            <a:spAutoFit/>
          </a:bodyPr>
          <a:lstStyle/>
          <a:p>
            <a:pPr algn="l">
              <a:lnSpc>
                <a:spcPts val="4061"/>
              </a:lnSpc>
            </a:pPr>
            <a:r>
              <a:rPr lang="en-US" sz="2494">
                <a:solidFill>
                  <a:srgbClr val="000000"/>
                </a:solidFill>
                <a:latin typeface="DM Sans"/>
                <a:ea typeface="DM Sans"/>
                <a:cs typeface="DM Sans"/>
                <a:sym typeface="DM Sans"/>
              </a:rPr>
              <a:t>To reduce costs in my API Listing</a:t>
            </a:r>
            <a:r>
              <a:rPr lang="en-US" sz="2494">
                <a:solidFill>
                  <a:srgbClr val="000000"/>
                </a:solidFill>
                <a:latin typeface="DM Sans"/>
                <a:ea typeface="DM Sans"/>
                <a:cs typeface="DM Sans"/>
                <a:sym typeface="DM Sans"/>
              </a:rPr>
              <a:t> project, I optimized the data structure by creating a minified version called apiCmp.json.</a:t>
            </a:r>
          </a:p>
          <a:p>
            <a:pPr algn="l">
              <a:lnSpc>
                <a:spcPts val="4061"/>
              </a:lnSpc>
            </a:pPr>
            <a:r>
              <a:rPr lang="en-US" sz="2494">
                <a:solidFill>
                  <a:srgbClr val="000000"/>
                </a:solidFill>
                <a:latin typeface="DM Sans"/>
                <a:ea typeface="DM Sans"/>
                <a:cs typeface="DM Sans"/>
                <a:sym typeface="DM Sans"/>
              </a:rPr>
              <a:t>I achieved a 39% reduction in file size through two main methods:</a:t>
            </a:r>
          </a:p>
          <a:p>
            <a:pPr algn="l" marL="538603" indent="-269302" lvl="1">
              <a:lnSpc>
                <a:spcPts val="4061"/>
              </a:lnSpc>
              <a:buFont typeface="Arial"/>
              <a:buChar char="•"/>
            </a:pPr>
            <a:r>
              <a:rPr lang="en-US" sz="2494">
                <a:solidFill>
                  <a:srgbClr val="000000"/>
                </a:solidFill>
                <a:latin typeface="DM Sans"/>
                <a:ea typeface="DM Sans"/>
                <a:cs typeface="DM Sans"/>
                <a:sym typeface="DM Sans"/>
              </a:rPr>
              <a:t>K</a:t>
            </a:r>
            <a:r>
              <a:rPr lang="en-US" sz="2494">
                <a:solidFill>
                  <a:srgbClr val="000000"/>
                </a:solidFill>
                <a:latin typeface="DM Sans"/>
                <a:ea typeface="DM Sans"/>
                <a:cs typeface="DM Sans"/>
                <a:sym typeface="DM Sans"/>
              </a:rPr>
              <a:t>ey Mapping: I replaced long property names like name, desc, and url with single-letter keys (n, d, u).</a:t>
            </a:r>
          </a:p>
          <a:p>
            <a:pPr algn="l" marL="538603" indent="-269302" lvl="1">
              <a:lnSpc>
                <a:spcPts val="4061"/>
              </a:lnSpc>
              <a:buFont typeface="Arial"/>
              <a:buChar char="•"/>
            </a:pPr>
            <a:r>
              <a:rPr lang="en-US" sz="2494">
                <a:solidFill>
                  <a:srgbClr val="000000"/>
                </a:solidFill>
                <a:latin typeface="DM Sans"/>
                <a:ea typeface="DM Sans"/>
                <a:cs typeface="DM Sans"/>
                <a:sym typeface="DM Sans"/>
              </a:rPr>
              <a:t>Minifi</a:t>
            </a:r>
            <a:r>
              <a:rPr lang="en-US" sz="2494">
                <a:solidFill>
                  <a:srgbClr val="000000"/>
                </a:solidFill>
                <a:latin typeface="DM Sans"/>
                <a:ea typeface="DM Sans"/>
                <a:cs typeface="DM Sans"/>
                <a:sym typeface="DM Sans"/>
              </a:rPr>
              <a:t>cation: I removed all whitespace and indentation.</a:t>
            </a:r>
          </a:p>
          <a:p>
            <a:pPr algn="l">
              <a:lnSpc>
                <a:spcPts val="4061"/>
              </a:lnSpc>
            </a:pPr>
            <a:r>
              <a:rPr lang="en-US" sz="2494">
                <a:solidFill>
                  <a:srgbClr val="000000"/>
                </a:solidFill>
                <a:latin typeface="DM Sans"/>
                <a:ea typeface="DM Sans"/>
                <a:cs typeface="DM Sans"/>
                <a:sym typeface="DM Sans"/>
              </a:rPr>
              <a:t>This optimization significantly lowers bandwidth usage and speeds up load times while keeping the project cost-effective.</a:t>
            </a:r>
          </a:p>
          <a:p>
            <a:pPr algn="l" marL="538602" indent="-269301" lvl="1">
              <a:lnSpc>
                <a:spcPts val="4061"/>
              </a:lnSpc>
              <a:buFont typeface="Arial"/>
              <a:buChar char="•"/>
            </a:pPr>
            <a:r>
              <a:rPr lang="en-US" sz="2494">
                <a:solidFill>
                  <a:srgbClr val="000000"/>
                </a:solidFill>
                <a:latin typeface="DM Sans"/>
                <a:ea typeface="DM Sans"/>
                <a:cs typeface="DM Sans"/>
                <a:sym typeface="DM Sans"/>
              </a:rPr>
              <a:t>Cost Impact: Vercel and other providers charge based on bandwidth, this ensures the project stays well within the free-tier limits even with high traffic.</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11097857" y="1951792"/>
            <a:ext cx="6520319" cy="7721793"/>
          </a:xfrm>
          <a:custGeom>
            <a:avLst/>
            <a:gdLst/>
            <a:ahLst/>
            <a:cxnLst/>
            <a:rect r="r" b="b" t="t" l="l"/>
            <a:pathLst>
              <a:path h="7721793" w="6520319">
                <a:moveTo>
                  <a:pt x="0" y="0"/>
                </a:moveTo>
                <a:lnTo>
                  <a:pt x="6520319" y="0"/>
                </a:lnTo>
                <a:lnTo>
                  <a:pt x="6520319" y="7721793"/>
                </a:lnTo>
                <a:lnTo>
                  <a:pt x="0" y="7721793"/>
                </a:lnTo>
                <a:lnTo>
                  <a:pt x="0" y="0"/>
                </a:lnTo>
                <a:close/>
              </a:path>
            </a:pathLst>
          </a:custGeom>
          <a:blipFill>
            <a:blip r:embed="rId3"/>
            <a:stretch>
              <a:fillRect l="-10758" t="0" r="-7483" b="0"/>
            </a:stretch>
          </a:blipFill>
        </p:spPr>
      </p:sp>
      <p:sp>
        <p:nvSpPr>
          <p:cNvPr name="TextBox 7" id="7"/>
          <p:cNvSpPr txBox="true"/>
          <p:nvPr/>
        </p:nvSpPr>
        <p:spPr>
          <a:xfrm rot="0">
            <a:off x="992238" y="1670340"/>
            <a:ext cx="9217346" cy="8179922"/>
          </a:xfrm>
          <a:prstGeom prst="rect">
            <a:avLst/>
          </a:prstGeom>
        </p:spPr>
        <p:txBody>
          <a:bodyPr anchor="t" rtlCol="false" tIns="0" lIns="0" bIns="0" rIns="0">
            <a:spAutoFit/>
          </a:bodyPr>
          <a:lstStyle/>
          <a:p>
            <a:pPr algn="l">
              <a:lnSpc>
                <a:spcPts val="4397"/>
              </a:lnSpc>
            </a:pPr>
            <a:r>
              <a:rPr lang="en-US" sz="2700">
                <a:solidFill>
                  <a:srgbClr val="000000"/>
                </a:solidFill>
                <a:latin typeface="DM Sans"/>
                <a:ea typeface="DM Sans"/>
                <a:cs typeface="DM Sans"/>
                <a:sym typeface="DM Sans"/>
              </a:rPr>
              <a:t>Budgeting f</a:t>
            </a:r>
            <a:r>
              <a:rPr lang="en-US" sz="2700">
                <a:solidFill>
                  <a:srgbClr val="000000"/>
                </a:solidFill>
                <a:latin typeface="DM Sans"/>
                <a:ea typeface="DM Sans"/>
                <a:cs typeface="DM Sans"/>
                <a:sym typeface="DM Sans"/>
              </a:rPr>
              <a:t>ails because people are naturally too optimistic. We often think coding will be faster than it is (Optimism Bias) and keep wasting money on bad ideas just because we’ve already spent a lot (Sunk Cost Fallacy).</a:t>
            </a:r>
          </a:p>
          <a:p>
            <a:pPr algn="l">
              <a:lnSpc>
                <a:spcPts val="4397"/>
              </a:lnSpc>
            </a:pPr>
            <a:r>
              <a:rPr lang="en-US" sz="2700">
                <a:solidFill>
                  <a:srgbClr val="000000"/>
                </a:solidFill>
                <a:latin typeface="DM Sans"/>
                <a:ea typeface="DM Sans"/>
                <a:cs typeface="DM Sans"/>
                <a:sym typeface="DM Sans"/>
              </a:rPr>
              <a:t>To fix this, use these simple rules:</a:t>
            </a:r>
          </a:p>
          <a:p>
            <a:pPr algn="l" marL="583120" indent="-291560" lvl="1">
              <a:lnSpc>
                <a:spcPts val="4397"/>
              </a:lnSpc>
              <a:buFont typeface="Arial"/>
              <a:buChar char="•"/>
            </a:pPr>
            <a:r>
              <a:rPr lang="en-US" sz="2700">
                <a:solidFill>
                  <a:srgbClr val="000000"/>
                </a:solidFill>
                <a:latin typeface="DM Sans"/>
                <a:ea typeface="DM Sans"/>
                <a:cs typeface="DM Sans"/>
                <a:sym typeface="DM Sans"/>
              </a:rPr>
              <a:t>Track Everything: Record every single expense, no matter how small.</a:t>
            </a:r>
          </a:p>
          <a:p>
            <a:pPr algn="l" marL="583120" indent="-291560" lvl="1">
              <a:lnSpc>
                <a:spcPts val="4397"/>
              </a:lnSpc>
              <a:buFont typeface="Arial"/>
              <a:buChar char="•"/>
            </a:pPr>
            <a:r>
              <a:rPr lang="en-US" sz="2700">
                <a:solidFill>
                  <a:srgbClr val="000000"/>
                </a:solidFill>
                <a:latin typeface="DM Sans"/>
                <a:ea typeface="DM Sans"/>
                <a:cs typeface="DM Sans"/>
                <a:sym typeface="DM Sans"/>
              </a:rPr>
              <a:t>Define "Done": Be clear about when a feature is finished so you don't waste time adding unnecessary extras.</a:t>
            </a:r>
          </a:p>
          <a:p>
            <a:pPr algn="l" marL="583120" indent="-291560" lvl="1">
              <a:lnSpc>
                <a:spcPts val="4397"/>
              </a:lnSpc>
              <a:buFont typeface="Arial"/>
              <a:buChar char="•"/>
            </a:pPr>
            <a:r>
              <a:rPr lang="en-US" sz="2700">
                <a:solidFill>
                  <a:srgbClr val="000000"/>
                </a:solidFill>
                <a:latin typeface="DM Sans"/>
                <a:ea typeface="DM Sans"/>
                <a:cs typeface="DM Sans"/>
                <a:sym typeface="DM Sans"/>
              </a:rPr>
              <a:t>Ch</a:t>
            </a:r>
            <a:r>
              <a:rPr lang="en-US" sz="2700">
                <a:solidFill>
                  <a:srgbClr val="000000"/>
                </a:solidFill>
                <a:latin typeface="DM Sans"/>
                <a:ea typeface="DM Sans"/>
                <a:cs typeface="DM Sans"/>
                <a:sym typeface="DM Sans"/>
              </a:rPr>
              <a:t>eck Often: Regularly compare your spending to your actual progress to make sure your next steps still make sense financially.</a:t>
            </a:r>
          </a:p>
          <a:p>
            <a:pPr algn="l">
              <a:lnSpc>
                <a:spcPts val="4397"/>
              </a:lnSpc>
            </a:pPr>
          </a:p>
        </p:txBody>
      </p:sp>
      <p:sp>
        <p:nvSpPr>
          <p:cNvPr name="TextBox 8" id="8"/>
          <p:cNvSpPr txBox="true"/>
          <p:nvPr/>
        </p:nvSpPr>
        <p:spPr>
          <a:xfrm rot="0">
            <a:off x="992238" y="659126"/>
            <a:ext cx="15938318" cy="720098"/>
          </a:xfrm>
          <a:prstGeom prst="rect">
            <a:avLst/>
          </a:prstGeom>
        </p:spPr>
        <p:txBody>
          <a:bodyPr anchor="t" rtlCol="false" tIns="0" lIns="0" bIns="0" rIns="0">
            <a:spAutoFit/>
          </a:bodyPr>
          <a:lstStyle/>
          <a:p>
            <a:pPr algn="l">
              <a:lnSpc>
                <a:spcPts val="5818"/>
              </a:lnSpc>
            </a:pPr>
            <a:r>
              <a:rPr lang="en-US" sz="4624">
                <a:solidFill>
                  <a:srgbClr val="020202"/>
                </a:solidFill>
                <a:latin typeface="PT Serif"/>
                <a:ea typeface="PT Serif"/>
                <a:cs typeface="PT Serif"/>
                <a:sym typeface="PT Serif"/>
              </a:rPr>
              <a:t>Ove</a:t>
            </a:r>
            <a:r>
              <a:rPr lang="en-US" sz="4624">
                <a:solidFill>
                  <a:srgbClr val="020202"/>
                </a:solidFill>
                <a:latin typeface="PT Serif"/>
                <a:ea typeface="PT Serif"/>
                <a:cs typeface="PT Serif"/>
                <a:sym typeface="PT Serif"/>
              </a:rPr>
              <a:t>rcoming Psychological Bias and "Getting Things Done"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187923" y="1638642"/>
            <a:ext cx="8320992" cy="7968856"/>
          </a:xfrm>
          <a:custGeom>
            <a:avLst/>
            <a:gdLst/>
            <a:ahLst/>
            <a:cxnLst/>
            <a:rect r="r" b="b" t="t" l="l"/>
            <a:pathLst>
              <a:path h="7968856" w="8320992">
                <a:moveTo>
                  <a:pt x="0" y="0"/>
                </a:moveTo>
                <a:lnTo>
                  <a:pt x="8320992" y="0"/>
                </a:lnTo>
                <a:lnTo>
                  <a:pt x="8320992" y="7968856"/>
                </a:lnTo>
                <a:lnTo>
                  <a:pt x="0" y="7968856"/>
                </a:lnTo>
                <a:lnTo>
                  <a:pt x="0" y="0"/>
                </a:lnTo>
                <a:close/>
              </a:path>
            </a:pathLst>
          </a:custGeom>
          <a:blipFill>
            <a:blip r:embed="rId3"/>
            <a:stretch>
              <a:fillRect l="0" t="0" r="-1554" b="0"/>
            </a:stretch>
          </a:blipFill>
        </p:spPr>
      </p:sp>
      <p:sp>
        <p:nvSpPr>
          <p:cNvPr name="TextBox 7" id="7"/>
          <p:cNvSpPr txBox="true"/>
          <p:nvPr/>
        </p:nvSpPr>
        <p:spPr>
          <a:xfrm rot="0">
            <a:off x="8790132" y="1719693"/>
            <a:ext cx="9068799" cy="7887805"/>
          </a:xfrm>
          <a:prstGeom prst="rect">
            <a:avLst/>
          </a:prstGeom>
        </p:spPr>
        <p:txBody>
          <a:bodyPr anchor="t" rtlCol="false" tIns="0" lIns="0" bIns="0" rIns="0">
            <a:spAutoFit/>
          </a:bodyPr>
          <a:lstStyle/>
          <a:p>
            <a:pPr algn="l">
              <a:lnSpc>
                <a:spcPts val="4891"/>
              </a:lnSpc>
            </a:pPr>
            <a:r>
              <a:rPr lang="en-US" sz="3004">
                <a:solidFill>
                  <a:srgbClr val="000000"/>
                </a:solidFill>
                <a:latin typeface="DM Sans"/>
                <a:ea typeface="DM Sans"/>
                <a:cs typeface="DM Sans"/>
                <a:sym typeface="DM Sans"/>
              </a:rPr>
              <a:t>To en</a:t>
            </a:r>
            <a:r>
              <a:rPr lang="en-US" sz="3004">
                <a:solidFill>
                  <a:srgbClr val="000000"/>
                </a:solidFill>
                <a:latin typeface="DM Sans"/>
                <a:ea typeface="DM Sans"/>
                <a:cs typeface="DM Sans"/>
                <a:sym typeface="DM Sans"/>
              </a:rPr>
              <a:t>sure financial health in IT projects:</a:t>
            </a:r>
          </a:p>
          <a:p>
            <a:pPr algn="l" marL="648718" indent="-324359" lvl="1">
              <a:lnSpc>
                <a:spcPts val="4891"/>
              </a:lnSpc>
              <a:buFont typeface="Arial"/>
              <a:buChar char="•"/>
            </a:pPr>
            <a:r>
              <a:rPr lang="en-US" sz="3004">
                <a:solidFill>
                  <a:srgbClr val="000000"/>
                </a:solidFill>
                <a:latin typeface="DM Sans"/>
                <a:ea typeface="DM Sans"/>
                <a:cs typeface="DM Sans"/>
                <a:sym typeface="DM Sans"/>
              </a:rPr>
              <a:t>Involve the Technical Team: Never estimate in a vacuum; the people writing the code should have a voice in the cost.</a:t>
            </a:r>
          </a:p>
          <a:p>
            <a:pPr algn="l" marL="648718" indent="-324359" lvl="1">
              <a:lnSpc>
                <a:spcPts val="4891"/>
              </a:lnSpc>
              <a:buFont typeface="Arial"/>
              <a:buChar char="•"/>
            </a:pPr>
            <a:r>
              <a:rPr lang="en-US" sz="3004">
                <a:solidFill>
                  <a:srgbClr val="000000"/>
                </a:solidFill>
                <a:latin typeface="DM Sans"/>
                <a:ea typeface="DM Sans"/>
                <a:cs typeface="DM Sans"/>
                <a:sym typeface="DM Sans"/>
              </a:rPr>
              <a:t>Itera</a:t>
            </a:r>
            <a:r>
              <a:rPr lang="en-US" sz="3004">
                <a:solidFill>
                  <a:srgbClr val="000000"/>
                </a:solidFill>
                <a:latin typeface="DM Sans"/>
                <a:ea typeface="DM Sans"/>
                <a:cs typeface="DM Sans"/>
                <a:sym typeface="DM Sans"/>
              </a:rPr>
              <a:t>tive Refinement: Re-estimate at the start of each sprint or phase as requirements become clearer.</a:t>
            </a:r>
          </a:p>
          <a:p>
            <a:pPr algn="l" marL="648718" indent="-324359" lvl="1">
              <a:lnSpc>
                <a:spcPts val="4891"/>
              </a:lnSpc>
              <a:buFont typeface="Arial"/>
              <a:buChar char="•"/>
            </a:pPr>
            <a:r>
              <a:rPr lang="en-US" sz="3004">
                <a:solidFill>
                  <a:srgbClr val="000000"/>
                </a:solidFill>
                <a:latin typeface="DM Sans"/>
                <a:ea typeface="DM Sans"/>
                <a:cs typeface="DM Sans"/>
                <a:sym typeface="DM Sans"/>
              </a:rPr>
              <a:t>Standardize Tools: Use consistent software for tracking to avoid data silos.</a:t>
            </a:r>
          </a:p>
          <a:p>
            <a:pPr algn="l" marL="648718" indent="-324359" lvl="1">
              <a:lnSpc>
                <a:spcPts val="4891"/>
              </a:lnSpc>
              <a:buFont typeface="Arial"/>
              <a:buChar char="•"/>
            </a:pPr>
            <a:r>
              <a:rPr lang="en-US" sz="3004">
                <a:solidFill>
                  <a:srgbClr val="000000"/>
                </a:solidFill>
                <a:latin typeface="DM Sans"/>
                <a:ea typeface="DM Sans"/>
                <a:cs typeface="DM Sans"/>
                <a:sym typeface="DM Sans"/>
              </a:rPr>
              <a:t>Communi</a:t>
            </a:r>
            <a:r>
              <a:rPr lang="en-US" sz="3004">
                <a:solidFill>
                  <a:srgbClr val="000000"/>
                </a:solidFill>
                <a:latin typeface="DM Sans"/>
                <a:ea typeface="DM Sans"/>
                <a:cs typeface="DM Sans"/>
                <a:sym typeface="DM Sans"/>
              </a:rPr>
              <a:t>cate Early: If a budget overrun is predicted, inform stakeholders immediately with data-backed solutions.</a:t>
            </a:r>
          </a:p>
          <a:p>
            <a:pPr algn="l">
              <a:lnSpc>
                <a:spcPts val="4891"/>
              </a:lnSpc>
            </a:pPr>
          </a:p>
        </p:txBody>
      </p:sp>
      <p:sp>
        <p:nvSpPr>
          <p:cNvPr name="TextBox 8" id="8"/>
          <p:cNvSpPr txBox="true"/>
          <p:nvPr/>
        </p:nvSpPr>
        <p:spPr>
          <a:xfrm rot="0">
            <a:off x="820974" y="659126"/>
            <a:ext cx="15938318" cy="720098"/>
          </a:xfrm>
          <a:prstGeom prst="rect">
            <a:avLst/>
          </a:prstGeom>
        </p:spPr>
        <p:txBody>
          <a:bodyPr anchor="t" rtlCol="false" tIns="0" lIns="0" bIns="0" rIns="0">
            <a:spAutoFit/>
          </a:bodyPr>
          <a:lstStyle/>
          <a:p>
            <a:pPr algn="l">
              <a:lnSpc>
                <a:spcPts val="5818"/>
              </a:lnSpc>
            </a:pPr>
            <a:r>
              <a:rPr lang="en-US" sz="4624">
                <a:solidFill>
                  <a:srgbClr val="020202"/>
                </a:solidFill>
                <a:latin typeface="PT Serif"/>
                <a:ea typeface="PT Serif"/>
                <a:cs typeface="PT Serif"/>
                <a:sym typeface="PT Serif"/>
              </a:rPr>
              <a:t>Strate</a:t>
            </a:r>
            <a:r>
              <a:rPr lang="en-US" sz="4624">
                <a:solidFill>
                  <a:srgbClr val="020202"/>
                </a:solidFill>
                <a:latin typeface="PT Serif"/>
                <a:ea typeface="PT Serif"/>
                <a:cs typeface="PT Serif"/>
                <a:sym typeface="PT Serif"/>
              </a:rPr>
              <a:t>gic Best Practices for ITPM Success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0" y="6430894"/>
            <a:ext cx="18288000" cy="3856106"/>
          </a:xfrm>
          <a:custGeom>
            <a:avLst/>
            <a:gdLst/>
            <a:ahLst/>
            <a:cxnLst/>
            <a:rect r="r" b="b" t="t" l="l"/>
            <a:pathLst>
              <a:path h="3856106" w="18288000">
                <a:moveTo>
                  <a:pt x="0" y="0"/>
                </a:moveTo>
                <a:lnTo>
                  <a:pt x="18288000" y="0"/>
                </a:lnTo>
                <a:lnTo>
                  <a:pt x="18288000" y="3856106"/>
                </a:lnTo>
                <a:lnTo>
                  <a:pt x="0" y="3856106"/>
                </a:lnTo>
                <a:lnTo>
                  <a:pt x="0" y="0"/>
                </a:lnTo>
                <a:close/>
              </a:path>
            </a:pathLst>
          </a:custGeom>
          <a:blipFill>
            <a:blip r:embed="rId3"/>
            <a:stretch>
              <a:fillRect l="0" t="-50002" r="0" b="-89498"/>
            </a:stretch>
          </a:blipFill>
        </p:spPr>
      </p:sp>
      <p:grpSp>
        <p:nvGrpSpPr>
          <p:cNvPr name="Group 7" id="7"/>
          <p:cNvGrpSpPr/>
          <p:nvPr/>
        </p:nvGrpSpPr>
        <p:grpSpPr>
          <a:xfrm rot="0">
            <a:off x="1875374" y="1378360"/>
            <a:ext cx="14537253" cy="4973926"/>
            <a:chOff x="0" y="0"/>
            <a:chExt cx="3828741" cy="1310005"/>
          </a:xfrm>
        </p:grpSpPr>
        <p:sp>
          <p:nvSpPr>
            <p:cNvPr name="Freeform 8" id="8"/>
            <p:cNvSpPr/>
            <p:nvPr/>
          </p:nvSpPr>
          <p:spPr>
            <a:xfrm flipH="false" flipV="false" rot="0">
              <a:off x="0" y="0"/>
              <a:ext cx="3828741" cy="1310005"/>
            </a:xfrm>
            <a:custGeom>
              <a:avLst/>
              <a:gdLst/>
              <a:ahLst/>
              <a:cxnLst/>
              <a:rect r="r" b="b" t="t" l="l"/>
              <a:pathLst>
                <a:path h="1310005" w="3828741">
                  <a:moveTo>
                    <a:pt x="9053" y="0"/>
                  </a:moveTo>
                  <a:lnTo>
                    <a:pt x="3819688" y="0"/>
                  </a:lnTo>
                  <a:cubicBezTo>
                    <a:pt x="3824688" y="0"/>
                    <a:pt x="3828741" y="4053"/>
                    <a:pt x="3828741" y="9053"/>
                  </a:cubicBezTo>
                  <a:lnTo>
                    <a:pt x="3828741" y="1300952"/>
                  </a:lnTo>
                  <a:cubicBezTo>
                    <a:pt x="3828741" y="1305952"/>
                    <a:pt x="3824688" y="1310005"/>
                    <a:pt x="3819688" y="1310005"/>
                  </a:cubicBezTo>
                  <a:lnTo>
                    <a:pt x="9053" y="1310005"/>
                  </a:lnTo>
                  <a:cubicBezTo>
                    <a:pt x="4053" y="1310005"/>
                    <a:pt x="0" y="1305952"/>
                    <a:pt x="0" y="1300952"/>
                  </a:cubicBezTo>
                  <a:lnTo>
                    <a:pt x="0" y="9053"/>
                  </a:lnTo>
                  <a:cubicBezTo>
                    <a:pt x="0" y="4053"/>
                    <a:pt x="4053" y="0"/>
                    <a:pt x="9053" y="0"/>
                  </a:cubicBezTo>
                  <a:close/>
                </a:path>
              </a:pathLst>
            </a:custGeom>
            <a:solidFill>
              <a:srgbClr val="F2EEEE"/>
            </a:solidFill>
          </p:spPr>
        </p:sp>
        <p:sp>
          <p:nvSpPr>
            <p:cNvPr name="TextBox 9" id="9"/>
            <p:cNvSpPr txBox="true"/>
            <p:nvPr/>
          </p:nvSpPr>
          <p:spPr>
            <a:xfrm>
              <a:off x="0" y="-47625"/>
              <a:ext cx="3828741" cy="135763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2382314" y="1620777"/>
            <a:ext cx="13523372" cy="4424826"/>
          </a:xfrm>
          <a:prstGeom prst="rect">
            <a:avLst/>
          </a:prstGeom>
        </p:spPr>
        <p:txBody>
          <a:bodyPr anchor="t" rtlCol="false" tIns="0" lIns="0" bIns="0" rIns="0">
            <a:spAutoFit/>
          </a:bodyPr>
          <a:lstStyle/>
          <a:p>
            <a:pPr algn="ctr">
              <a:lnSpc>
                <a:spcPts val="5940"/>
              </a:lnSpc>
            </a:pPr>
            <a:r>
              <a:rPr lang="en-US" sz="3648">
                <a:solidFill>
                  <a:srgbClr val="000000"/>
                </a:solidFill>
                <a:latin typeface="DM Sans"/>
                <a:ea typeface="DM Sans"/>
                <a:cs typeface="DM Sans"/>
                <a:sym typeface="DM Sans"/>
              </a:rPr>
              <a:t>Thank you for yo</a:t>
            </a:r>
            <a:r>
              <a:rPr lang="en-US" sz="3648">
                <a:solidFill>
                  <a:srgbClr val="000000"/>
                </a:solidFill>
                <a:latin typeface="DM Sans"/>
                <a:ea typeface="DM Sans"/>
                <a:cs typeface="DM Sans"/>
                <a:sym typeface="DM Sans"/>
              </a:rPr>
              <a:t>ur time and engagement. Managing the finances of IT projects is a complex but rewarding challenge that requires both technical insight and administ</a:t>
            </a:r>
            <a:r>
              <a:rPr lang="en-US" sz="3648">
                <a:solidFill>
                  <a:srgbClr val="000000"/>
                </a:solidFill>
                <a:latin typeface="DM Sans"/>
                <a:ea typeface="DM Sans"/>
                <a:cs typeface="DM Sans"/>
                <a:sym typeface="DM Sans"/>
              </a:rPr>
              <a:t>ra</a:t>
            </a:r>
            <a:r>
              <a:rPr lang="en-US" sz="3648">
                <a:solidFill>
                  <a:srgbClr val="000000"/>
                </a:solidFill>
                <a:latin typeface="DM Sans"/>
                <a:ea typeface="DM Sans"/>
                <a:cs typeface="DM Sans"/>
                <a:sym typeface="DM Sans"/>
              </a:rPr>
              <a:t>tive discipline. We are now open for any questions regarding the methodologies discussed or the real-world applications </a:t>
            </a:r>
            <a:r>
              <a:rPr lang="en-US" sz="3648">
                <a:solidFill>
                  <a:srgbClr val="000000"/>
                </a:solidFill>
                <a:latin typeface="DM Sans"/>
                <a:ea typeface="DM Sans"/>
                <a:cs typeface="DM Sans"/>
                <a:sym typeface="DM Sans"/>
              </a:rPr>
              <a:t>of </a:t>
            </a:r>
            <a:r>
              <a:rPr lang="en-US" sz="3648">
                <a:solidFill>
                  <a:srgbClr val="000000"/>
                </a:solidFill>
                <a:latin typeface="DM Sans"/>
                <a:ea typeface="DM Sans"/>
                <a:cs typeface="DM Sans"/>
                <a:sym typeface="DM Sans"/>
              </a:rPr>
              <a:t>these budgeting strategies.</a:t>
            </a:r>
          </a:p>
        </p:txBody>
      </p:sp>
      <p:sp>
        <p:nvSpPr>
          <p:cNvPr name="TextBox 11" id="11"/>
          <p:cNvSpPr txBox="true"/>
          <p:nvPr/>
        </p:nvSpPr>
        <p:spPr>
          <a:xfrm rot="0">
            <a:off x="5753620" y="310330"/>
            <a:ext cx="6780761" cy="718370"/>
          </a:xfrm>
          <a:prstGeom prst="rect">
            <a:avLst/>
          </a:prstGeom>
        </p:spPr>
        <p:txBody>
          <a:bodyPr anchor="t" rtlCol="false" tIns="0" lIns="0" bIns="0" rIns="0">
            <a:spAutoFit/>
          </a:bodyPr>
          <a:lstStyle/>
          <a:p>
            <a:pPr algn="ctr">
              <a:lnSpc>
                <a:spcPts val="5818"/>
              </a:lnSpc>
            </a:pPr>
            <a:r>
              <a:rPr lang="en-US" sz="4624">
                <a:solidFill>
                  <a:srgbClr val="020202"/>
                </a:solidFill>
                <a:latin typeface="PT Serif"/>
                <a:ea typeface="PT Serif"/>
                <a:cs typeface="PT Serif"/>
                <a:sym typeface="PT Serif"/>
              </a:rPr>
              <a:t>Con</a:t>
            </a:r>
            <a:r>
              <a:rPr lang="en-US" sz="4624">
                <a:solidFill>
                  <a:srgbClr val="020202"/>
                </a:solidFill>
                <a:latin typeface="PT Serif"/>
                <a:ea typeface="PT Serif"/>
                <a:cs typeface="PT Serif"/>
                <a:sym typeface="PT Serif"/>
              </a:rPr>
              <a:t>clusion and Summary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DAHILHypCpg</dc:identifier>
  <dcterms:modified xsi:type="dcterms:W3CDTF">2011-08-01T06:04:30Z</dcterms:modified>
  <cp:revision>1</cp:revision>
  <dc:title>Navigating-the-Financial-Architecture-of-IT-Projects (1).pptx</dc:title>
</cp:coreProperties>
</file>