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Slab" charset="1" panose="00000000000000000000"/>
      <p:regular r:id="rId18"/>
    </p:embeddedFont>
    <p:embeddedFont>
      <p:font typeface="Zilla Slab Bold" charset="1" panose="00000000000000000000"/>
      <p:regular r:id="rId19"/>
    </p:embeddedFont>
    <p:embeddedFont>
      <p:font typeface="Pridi" charset="1" panose="00000500000000000000"/>
      <p:regular r:id="rId20"/>
    </p:embeddedFont>
    <p:embeddedFont>
      <p:font typeface="Roboto Slab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155" y="1991642"/>
            <a:ext cx="12045848" cy="6303715"/>
            <a:chOff x="0" y="0"/>
            <a:chExt cx="3172569" cy="1660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2569" cy="1660238"/>
            </a:xfrm>
            <a:custGeom>
              <a:avLst/>
              <a:gdLst/>
              <a:ahLst/>
              <a:cxnLst/>
              <a:rect r="r" b="b" t="t" l="l"/>
              <a:pathLst>
                <a:path h="1660238" w="3172569">
                  <a:moveTo>
                    <a:pt x="33421" y="0"/>
                  </a:moveTo>
                  <a:lnTo>
                    <a:pt x="3139149" y="0"/>
                  </a:lnTo>
                  <a:cubicBezTo>
                    <a:pt x="3157606" y="0"/>
                    <a:pt x="3172569" y="14963"/>
                    <a:pt x="3172569" y="33421"/>
                  </a:cubicBezTo>
                  <a:lnTo>
                    <a:pt x="3172569" y="1626817"/>
                  </a:lnTo>
                  <a:cubicBezTo>
                    <a:pt x="3172569" y="1645275"/>
                    <a:pt x="3157606" y="1660238"/>
                    <a:pt x="3139149" y="1660238"/>
                  </a:cubicBezTo>
                  <a:lnTo>
                    <a:pt x="33421" y="1660238"/>
                  </a:lnTo>
                  <a:cubicBezTo>
                    <a:pt x="14963" y="1660238"/>
                    <a:pt x="0" y="1645275"/>
                    <a:pt x="0" y="1626817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A4C7FF">
                <a:alpha val="5882"/>
              </a:srgbClr>
            </a:solidFill>
            <a:ln w="9525" cap="rnd">
              <a:solidFill>
                <a:srgbClr val="000000">
                  <a:alpha val="588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72569" cy="1707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8574" y="2193846"/>
            <a:ext cx="11437076" cy="569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Məmmədzadə Hüseyn</a:t>
            </a:r>
          </a:p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Qrup: 682.24E</a:t>
            </a:r>
          </a:p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Fənn: Azərbaycan dilində işgüzar və   akademik kommunikasiya</a:t>
            </a:r>
          </a:p>
          <a:p>
            <a:pPr algn="l">
              <a:lnSpc>
                <a:spcPts val="6491"/>
              </a:lnSpc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Fakültə: İnformasiya Texnologiyaları</a:t>
            </a:r>
          </a:p>
          <a:p>
            <a:pPr algn="l">
              <a:lnSpc>
                <a:spcPts val="6491"/>
              </a:lnSpc>
              <a:spcBef>
                <a:spcPct val="0"/>
              </a:spcBef>
            </a:pP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Uni</a:t>
            </a:r>
            <a:r>
              <a:rPr lang="en-US" sz="463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versitet:  Azərbaycan Dövlət Neft və Sənaye Universiteti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930301" y="0"/>
            <a:ext cx="4843349" cy="10287000"/>
          </a:xfrm>
          <a:custGeom>
            <a:avLst/>
            <a:gdLst/>
            <a:ahLst/>
            <a:cxnLst/>
            <a:rect r="r" b="b" t="t" l="l"/>
            <a:pathLst>
              <a:path h="10287000" w="4843349">
                <a:moveTo>
                  <a:pt x="0" y="0"/>
                </a:moveTo>
                <a:lnTo>
                  <a:pt x="4843349" y="0"/>
                </a:lnTo>
                <a:lnTo>
                  <a:pt x="48433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904" t="-3792" r="-9532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2155" y="301337"/>
            <a:ext cx="18005845" cy="78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Müasir </a:t>
            </a:r>
            <a:r>
              <a:rPr lang="en-US" b="true" sz="458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Azə</a:t>
            </a:r>
            <a:r>
              <a:rPr lang="en-US" b="true" sz="458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rbaycan dilində neologizmlər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8433" y="1611463"/>
            <a:ext cx="11027747" cy="4528241"/>
            <a:chOff x="0" y="0"/>
            <a:chExt cx="3422006" cy="1405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2006" cy="1405153"/>
            </a:xfrm>
            <a:custGeom>
              <a:avLst/>
              <a:gdLst/>
              <a:ahLst/>
              <a:cxnLst/>
              <a:rect r="r" b="b" t="t" l="l"/>
              <a:pathLst>
                <a:path h="1405153" w="3422006">
                  <a:moveTo>
                    <a:pt x="36506" y="0"/>
                  </a:moveTo>
                  <a:lnTo>
                    <a:pt x="3385500" y="0"/>
                  </a:lnTo>
                  <a:cubicBezTo>
                    <a:pt x="3405662" y="0"/>
                    <a:pt x="3422006" y="16344"/>
                    <a:pt x="3422006" y="36506"/>
                  </a:cubicBezTo>
                  <a:lnTo>
                    <a:pt x="3422006" y="1368647"/>
                  </a:lnTo>
                  <a:cubicBezTo>
                    <a:pt x="3422006" y="1378329"/>
                    <a:pt x="3418160" y="1387614"/>
                    <a:pt x="3411314" y="1394460"/>
                  </a:cubicBezTo>
                  <a:cubicBezTo>
                    <a:pt x="3404468" y="1401307"/>
                    <a:pt x="3395182" y="1405153"/>
                    <a:pt x="3385500" y="1405153"/>
                  </a:cubicBezTo>
                  <a:lnTo>
                    <a:pt x="36506" y="1405153"/>
                  </a:lnTo>
                  <a:cubicBezTo>
                    <a:pt x="16344" y="1405153"/>
                    <a:pt x="0" y="1388808"/>
                    <a:pt x="0" y="1368647"/>
                  </a:cubicBezTo>
                  <a:lnTo>
                    <a:pt x="0" y="36506"/>
                  </a:lnTo>
                  <a:cubicBezTo>
                    <a:pt x="0" y="16344"/>
                    <a:pt x="16344" y="0"/>
                    <a:pt x="36506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666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422006" cy="1452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247" y="0"/>
            <a:ext cx="5247300" cy="10287000"/>
          </a:xfrm>
          <a:custGeom>
            <a:avLst/>
            <a:gdLst/>
            <a:ahLst/>
            <a:cxnLst/>
            <a:rect r="r" b="b" t="t" l="l"/>
            <a:pathLst>
              <a:path h="10287000" w="5247300">
                <a:moveTo>
                  <a:pt x="0" y="0"/>
                </a:moveTo>
                <a:lnTo>
                  <a:pt x="5247300" y="0"/>
                </a:lnTo>
                <a:lnTo>
                  <a:pt x="5247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934" t="0" r="-7013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85436" y="1754770"/>
            <a:ext cx="11149769" cy="348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Müas</a:t>
            </a: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ir Azərbaycan dilində neologizmlərin leksik-semantik xüsusiyyətləri: </a:t>
            </a:r>
          </a:p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⩥ Texnoloji sahə neologizmləri; </a:t>
            </a:r>
          </a:p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⩥</a:t>
            </a: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 Sosial və siyasi leksika; </a:t>
            </a:r>
          </a:p>
          <a:p>
            <a:pPr algn="l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⩥</a:t>
            </a:r>
            <a:r>
              <a:rPr lang="en-US" sz="3968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 Mədəni və gündəlik leksika.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885436" y="6153811"/>
            <a:ext cx="6407444" cy="4133189"/>
          </a:xfrm>
          <a:custGeom>
            <a:avLst/>
            <a:gdLst/>
            <a:ahLst/>
            <a:cxnLst/>
            <a:rect r="r" b="b" t="t" l="l"/>
            <a:pathLst>
              <a:path h="4133189" w="6407444">
                <a:moveTo>
                  <a:pt x="0" y="0"/>
                </a:moveTo>
                <a:lnTo>
                  <a:pt x="6407444" y="0"/>
                </a:lnTo>
                <a:lnTo>
                  <a:pt x="6407444" y="4133189"/>
                </a:lnTo>
                <a:lnTo>
                  <a:pt x="0" y="4133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84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581783" y="231686"/>
            <a:ext cx="1723659" cy="7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Plan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6169" y="1640081"/>
            <a:ext cx="10586254" cy="7433831"/>
            <a:chOff x="0" y="0"/>
            <a:chExt cx="3585325" cy="2517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5325" cy="2517671"/>
            </a:xfrm>
            <a:custGeom>
              <a:avLst/>
              <a:gdLst/>
              <a:ahLst/>
              <a:cxnLst/>
              <a:rect r="r" b="b" t="t" l="l"/>
              <a:pathLst>
                <a:path h="2517671" w="3585325">
                  <a:moveTo>
                    <a:pt x="38029" y="0"/>
                  </a:moveTo>
                  <a:lnTo>
                    <a:pt x="3547297" y="0"/>
                  </a:lnTo>
                  <a:cubicBezTo>
                    <a:pt x="3557382" y="0"/>
                    <a:pt x="3567055" y="4007"/>
                    <a:pt x="3574187" y="11138"/>
                  </a:cubicBezTo>
                  <a:cubicBezTo>
                    <a:pt x="3581319" y="18270"/>
                    <a:pt x="3585325" y="27943"/>
                    <a:pt x="3585325" y="38029"/>
                  </a:cubicBezTo>
                  <a:lnTo>
                    <a:pt x="3585325" y="2479642"/>
                  </a:lnTo>
                  <a:cubicBezTo>
                    <a:pt x="3585325" y="2489728"/>
                    <a:pt x="3581319" y="2499401"/>
                    <a:pt x="3574187" y="2506532"/>
                  </a:cubicBezTo>
                  <a:cubicBezTo>
                    <a:pt x="3567055" y="2513664"/>
                    <a:pt x="3557382" y="2517671"/>
                    <a:pt x="3547297" y="2517671"/>
                  </a:cubicBezTo>
                  <a:lnTo>
                    <a:pt x="38029" y="2517671"/>
                  </a:lnTo>
                  <a:cubicBezTo>
                    <a:pt x="27943" y="2517671"/>
                    <a:pt x="18270" y="2513664"/>
                    <a:pt x="11138" y="2506532"/>
                  </a:cubicBezTo>
                  <a:cubicBezTo>
                    <a:pt x="4007" y="2499401"/>
                    <a:pt x="0" y="2489728"/>
                    <a:pt x="0" y="2479642"/>
                  </a:cubicBezTo>
                  <a:lnTo>
                    <a:pt x="0" y="38029"/>
                  </a:lnTo>
                  <a:cubicBezTo>
                    <a:pt x="0" y="27943"/>
                    <a:pt x="4007" y="18270"/>
                    <a:pt x="11138" y="11138"/>
                  </a:cubicBezTo>
                  <a:cubicBezTo>
                    <a:pt x="18270" y="4007"/>
                    <a:pt x="27943" y="0"/>
                    <a:pt x="38029" y="0"/>
                  </a:cubicBezTo>
                  <a:close/>
                </a:path>
              </a:pathLst>
            </a:custGeom>
            <a:ln w="19050" cap="rnd">
              <a:solidFill>
                <a:srgbClr val="000000">
                  <a:alpha val="2666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85325" cy="2565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96273" y="1894039"/>
            <a:ext cx="5972281" cy="6925917"/>
          </a:xfrm>
          <a:custGeom>
            <a:avLst/>
            <a:gdLst/>
            <a:ahLst/>
            <a:cxnLst/>
            <a:rect r="r" b="b" t="t" l="l"/>
            <a:pathLst>
              <a:path h="6925917" w="5972281">
                <a:moveTo>
                  <a:pt x="0" y="0"/>
                </a:moveTo>
                <a:lnTo>
                  <a:pt x="5972282" y="0"/>
                </a:lnTo>
                <a:lnTo>
                  <a:pt x="5972282" y="6925916"/>
                </a:lnTo>
                <a:lnTo>
                  <a:pt x="0" y="692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83" t="0" r="-7983" b="0"/>
            </a:stretch>
          </a:blipFill>
          <a:ln w="76200" cap="rnd">
            <a:solidFill>
              <a:srgbClr val="A4C7FF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588645" y="1985173"/>
            <a:ext cx="9934888" cy="640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051" indent="-356026" lvl="1">
              <a:lnSpc>
                <a:spcPts val="46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</a:t>
            </a: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eksik formalaşma xüsusiyyəti: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Dilimizə yeni sözlər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ya xarici (beynəlxalq) terminləri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 gəlişi, ya da köhnə sözlərin yeni formada birləşməsi ilə daxil olur.</a:t>
            </a:r>
          </a:p>
          <a:p>
            <a:pPr algn="l" marL="712051" indent="-356026" lvl="1">
              <a:lnSpc>
                <a:spcPts val="46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Semantik daralma və genişlənmə: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Bu yeni sözlər ilk vaxtlar çox konkret və tək bir məna ifadə edir.</a:t>
            </a:r>
          </a:p>
          <a:p>
            <a:pPr algn="l" marL="712051" indent="-356026" lvl="1">
              <a:lnSpc>
                <a:spcPts val="46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Kommunikativ rol: </a:t>
            </a:r>
            <a:r>
              <a:rPr lang="en-US" sz="3298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Elm və iş dünyasında mürəkkəb fikirləri uzun-uzadı izah etmək əvəzinə, qısa və hamı tərəfindən qəbul olunmuş şəkildə ötürmək üçün istifadə edilir.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169" y="231686"/>
            <a:ext cx="14982152" cy="161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Neologizmlərin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əsas xüsusiyyətləri</a:t>
            </a:r>
          </a:p>
          <a:p>
            <a:pPr algn="l">
              <a:lnSpc>
                <a:spcPts val="6502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>
            <a:off x="286169" y="1325757"/>
            <a:ext cx="6901088" cy="19050"/>
          </a:xfrm>
          <a:prstGeom prst="line">
            <a:avLst/>
          </a:prstGeom>
          <a:ln cap="rnd" w="57150">
            <a:solidFill>
              <a:srgbClr val="093F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2736" y="1357446"/>
            <a:ext cx="10542742" cy="8494843"/>
            <a:chOff x="0" y="0"/>
            <a:chExt cx="2924705" cy="23565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705" cy="2356589"/>
            </a:xfrm>
            <a:custGeom>
              <a:avLst/>
              <a:gdLst/>
              <a:ahLst/>
              <a:cxnLst/>
              <a:rect r="r" b="b" t="t" l="l"/>
              <a:pathLst>
                <a:path h="2356589" w="2924705">
                  <a:moveTo>
                    <a:pt x="38185" y="0"/>
                  </a:moveTo>
                  <a:lnTo>
                    <a:pt x="2886520" y="0"/>
                  </a:lnTo>
                  <a:cubicBezTo>
                    <a:pt x="2896647" y="0"/>
                    <a:pt x="2906360" y="4023"/>
                    <a:pt x="2913521" y="11184"/>
                  </a:cubicBezTo>
                  <a:cubicBezTo>
                    <a:pt x="2920682" y="18345"/>
                    <a:pt x="2924705" y="28058"/>
                    <a:pt x="2924705" y="38185"/>
                  </a:cubicBezTo>
                  <a:lnTo>
                    <a:pt x="2924705" y="2318404"/>
                  </a:lnTo>
                  <a:cubicBezTo>
                    <a:pt x="2924705" y="2339493"/>
                    <a:pt x="2907609" y="2356589"/>
                    <a:pt x="2886520" y="2356589"/>
                  </a:cubicBezTo>
                  <a:lnTo>
                    <a:pt x="38185" y="2356589"/>
                  </a:lnTo>
                  <a:cubicBezTo>
                    <a:pt x="17096" y="2356589"/>
                    <a:pt x="0" y="2339493"/>
                    <a:pt x="0" y="2318404"/>
                  </a:cubicBezTo>
                  <a:lnTo>
                    <a:pt x="0" y="38185"/>
                  </a:lnTo>
                  <a:cubicBezTo>
                    <a:pt x="0" y="17096"/>
                    <a:pt x="17096" y="0"/>
                    <a:pt x="3818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24705" cy="2404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11511" y="3251068"/>
            <a:ext cx="4125415" cy="4057694"/>
          </a:xfrm>
          <a:custGeom>
            <a:avLst/>
            <a:gdLst/>
            <a:ahLst/>
            <a:cxnLst/>
            <a:rect r="r" b="b" t="t" l="l"/>
            <a:pathLst>
              <a:path h="4057694" w="4125415">
                <a:moveTo>
                  <a:pt x="0" y="0"/>
                </a:moveTo>
                <a:lnTo>
                  <a:pt x="4125416" y="0"/>
                </a:lnTo>
                <a:lnTo>
                  <a:pt x="4125416" y="4057693"/>
                </a:lnTo>
                <a:lnTo>
                  <a:pt x="0" y="4057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784701" y="1639928"/>
            <a:ext cx="9296275" cy="7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471" indent="-368235" lvl="1">
              <a:lnSpc>
                <a:spcPts val="4775"/>
              </a:lnSpc>
              <a:buFont typeface="Arial"/>
              <a:buChar char="•"/>
            </a:pP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Mən</a:t>
            </a: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bə ingilis dilidir:</a:t>
            </a:r>
            <a:r>
              <a:rPr lang="en-US" sz="341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İndi ən çox yeni söz İT və innovasiya sahəsindən, əsasən də ingilis dilindən gəlir.</a:t>
            </a:r>
          </a:p>
          <a:p>
            <a:pPr algn="l" marL="736471" indent="-368235" lvl="1">
              <a:lnSpc>
                <a:spcPts val="4775"/>
              </a:lnSpc>
              <a:buFont typeface="Arial"/>
              <a:buChar char="•"/>
            </a:pP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Biz</a:t>
            </a: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im dilə uyğunlaşma:</a:t>
            </a:r>
            <a:r>
              <a:rPr lang="en-US" sz="341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Bu sözlər internet vasitəsilə həyatımıza girir. Biz də onları dilimizə yatımlı şəkildə (tələffüz və yazılışda bir az dəyişərək) qəbul edirik.</a:t>
            </a:r>
          </a:p>
          <a:p>
            <a:pPr algn="l" marL="736471" indent="-368235" lvl="1">
              <a:lnSpc>
                <a:spcPts val="4775"/>
              </a:lnSpc>
              <a:buFont typeface="Arial"/>
              <a:buChar char="•"/>
            </a:pPr>
            <a:r>
              <a:rPr lang="en-US" b="true" sz="34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Hər kəsin dilinə düşməsi: </a:t>
            </a:r>
            <a:r>
              <a:rPr lang="en-US" sz="341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Əvvəllər bu sözləri ancaq mühəndislər və alimlər işlədirdisə, indi hamı "skrinşot", "fayl" və ya "onlayn" deyir. Yəni, peşə sözləri sürətlə gündəlik dilimizə çevrilir.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2736" y="144935"/>
            <a:ext cx="17808937" cy="81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  <a:spcBef>
                <a:spcPct val="0"/>
              </a:spcBef>
            </a:pPr>
            <a:r>
              <a:rPr lang="en-US" b="true" sz="471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Texnoloji sahə n</a:t>
            </a:r>
            <a:r>
              <a:rPr lang="en-US" b="true" sz="4718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eologizmlərinin leksik xüsusiyyətləri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5535" y="1404679"/>
            <a:ext cx="10542742" cy="8494843"/>
            <a:chOff x="0" y="0"/>
            <a:chExt cx="2924705" cy="23565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4705" cy="2356589"/>
            </a:xfrm>
            <a:custGeom>
              <a:avLst/>
              <a:gdLst/>
              <a:ahLst/>
              <a:cxnLst/>
              <a:rect r="r" b="b" t="t" l="l"/>
              <a:pathLst>
                <a:path h="2356589" w="2924705">
                  <a:moveTo>
                    <a:pt x="38185" y="0"/>
                  </a:moveTo>
                  <a:lnTo>
                    <a:pt x="2886520" y="0"/>
                  </a:lnTo>
                  <a:cubicBezTo>
                    <a:pt x="2896647" y="0"/>
                    <a:pt x="2906360" y="4023"/>
                    <a:pt x="2913521" y="11184"/>
                  </a:cubicBezTo>
                  <a:cubicBezTo>
                    <a:pt x="2920682" y="18345"/>
                    <a:pt x="2924705" y="28058"/>
                    <a:pt x="2924705" y="38185"/>
                  </a:cubicBezTo>
                  <a:lnTo>
                    <a:pt x="2924705" y="2318404"/>
                  </a:lnTo>
                  <a:cubicBezTo>
                    <a:pt x="2924705" y="2339493"/>
                    <a:pt x="2907609" y="2356589"/>
                    <a:pt x="2886520" y="2356589"/>
                  </a:cubicBezTo>
                  <a:lnTo>
                    <a:pt x="38185" y="2356589"/>
                  </a:lnTo>
                  <a:cubicBezTo>
                    <a:pt x="17096" y="2356589"/>
                    <a:pt x="0" y="2339493"/>
                    <a:pt x="0" y="2318404"/>
                  </a:cubicBezTo>
                  <a:lnTo>
                    <a:pt x="0" y="38185"/>
                  </a:lnTo>
                  <a:cubicBezTo>
                    <a:pt x="0" y="17096"/>
                    <a:pt x="17096" y="0"/>
                    <a:pt x="3818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24705" cy="2404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24724" y="1595445"/>
            <a:ext cx="9089939" cy="797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🞂 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Məsələn, “status” sözü əvvəllər rəsmi hüquqi sənədlərdə “siyasi/hüquqi mövqe” mənası verdiyi halda, semantik inkişaf nəticəsində hazırda “sosial şəbəkə paylaşımı” mənasını qazanıb.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ümunələr: 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Pr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osessor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B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ulud texnologiyası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S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üni intellekt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⪧A</a:t>
            </a: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lqoritm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Şəbəkə</a:t>
            </a:r>
          </a:p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⪧ Adapter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295891" y="2244176"/>
            <a:ext cx="6784869" cy="6815850"/>
          </a:xfrm>
          <a:custGeom>
            <a:avLst/>
            <a:gdLst/>
            <a:ahLst/>
            <a:cxnLst/>
            <a:rect r="r" b="b" t="t" l="l"/>
            <a:pathLst>
              <a:path h="6815850" w="6784869">
                <a:moveTo>
                  <a:pt x="0" y="0"/>
                </a:moveTo>
                <a:lnTo>
                  <a:pt x="6784869" y="0"/>
                </a:lnTo>
                <a:lnTo>
                  <a:pt x="6784869" y="6815850"/>
                </a:lnTo>
                <a:lnTo>
                  <a:pt x="0" y="6815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64308" y="231686"/>
            <a:ext cx="17817366" cy="7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emantik inteqrasiyası və nümunələr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9258300"/>
            <a:ext cx="6557664" cy="1028700"/>
            <a:chOff x="0" y="0"/>
            <a:chExt cx="1214382" cy="190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4382" cy="190500"/>
            </a:xfrm>
            <a:custGeom>
              <a:avLst/>
              <a:gdLst/>
              <a:ahLst/>
              <a:cxnLst/>
              <a:rect r="r" b="b" t="t" l="l"/>
              <a:pathLst>
                <a:path h="190500" w="1214382">
                  <a:moveTo>
                    <a:pt x="1214382" y="190500"/>
                  </a:moveTo>
                  <a:lnTo>
                    <a:pt x="0" y="190500"/>
                  </a:lnTo>
                  <a:lnTo>
                    <a:pt x="0" y="0"/>
                  </a:lnTo>
                  <a:lnTo>
                    <a:pt x="1214382" y="190500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47625"/>
              <a:ext cx="607191" cy="142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9258300"/>
            <a:ext cx="4101592" cy="1028700"/>
            <a:chOff x="0" y="0"/>
            <a:chExt cx="759554" cy="190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9554" cy="190500"/>
            </a:xfrm>
            <a:custGeom>
              <a:avLst/>
              <a:gdLst/>
              <a:ahLst/>
              <a:cxnLst/>
              <a:rect r="r" b="b" t="t" l="l"/>
              <a:pathLst>
                <a:path h="190500" w="759554">
                  <a:moveTo>
                    <a:pt x="759554" y="190500"/>
                  </a:moveTo>
                  <a:lnTo>
                    <a:pt x="0" y="190500"/>
                  </a:lnTo>
                  <a:lnTo>
                    <a:pt x="0" y="0"/>
                  </a:lnTo>
                  <a:lnTo>
                    <a:pt x="759554" y="190500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379777" cy="142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4530" y="1797105"/>
            <a:ext cx="7981883" cy="5966458"/>
          </a:xfrm>
          <a:custGeom>
            <a:avLst/>
            <a:gdLst/>
            <a:ahLst/>
            <a:cxnLst/>
            <a:rect r="r" b="b" t="t" l="l"/>
            <a:pathLst>
              <a:path h="5966458" w="7981883">
                <a:moveTo>
                  <a:pt x="0" y="0"/>
                </a:moveTo>
                <a:lnTo>
                  <a:pt x="7981884" y="0"/>
                </a:lnTo>
                <a:lnTo>
                  <a:pt x="7981884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5421" y="1975728"/>
            <a:ext cx="11006798" cy="2518854"/>
            <a:chOff x="0" y="0"/>
            <a:chExt cx="3331507" cy="76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31507" cy="762400"/>
            </a:xfrm>
            <a:custGeom>
              <a:avLst/>
              <a:gdLst/>
              <a:ahLst/>
              <a:cxnLst/>
              <a:rect r="r" b="b" t="t" l="l"/>
              <a:pathLst>
                <a:path h="762400" w="3331507">
                  <a:moveTo>
                    <a:pt x="36576" y="0"/>
                  </a:moveTo>
                  <a:lnTo>
                    <a:pt x="3294931" y="0"/>
                  </a:lnTo>
                  <a:cubicBezTo>
                    <a:pt x="3304632" y="0"/>
                    <a:pt x="3313935" y="3853"/>
                    <a:pt x="3320794" y="10713"/>
                  </a:cubicBezTo>
                  <a:cubicBezTo>
                    <a:pt x="3327653" y="17572"/>
                    <a:pt x="3331507" y="26875"/>
                    <a:pt x="3331507" y="36576"/>
                  </a:cubicBezTo>
                  <a:lnTo>
                    <a:pt x="3331507" y="725824"/>
                  </a:lnTo>
                  <a:cubicBezTo>
                    <a:pt x="3331507" y="746024"/>
                    <a:pt x="3315131" y="762400"/>
                    <a:pt x="3294931" y="762400"/>
                  </a:cubicBezTo>
                  <a:lnTo>
                    <a:pt x="36576" y="762400"/>
                  </a:lnTo>
                  <a:cubicBezTo>
                    <a:pt x="16375" y="762400"/>
                    <a:pt x="0" y="746024"/>
                    <a:pt x="0" y="725824"/>
                  </a:cubicBezTo>
                  <a:lnTo>
                    <a:pt x="0" y="36576"/>
                  </a:lnTo>
                  <a:cubicBezTo>
                    <a:pt x="0" y="16375"/>
                    <a:pt x="16375" y="0"/>
                    <a:pt x="36576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331507" cy="81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5421" y="5143500"/>
            <a:ext cx="10664177" cy="3778081"/>
            <a:chOff x="0" y="0"/>
            <a:chExt cx="3727777" cy="13206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27777" cy="1320669"/>
            </a:xfrm>
            <a:custGeom>
              <a:avLst/>
              <a:gdLst/>
              <a:ahLst/>
              <a:cxnLst/>
              <a:rect r="r" b="b" t="t" l="l"/>
              <a:pathLst>
                <a:path h="1320669" w="3727777">
                  <a:moveTo>
                    <a:pt x="37751" y="0"/>
                  </a:moveTo>
                  <a:lnTo>
                    <a:pt x="3690026" y="0"/>
                  </a:lnTo>
                  <a:cubicBezTo>
                    <a:pt x="3700038" y="0"/>
                    <a:pt x="3709641" y="3977"/>
                    <a:pt x="3716720" y="11057"/>
                  </a:cubicBezTo>
                  <a:cubicBezTo>
                    <a:pt x="3723800" y="18137"/>
                    <a:pt x="3727777" y="27739"/>
                    <a:pt x="3727777" y="37751"/>
                  </a:cubicBezTo>
                  <a:lnTo>
                    <a:pt x="3727777" y="1282918"/>
                  </a:lnTo>
                  <a:cubicBezTo>
                    <a:pt x="3727777" y="1303767"/>
                    <a:pt x="3710875" y="1320669"/>
                    <a:pt x="3690026" y="1320669"/>
                  </a:cubicBezTo>
                  <a:lnTo>
                    <a:pt x="37751" y="1320669"/>
                  </a:lnTo>
                  <a:cubicBezTo>
                    <a:pt x="16902" y="1320669"/>
                    <a:pt x="0" y="1303767"/>
                    <a:pt x="0" y="1282918"/>
                  </a:cubicBezTo>
                  <a:lnTo>
                    <a:pt x="0" y="37751"/>
                  </a:lnTo>
                  <a:cubicBezTo>
                    <a:pt x="0" y="16902"/>
                    <a:pt x="16902" y="0"/>
                    <a:pt x="37751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727777" cy="136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75421" y="111143"/>
            <a:ext cx="10424589" cy="91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1"/>
              </a:lnSpc>
              <a:spcBef>
                <a:spcPct val="0"/>
              </a:spcBef>
            </a:pP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Sosial və siyasi n</a:t>
            </a: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eologizmlər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8423" y="2202726"/>
            <a:ext cx="12739988" cy="19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383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Yaranma fakt</a:t>
            </a:r>
            <a:r>
              <a:rPr lang="en-US" sz="383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orları: Cəmiyyətdə baş verən demokratikləşmə, yeni beynəlxalq idarəetmə sistemləri nəticəsində yaranır.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8423" y="5311221"/>
            <a:ext cx="9960030" cy="313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505" indent="-388752" lvl="1">
              <a:lnSpc>
                <a:spcPts val="5041"/>
              </a:lnSpc>
              <a:buFont typeface="Arial"/>
              <a:buChar char="•"/>
            </a:pP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Rəsmiyyət səviyyə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si: Akademik jurnallar, xəbər mətnləri, qəzetlər və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b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eynəlxalq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rəsmi hesabatlar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bu sözlərin leksik fonda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inteqrasiya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6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edildiyi əsas platformalardır.</a:t>
            </a:r>
          </a:p>
          <a:p>
            <a:pPr algn="l">
              <a:lnSpc>
                <a:spcPts val="504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5421" y="1975728"/>
            <a:ext cx="8903126" cy="6552289"/>
            <a:chOff x="0" y="0"/>
            <a:chExt cx="2694773" cy="19832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94773" cy="1983228"/>
            </a:xfrm>
            <a:custGeom>
              <a:avLst/>
              <a:gdLst/>
              <a:ahLst/>
              <a:cxnLst/>
              <a:rect r="r" b="b" t="t" l="l"/>
              <a:pathLst>
                <a:path h="1983228" w="2694773">
                  <a:moveTo>
                    <a:pt x="45218" y="0"/>
                  </a:moveTo>
                  <a:lnTo>
                    <a:pt x="2649556" y="0"/>
                  </a:lnTo>
                  <a:cubicBezTo>
                    <a:pt x="2674529" y="0"/>
                    <a:pt x="2694773" y="20245"/>
                    <a:pt x="2694773" y="45218"/>
                  </a:cubicBezTo>
                  <a:lnTo>
                    <a:pt x="2694773" y="1938011"/>
                  </a:lnTo>
                  <a:cubicBezTo>
                    <a:pt x="2694773" y="1950003"/>
                    <a:pt x="2690009" y="1961504"/>
                    <a:pt x="2681529" y="1969984"/>
                  </a:cubicBezTo>
                  <a:cubicBezTo>
                    <a:pt x="2673049" y="1978464"/>
                    <a:pt x="2661548" y="1983228"/>
                    <a:pt x="2649556" y="1983228"/>
                  </a:cubicBezTo>
                  <a:lnTo>
                    <a:pt x="45218" y="1983228"/>
                  </a:lnTo>
                  <a:cubicBezTo>
                    <a:pt x="20245" y="1983228"/>
                    <a:pt x="0" y="1962984"/>
                    <a:pt x="0" y="1938011"/>
                  </a:cubicBezTo>
                  <a:lnTo>
                    <a:pt x="0" y="45218"/>
                  </a:lnTo>
                  <a:cubicBezTo>
                    <a:pt x="0" y="20245"/>
                    <a:pt x="20245" y="0"/>
                    <a:pt x="45218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19050" cap="rnd">
              <a:solidFill>
                <a:srgbClr val="00000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694773" cy="2030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791522" y="2491072"/>
            <a:ext cx="6923141" cy="5304857"/>
          </a:xfrm>
          <a:custGeom>
            <a:avLst/>
            <a:gdLst/>
            <a:ahLst/>
            <a:cxnLst/>
            <a:rect r="r" b="b" t="t" l="l"/>
            <a:pathLst>
              <a:path h="5304857" w="6923141">
                <a:moveTo>
                  <a:pt x="0" y="0"/>
                </a:moveTo>
                <a:lnTo>
                  <a:pt x="6923141" y="0"/>
                </a:lnTo>
                <a:lnTo>
                  <a:pt x="6923141" y="5304856"/>
                </a:lnTo>
                <a:lnTo>
                  <a:pt x="0" y="530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75421" y="111143"/>
            <a:ext cx="17806252" cy="91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1"/>
              </a:lnSpc>
              <a:spcBef>
                <a:spcPct val="0"/>
              </a:spcBef>
            </a:pP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Sosial və siyasi n</a:t>
            </a:r>
            <a:r>
              <a:rPr lang="en-US" b="true" sz="5379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eologizmlər nümunələri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758" y="2220909"/>
            <a:ext cx="17458915" cy="606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</a:t>
            </a: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Vitse-prezident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Qeyri-neft sektoru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Sağçı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Lobbiçilik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Reytinq 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Gender bərabərliyi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Monitorinq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Partiya</a:t>
            </a:r>
          </a:p>
          <a:p>
            <a:pPr algn="l">
              <a:lnSpc>
                <a:spcPts val="5329"/>
              </a:lnSpc>
            </a:pPr>
            <a:r>
              <a:rPr lang="en-US" sz="3806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⩥ Kapital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8932050"/>
            <a:ext cx="12040949" cy="1354950"/>
            <a:chOff x="0" y="0"/>
            <a:chExt cx="2229805" cy="2509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9805" cy="250917"/>
            </a:xfrm>
            <a:custGeom>
              <a:avLst/>
              <a:gdLst/>
              <a:ahLst/>
              <a:cxnLst/>
              <a:rect r="r" b="b" t="t" l="l"/>
              <a:pathLst>
                <a:path h="250917" w="2229805">
                  <a:moveTo>
                    <a:pt x="2229805" y="250917"/>
                  </a:moveTo>
                  <a:lnTo>
                    <a:pt x="0" y="250917"/>
                  </a:lnTo>
                  <a:lnTo>
                    <a:pt x="0" y="0"/>
                  </a:lnTo>
                  <a:lnTo>
                    <a:pt x="2229805" y="250917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77833"/>
              <a:ext cx="1114903" cy="173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8528017"/>
            <a:ext cx="7531196" cy="1758983"/>
            <a:chOff x="0" y="0"/>
            <a:chExt cx="1394666" cy="3257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94666" cy="325738"/>
            </a:xfrm>
            <a:custGeom>
              <a:avLst/>
              <a:gdLst/>
              <a:ahLst/>
              <a:cxnLst/>
              <a:rect r="r" b="b" t="t" l="l"/>
              <a:pathLst>
                <a:path h="325738" w="1394666">
                  <a:moveTo>
                    <a:pt x="1394666" y="325738"/>
                  </a:moveTo>
                  <a:lnTo>
                    <a:pt x="0" y="325738"/>
                  </a:lnTo>
                  <a:lnTo>
                    <a:pt x="0" y="0"/>
                  </a:lnTo>
                  <a:lnTo>
                    <a:pt x="1394666" y="325738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15244"/>
              <a:ext cx="697333" cy="210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059" y="1681300"/>
            <a:ext cx="10551652" cy="7321696"/>
            <a:chOff x="0" y="0"/>
            <a:chExt cx="4524353" cy="3139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4353" cy="3139408"/>
            </a:xfrm>
            <a:custGeom>
              <a:avLst/>
              <a:gdLst/>
              <a:ahLst/>
              <a:cxnLst/>
              <a:rect r="r" b="b" t="t" l="l"/>
              <a:pathLst>
                <a:path h="3139408" w="4524353">
                  <a:moveTo>
                    <a:pt x="38153" y="0"/>
                  </a:moveTo>
                  <a:lnTo>
                    <a:pt x="4486200" y="0"/>
                  </a:lnTo>
                  <a:cubicBezTo>
                    <a:pt x="4496319" y="0"/>
                    <a:pt x="4506023" y="4020"/>
                    <a:pt x="4513178" y="11175"/>
                  </a:cubicBezTo>
                  <a:cubicBezTo>
                    <a:pt x="4520334" y="18330"/>
                    <a:pt x="4524353" y="28034"/>
                    <a:pt x="4524353" y="38153"/>
                  </a:cubicBezTo>
                  <a:lnTo>
                    <a:pt x="4524353" y="3101255"/>
                  </a:lnTo>
                  <a:cubicBezTo>
                    <a:pt x="4524353" y="3111374"/>
                    <a:pt x="4520334" y="3121078"/>
                    <a:pt x="4513178" y="3128233"/>
                  </a:cubicBezTo>
                  <a:cubicBezTo>
                    <a:pt x="4506023" y="3135388"/>
                    <a:pt x="4496319" y="3139408"/>
                    <a:pt x="4486200" y="3139408"/>
                  </a:cubicBezTo>
                  <a:lnTo>
                    <a:pt x="38153" y="3139408"/>
                  </a:lnTo>
                  <a:cubicBezTo>
                    <a:pt x="28034" y="3139408"/>
                    <a:pt x="18330" y="3135388"/>
                    <a:pt x="11175" y="3128233"/>
                  </a:cubicBezTo>
                  <a:cubicBezTo>
                    <a:pt x="4020" y="3121078"/>
                    <a:pt x="0" y="3111374"/>
                    <a:pt x="0" y="3101255"/>
                  </a:cubicBezTo>
                  <a:lnTo>
                    <a:pt x="0" y="38153"/>
                  </a:lnTo>
                  <a:cubicBezTo>
                    <a:pt x="0" y="28034"/>
                    <a:pt x="4020" y="18330"/>
                    <a:pt x="11175" y="11175"/>
                  </a:cubicBezTo>
                  <a:cubicBezTo>
                    <a:pt x="18330" y="4020"/>
                    <a:pt x="28034" y="0"/>
                    <a:pt x="38153" y="0"/>
                  </a:cubicBezTo>
                  <a:close/>
                </a:path>
              </a:pathLst>
            </a:custGeom>
            <a:solidFill>
              <a:srgbClr val="FFFFFF">
                <a:alpha val="81961"/>
              </a:srgbClr>
            </a:solidFill>
            <a:ln w="9525" cap="rnd">
              <a:solidFill>
                <a:srgbClr val="000000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4353" cy="3187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81246" y="1933269"/>
            <a:ext cx="9586931" cy="656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8"/>
              </a:lnSpc>
            </a:pPr>
            <a:r>
              <a:rPr lang="en-US" sz="33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Mədə</a:t>
            </a:r>
            <a:r>
              <a:rPr lang="en-US" sz="33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ni və gündəlik leksikada neologizmlər həm yeni yaşam tərzini, həm də sosial ünsiyyətin dəyişməsini əks etdirir. Bu tip sözlər bəzən bədii üslubdan, bəzən də danışıq dilindən ədəbi dilə keçir.</a:t>
            </a:r>
          </a:p>
          <a:p>
            <a:pPr algn="l">
              <a:lnSpc>
                <a:spcPts val="4718"/>
              </a:lnSpc>
            </a:pPr>
          </a:p>
          <a:p>
            <a:pPr algn="l" marL="727681" indent="-363841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Semantik səciyyə: Natamam rəsmi və üslubi baxımdan daha sərbəstdirlər; bəzən yerli leksikadakı hər hansı ekvivalenti tam sıxışdırıb dildən çıxarmaq xüsusiyyətinə malikdirlər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9059" y="233432"/>
            <a:ext cx="14561711" cy="79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  <a:spcBef>
                <a:spcPct val="0"/>
              </a:spcBef>
            </a:pPr>
            <a:r>
              <a:rPr lang="en-US" sz="4690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Mədə</a:t>
            </a:r>
            <a:r>
              <a:rPr lang="en-US" b="true" sz="469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ni və gündəlik leksika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2152288" y="-1987"/>
            <a:ext cx="2819013" cy="10287000"/>
          </a:xfrm>
          <a:custGeom>
            <a:avLst/>
            <a:gdLst/>
            <a:ahLst/>
            <a:cxnLst/>
            <a:rect r="r" b="b" t="t" l="l"/>
            <a:pathLst>
              <a:path h="10287000" w="2819013">
                <a:moveTo>
                  <a:pt x="0" y="0"/>
                </a:moveTo>
                <a:lnTo>
                  <a:pt x="2819014" y="0"/>
                </a:lnTo>
                <a:lnTo>
                  <a:pt x="28190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3362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249" y="1629931"/>
            <a:ext cx="9401632" cy="7027138"/>
            <a:chOff x="0" y="0"/>
            <a:chExt cx="3503125" cy="2618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03125" cy="2618369"/>
            </a:xfrm>
            <a:custGeom>
              <a:avLst/>
              <a:gdLst/>
              <a:ahLst/>
              <a:cxnLst/>
              <a:rect r="r" b="b" t="t" l="l"/>
              <a:pathLst>
                <a:path h="2618369" w="3503125">
                  <a:moveTo>
                    <a:pt x="42820" y="0"/>
                  </a:moveTo>
                  <a:lnTo>
                    <a:pt x="3460305" y="0"/>
                  </a:lnTo>
                  <a:cubicBezTo>
                    <a:pt x="3483954" y="0"/>
                    <a:pt x="3503125" y="19171"/>
                    <a:pt x="3503125" y="42820"/>
                  </a:cubicBezTo>
                  <a:lnTo>
                    <a:pt x="3503125" y="2575549"/>
                  </a:lnTo>
                  <a:cubicBezTo>
                    <a:pt x="3503125" y="2599198"/>
                    <a:pt x="3483954" y="2618369"/>
                    <a:pt x="3460305" y="2618369"/>
                  </a:cubicBezTo>
                  <a:lnTo>
                    <a:pt x="42820" y="2618369"/>
                  </a:lnTo>
                  <a:cubicBezTo>
                    <a:pt x="19171" y="2618369"/>
                    <a:pt x="0" y="2599198"/>
                    <a:pt x="0" y="2575549"/>
                  </a:cubicBezTo>
                  <a:lnTo>
                    <a:pt x="0" y="42820"/>
                  </a:lnTo>
                  <a:cubicBezTo>
                    <a:pt x="0" y="19171"/>
                    <a:pt x="19171" y="0"/>
                    <a:pt x="42820" y="0"/>
                  </a:cubicBezTo>
                  <a:close/>
                </a:path>
              </a:pathLst>
            </a:custGeom>
            <a:solidFill>
              <a:srgbClr val="A4C7FF">
                <a:alpha val="4706"/>
              </a:srgbClr>
            </a:solidFill>
            <a:ln w="19050" cap="rnd">
              <a:solidFill>
                <a:srgbClr val="000000">
                  <a:alpha val="4706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03125" cy="2665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72501" y="274898"/>
            <a:ext cx="715661" cy="727490"/>
          </a:xfrm>
          <a:custGeom>
            <a:avLst/>
            <a:gdLst/>
            <a:ahLst/>
            <a:cxnLst/>
            <a:rect r="r" b="b" t="t" l="l"/>
            <a:pathLst>
              <a:path h="727490" w="715661">
                <a:moveTo>
                  <a:pt x="0" y="0"/>
                </a:moveTo>
                <a:lnTo>
                  <a:pt x="715661" y="0"/>
                </a:lnTo>
                <a:lnTo>
                  <a:pt x="715661" y="727489"/>
                </a:lnTo>
                <a:lnTo>
                  <a:pt x="0" y="727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5228" y="1783169"/>
            <a:ext cx="8748572" cy="614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Ş</a:t>
            </a: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opinq (alış-veriş əvəzinə)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Fastfud (ayaqüstü qida) 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Fitnes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Brend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ᐉSelfi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ᐉSmart-ev (ağıllı ev)</a:t>
            </a:r>
          </a:p>
          <a:p>
            <a:pPr algn="l">
              <a:lnSpc>
                <a:spcPts val="7013"/>
              </a:lnSpc>
            </a:pPr>
            <a:r>
              <a:rPr lang="en-US" sz="5009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ᐉ Kofebreyk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411631" y="2285572"/>
            <a:ext cx="6182107" cy="5927780"/>
          </a:xfrm>
          <a:custGeom>
            <a:avLst/>
            <a:gdLst/>
            <a:ahLst/>
            <a:cxnLst/>
            <a:rect r="r" b="b" t="t" l="l"/>
            <a:pathLst>
              <a:path h="5927780" w="6182107">
                <a:moveTo>
                  <a:pt x="0" y="0"/>
                </a:moveTo>
                <a:lnTo>
                  <a:pt x="6182107" y="0"/>
                </a:lnTo>
                <a:lnTo>
                  <a:pt x="6182107" y="5927780"/>
                </a:lnTo>
                <a:lnTo>
                  <a:pt x="0" y="592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43249" y="205960"/>
            <a:ext cx="12530734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sz="4644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Mədəni və gündəlik leksika nümunə</a:t>
            </a: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ləri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29126" y="1225206"/>
            <a:ext cx="12707801" cy="8799272"/>
            <a:chOff x="0" y="0"/>
            <a:chExt cx="4735030" cy="32786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5030" cy="3278680"/>
            </a:xfrm>
            <a:custGeom>
              <a:avLst/>
              <a:gdLst/>
              <a:ahLst/>
              <a:cxnLst/>
              <a:rect r="r" b="b" t="t" l="l"/>
              <a:pathLst>
                <a:path h="3278680" w="4735030">
                  <a:moveTo>
                    <a:pt x="31680" y="0"/>
                  </a:moveTo>
                  <a:lnTo>
                    <a:pt x="4703351" y="0"/>
                  </a:lnTo>
                  <a:cubicBezTo>
                    <a:pt x="4720847" y="0"/>
                    <a:pt x="4735030" y="14184"/>
                    <a:pt x="4735030" y="31680"/>
                  </a:cubicBezTo>
                  <a:lnTo>
                    <a:pt x="4735030" y="3247001"/>
                  </a:lnTo>
                  <a:cubicBezTo>
                    <a:pt x="4735030" y="3264497"/>
                    <a:pt x="4720847" y="3278680"/>
                    <a:pt x="4703351" y="3278680"/>
                  </a:cubicBezTo>
                  <a:lnTo>
                    <a:pt x="31680" y="3278680"/>
                  </a:lnTo>
                  <a:cubicBezTo>
                    <a:pt x="14184" y="3278680"/>
                    <a:pt x="0" y="3264497"/>
                    <a:pt x="0" y="3247001"/>
                  </a:cubicBezTo>
                  <a:lnTo>
                    <a:pt x="0" y="31680"/>
                  </a:lnTo>
                  <a:cubicBezTo>
                    <a:pt x="0" y="14184"/>
                    <a:pt x="14184" y="0"/>
                    <a:pt x="31680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  <a:ln w="19050" cap="rnd">
              <a:solidFill>
                <a:srgbClr val="000000">
                  <a:alpha val="8588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735030" cy="3326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22409" y="1489138"/>
            <a:ext cx="631665" cy="776948"/>
          </a:xfrm>
          <a:custGeom>
            <a:avLst/>
            <a:gdLst/>
            <a:ahLst/>
            <a:cxnLst/>
            <a:rect r="r" b="b" t="t" l="l"/>
            <a:pathLst>
              <a:path h="776948" w="631665">
                <a:moveTo>
                  <a:pt x="0" y="0"/>
                </a:moveTo>
                <a:lnTo>
                  <a:pt x="631664" y="0"/>
                </a:lnTo>
                <a:lnTo>
                  <a:pt x="631664" y="776948"/>
                </a:lnTo>
                <a:lnTo>
                  <a:pt x="0" y="776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57851" y="1412938"/>
            <a:ext cx="11364557" cy="837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3973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Mədəni və gündəlik leksikada neologizmlər həm yeni yaşam tərzini, həm də sosial ünsiyyətin dəyişməsini əks etdirir. Bu tip sözlər bəzən bədii üslubdan, bəzən də danışıq dilindən ədəbi dilə keçir.</a:t>
            </a:r>
          </a:p>
          <a:p>
            <a:pPr algn="l">
              <a:lnSpc>
                <a:spcPts val="5562"/>
              </a:lnSpc>
            </a:pPr>
          </a:p>
          <a:p>
            <a:pPr algn="l" marL="857833" indent="-428916" lvl="1">
              <a:lnSpc>
                <a:spcPts val="5562"/>
              </a:lnSpc>
              <a:buFont typeface="Arial"/>
              <a:buChar char="•"/>
            </a:pPr>
            <a:r>
              <a:rPr lang="en-US" sz="3973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Selfi: İnsanın özü-özünü (adətən smartfonla) çəkdiyi fotoşəkil; özçəkim.</a:t>
            </a:r>
          </a:p>
          <a:p>
            <a:pPr algn="l" marL="857833" indent="-428916" lvl="1">
              <a:lnSpc>
                <a:spcPts val="5562"/>
              </a:lnSpc>
              <a:buFont typeface="Arial"/>
              <a:buChar char="•"/>
            </a:pPr>
            <a:r>
              <a:rPr lang="en-US" sz="3973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Şopinq: Mağazaları gəzərək alış-veriş etmə prosesi.</a:t>
            </a:r>
          </a:p>
          <a:p>
            <a:pPr algn="l" marL="857833" indent="-428916" lvl="1">
              <a:lnSpc>
                <a:spcPts val="5562"/>
              </a:lnSpc>
              <a:buFont typeface="Arial"/>
              <a:buChar char="•"/>
            </a:pPr>
            <a:r>
              <a:rPr lang="en-US" sz="3973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Brend: Tanınmış ticarət nişanı, məşhur məhsul və ya xidmət markası.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4210311" y="6209311"/>
            <a:ext cx="7035932" cy="1119445"/>
            <a:chOff x="0" y="0"/>
            <a:chExt cx="1425301" cy="226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5301" cy="226361"/>
            </a:xfrm>
            <a:custGeom>
              <a:avLst/>
              <a:gdLst/>
              <a:ahLst/>
              <a:cxnLst/>
              <a:rect r="r" b="b" t="t" l="l"/>
              <a:pathLst>
                <a:path h="226361" w="1425301">
                  <a:moveTo>
                    <a:pt x="712650" y="0"/>
                  </a:moveTo>
                  <a:lnTo>
                    <a:pt x="1425301" y="226361"/>
                  </a:lnTo>
                  <a:lnTo>
                    <a:pt x="0" y="226361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01772" y="48075"/>
              <a:ext cx="821756" cy="178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62879" y="6769034"/>
            <a:ext cx="2225121" cy="3517966"/>
            <a:chOff x="0" y="0"/>
            <a:chExt cx="450753" cy="712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753" cy="711363"/>
            </a:xfrm>
            <a:custGeom>
              <a:avLst/>
              <a:gdLst/>
              <a:ahLst/>
              <a:cxnLst/>
              <a:rect r="r" b="b" t="t" l="l"/>
              <a:pathLst>
                <a:path h="711363" w="450753">
                  <a:moveTo>
                    <a:pt x="225376" y="0"/>
                  </a:moveTo>
                  <a:lnTo>
                    <a:pt x="450753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5436" y="253121"/>
              <a:ext cx="259881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179439" y="3079861"/>
            <a:ext cx="7188422" cy="1028700"/>
            <a:chOff x="0" y="0"/>
            <a:chExt cx="1893247" cy="2709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247" cy="270444"/>
            </a:xfrm>
            <a:custGeom>
              <a:avLst/>
              <a:gdLst/>
              <a:ahLst/>
              <a:cxnLst/>
              <a:rect r="r" b="b" t="t" l="l"/>
              <a:pathLst>
                <a:path h="270444" w="1893247">
                  <a:moveTo>
                    <a:pt x="946623" y="0"/>
                  </a:moveTo>
                  <a:lnTo>
                    <a:pt x="1893247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00848" y="66712"/>
              <a:ext cx="1091550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6236927" y="0"/>
            <a:ext cx="2044747" cy="3594211"/>
            <a:chOff x="0" y="0"/>
            <a:chExt cx="538534" cy="946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534" cy="944914"/>
            </a:xfrm>
            <a:custGeom>
              <a:avLst/>
              <a:gdLst/>
              <a:ahLst/>
              <a:cxnLst/>
              <a:rect r="r" b="b" t="t" l="l"/>
              <a:pathLst>
                <a:path h="944914" w="538534">
                  <a:moveTo>
                    <a:pt x="269267" y="0"/>
                  </a:moveTo>
                  <a:lnTo>
                    <a:pt x="538534" y="944914"/>
                  </a:lnTo>
                  <a:lnTo>
                    <a:pt x="0" y="944914"/>
                  </a:lnTo>
                  <a:close/>
                </a:path>
              </a:pathLst>
            </a:custGeom>
            <a:solidFill>
              <a:srgbClr val="2C58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021" y="351860"/>
              <a:ext cx="310492" cy="59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5813848" y="7819175"/>
            <a:ext cx="4147297" cy="788353"/>
            <a:chOff x="0" y="0"/>
            <a:chExt cx="1425301" cy="270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5301" cy="270444"/>
            </a:xfrm>
            <a:custGeom>
              <a:avLst/>
              <a:gdLst/>
              <a:ahLst/>
              <a:cxnLst/>
              <a:rect r="r" b="b" t="t" l="l"/>
              <a:pathLst>
                <a:path h="270444" w="1425301">
                  <a:moveTo>
                    <a:pt x="712650" y="0"/>
                  </a:moveTo>
                  <a:lnTo>
                    <a:pt x="1425301" y="270444"/>
                  </a:lnTo>
                  <a:lnTo>
                    <a:pt x="0" y="270444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301772" y="66712"/>
              <a:ext cx="821756" cy="203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14663" y="8213352"/>
            <a:ext cx="1567010" cy="2073648"/>
            <a:chOff x="0" y="0"/>
            <a:chExt cx="538534" cy="712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534" cy="711363"/>
            </a:xfrm>
            <a:custGeom>
              <a:avLst/>
              <a:gdLst/>
              <a:ahLst/>
              <a:cxnLst/>
              <a:rect r="r" b="b" t="t" l="l"/>
              <a:pathLst>
                <a:path h="711363" w="538534">
                  <a:moveTo>
                    <a:pt x="269267" y="0"/>
                  </a:moveTo>
                  <a:lnTo>
                    <a:pt x="538534" y="711363"/>
                  </a:lnTo>
                  <a:lnTo>
                    <a:pt x="0" y="711363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021" y="253121"/>
              <a:ext cx="310492" cy="45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13755459" y="3680810"/>
            <a:ext cx="8215339" cy="849744"/>
            <a:chOff x="0" y="0"/>
            <a:chExt cx="2163711" cy="223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63711" cy="223397"/>
            </a:xfrm>
            <a:custGeom>
              <a:avLst/>
              <a:gdLst/>
              <a:ahLst/>
              <a:cxnLst/>
              <a:rect r="r" b="b" t="t" l="l"/>
              <a:pathLst>
                <a:path h="223397" w="2163711">
                  <a:moveTo>
                    <a:pt x="1081855" y="0"/>
                  </a:moveTo>
                  <a:lnTo>
                    <a:pt x="2163711" y="223397"/>
                  </a:lnTo>
                  <a:lnTo>
                    <a:pt x="0" y="223397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58112" y="46821"/>
              <a:ext cx="1247486" cy="17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593738" y="-1987"/>
            <a:ext cx="1689036" cy="4107669"/>
            <a:chOff x="0" y="0"/>
            <a:chExt cx="444849" cy="1081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849" cy="1079901"/>
            </a:xfrm>
            <a:custGeom>
              <a:avLst/>
              <a:gdLst/>
              <a:ahLst/>
              <a:cxnLst/>
              <a:rect r="r" b="b" t="t" l="l"/>
              <a:pathLst>
                <a:path h="1079901" w="444849">
                  <a:moveTo>
                    <a:pt x="222424" y="0"/>
                  </a:moveTo>
                  <a:lnTo>
                    <a:pt x="444849" y="1079901"/>
                  </a:lnTo>
                  <a:lnTo>
                    <a:pt x="0" y="1079901"/>
                  </a:lnTo>
                  <a:close/>
                </a:path>
              </a:pathLst>
            </a:custGeom>
            <a:solidFill>
              <a:srgbClr val="A4C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4186" y="408929"/>
              <a:ext cx="256477" cy="67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38175" y="1304886"/>
            <a:ext cx="2389486" cy="8719592"/>
          </a:xfrm>
          <a:custGeom>
            <a:avLst/>
            <a:gdLst/>
            <a:ahLst/>
            <a:cxnLst/>
            <a:rect r="r" b="b" t="t" l="l"/>
            <a:pathLst>
              <a:path h="8719592" w="2389486">
                <a:moveTo>
                  <a:pt x="0" y="0"/>
                </a:moveTo>
                <a:lnTo>
                  <a:pt x="2389486" y="0"/>
                </a:lnTo>
                <a:lnTo>
                  <a:pt x="2389486" y="8719592"/>
                </a:lnTo>
                <a:lnTo>
                  <a:pt x="0" y="8719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73362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44456" y="232273"/>
            <a:ext cx="8024163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Mədəni və gündəlik leksika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37" y="7063740"/>
            <a:ext cx="9111827" cy="3223260"/>
            <a:chOff x="0" y="0"/>
            <a:chExt cx="1687375" cy="596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7375" cy="596900"/>
            </a:xfrm>
            <a:custGeom>
              <a:avLst/>
              <a:gdLst/>
              <a:ahLst/>
              <a:cxnLst/>
              <a:rect r="r" b="b" t="t" l="l"/>
              <a:pathLst>
                <a:path h="596900" w="1687375">
                  <a:moveTo>
                    <a:pt x="1687375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1687375" y="596900"/>
                  </a:lnTo>
                  <a:close/>
                </a:path>
              </a:pathLst>
            </a:custGeom>
            <a:solidFill>
              <a:srgbClr val="84A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50825"/>
              <a:ext cx="843688" cy="346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2136916" y="4171674"/>
            <a:ext cx="3086100" cy="9144553"/>
            <a:chOff x="0" y="0"/>
            <a:chExt cx="571500" cy="1693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" cy="1693436"/>
            </a:xfrm>
            <a:custGeom>
              <a:avLst/>
              <a:gdLst/>
              <a:ahLst/>
              <a:cxnLst/>
              <a:rect r="r" b="b" t="t" l="l"/>
              <a:pathLst>
                <a:path h="1693436" w="571500">
                  <a:moveTo>
                    <a:pt x="571500" y="1693436"/>
                  </a:moveTo>
                  <a:lnTo>
                    <a:pt x="0" y="1693436"/>
                  </a:lnTo>
                  <a:lnTo>
                    <a:pt x="0" y="0"/>
                  </a:lnTo>
                  <a:lnTo>
                    <a:pt x="571500" y="1693436"/>
                  </a:lnTo>
                  <a:close/>
                </a:path>
              </a:pathLst>
            </a:custGeom>
            <a:solidFill>
              <a:srgbClr val="4382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9093"/>
              <a:ext cx="285750" cy="894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7600950" y="2307936"/>
            <a:ext cx="3086100" cy="12872028"/>
            <a:chOff x="0" y="0"/>
            <a:chExt cx="812800" cy="339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390164"/>
            </a:xfrm>
            <a:custGeom>
              <a:avLst/>
              <a:gdLst/>
              <a:ahLst/>
              <a:cxnLst/>
              <a:rect r="r" b="b" t="t" l="l"/>
              <a:pathLst>
                <a:path h="3390164" w="812800">
                  <a:moveTo>
                    <a:pt x="250864" y="0"/>
                  </a:moveTo>
                  <a:lnTo>
                    <a:pt x="561936" y="0"/>
                  </a:lnTo>
                  <a:cubicBezTo>
                    <a:pt x="700484" y="0"/>
                    <a:pt x="812800" y="112316"/>
                    <a:pt x="812800" y="250864"/>
                  </a:cubicBezTo>
                  <a:lnTo>
                    <a:pt x="812800" y="3139300"/>
                  </a:lnTo>
                  <a:cubicBezTo>
                    <a:pt x="812800" y="3205833"/>
                    <a:pt x="786370" y="3269642"/>
                    <a:pt x="739324" y="3316687"/>
                  </a:cubicBezTo>
                  <a:cubicBezTo>
                    <a:pt x="692277" y="3363734"/>
                    <a:pt x="628469" y="3390164"/>
                    <a:pt x="561936" y="3390164"/>
                  </a:cubicBezTo>
                  <a:lnTo>
                    <a:pt x="250864" y="3390164"/>
                  </a:lnTo>
                  <a:cubicBezTo>
                    <a:pt x="112316" y="3390164"/>
                    <a:pt x="0" y="3277848"/>
                    <a:pt x="0" y="3139300"/>
                  </a:cubicBezTo>
                  <a:lnTo>
                    <a:pt x="0" y="250864"/>
                  </a:lnTo>
                  <a:cubicBezTo>
                    <a:pt x="0" y="112316"/>
                    <a:pt x="112316" y="0"/>
                    <a:pt x="2508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343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7986" y="1221940"/>
            <a:ext cx="12872028" cy="9065060"/>
            <a:chOff x="0" y="0"/>
            <a:chExt cx="5519288" cy="38869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19288" cy="3886930"/>
            </a:xfrm>
            <a:custGeom>
              <a:avLst/>
              <a:gdLst/>
              <a:ahLst/>
              <a:cxnLst/>
              <a:rect r="r" b="b" t="t" l="l"/>
              <a:pathLst>
                <a:path h="3886930" w="5519288">
                  <a:moveTo>
                    <a:pt x="60145" y="0"/>
                  </a:moveTo>
                  <a:lnTo>
                    <a:pt x="5459143" y="0"/>
                  </a:lnTo>
                  <a:cubicBezTo>
                    <a:pt x="5475094" y="0"/>
                    <a:pt x="5490392" y="6337"/>
                    <a:pt x="5501672" y="17616"/>
                  </a:cubicBezTo>
                  <a:cubicBezTo>
                    <a:pt x="5512951" y="28896"/>
                    <a:pt x="5519288" y="44194"/>
                    <a:pt x="5519288" y="60145"/>
                  </a:cubicBezTo>
                  <a:lnTo>
                    <a:pt x="5519288" y="3826785"/>
                  </a:lnTo>
                  <a:cubicBezTo>
                    <a:pt x="5519288" y="3842736"/>
                    <a:pt x="5512951" y="3858035"/>
                    <a:pt x="5501672" y="3869314"/>
                  </a:cubicBezTo>
                  <a:cubicBezTo>
                    <a:pt x="5490392" y="3880593"/>
                    <a:pt x="5475094" y="3886930"/>
                    <a:pt x="5459143" y="3886930"/>
                  </a:cubicBezTo>
                  <a:lnTo>
                    <a:pt x="60145" y="3886930"/>
                  </a:lnTo>
                  <a:cubicBezTo>
                    <a:pt x="26928" y="3886930"/>
                    <a:pt x="0" y="3860002"/>
                    <a:pt x="0" y="3826785"/>
                  </a:cubicBezTo>
                  <a:lnTo>
                    <a:pt x="0" y="60145"/>
                  </a:lnTo>
                  <a:cubicBezTo>
                    <a:pt x="0" y="44194"/>
                    <a:pt x="6337" y="28896"/>
                    <a:pt x="17616" y="17616"/>
                  </a:cubicBezTo>
                  <a:cubicBezTo>
                    <a:pt x="28896" y="6337"/>
                    <a:pt x="44194" y="0"/>
                    <a:pt x="60145" y="0"/>
                  </a:cubicBezTo>
                  <a:close/>
                </a:path>
              </a:pathLst>
            </a:custGeom>
            <a:solidFill>
              <a:srgbClr val="A4C7FF">
                <a:alpha val="13725"/>
              </a:srgbClr>
            </a:solidFill>
            <a:ln w="19050" cap="rnd">
              <a:solidFill>
                <a:srgbClr val="000000">
                  <a:alpha val="13725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519288" cy="3934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81963" y="1474309"/>
            <a:ext cx="12051453" cy="667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https://au.edu.az/userfiles/uploads/19d7f5fca0d839a5b05877d753014825.pdf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https://filologiyameseleleri.com/pdf/2024/n5/gunel%20quliyeva%20239-245.pdf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http://dspace.khazar.org/bitstream/20.500.12323/5463/1/M%C3%BCasir%20Az%C9%99rbaycan%20dilind%C9%99%20terminoloji%20leksikanin%20inki%C5%9Fafi.pdf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https://www.researchgate.net/profile/Aybeniz-Huseynova/publication/351840024_NEOLOGIZMLR_V_ONLARIN_YARANMA_SBBLRI/links/60accdf2a6fdcc647ed73f45/NEOLOGIZMLR-V-ONLARIN-YARANMA-SBBLRI.pdf</a:t>
            </a:r>
          </a:p>
          <a:p>
            <a:pPr algn="l" marL="626394" indent="-313197" lvl="1">
              <a:lnSpc>
                <a:spcPts val="4061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http://doi.science.gov.az/pages/journals/term/pdf/term2024_2_88.pdf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30164" y="385363"/>
            <a:ext cx="1286674" cy="1286674"/>
          </a:xfrm>
          <a:custGeom>
            <a:avLst/>
            <a:gdLst/>
            <a:ahLst/>
            <a:cxnLst/>
            <a:rect r="r" b="b" t="t" l="l"/>
            <a:pathLst>
              <a:path h="1286674" w="1286674">
                <a:moveTo>
                  <a:pt x="0" y="0"/>
                </a:moveTo>
                <a:lnTo>
                  <a:pt x="1286674" y="0"/>
                </a:lnTo>
                <a:lnTo>
                  <a:pt x="1286674" y="1286674"/>
                </a:lnTo>
                <a:lnTo>
                  <a:pt x="0" y="12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640613" y="434662"/>
            <a:ext cx="1237375" cy="1237375"/>
          </a:xfrm>
          <a:custGeom>
            <a:avLst/>
            <a:gdLst/>
            <a:ahLst/>
            <a:cxnLst/>
            <a:rect r="r" b="b" t="t" l="l"/>
            <a:pathLst>
              <a:path h="1237375" w="1237375">
                <a:moveTo>
                  <a:pt x="0" y="0"/>
                </a:moveTo>
                <a:lnTo>
                  <a:pt x="1237374" y="0"/>
                </a:lnTo>
                <a:lnTo>
                  <a:pt x="1237374" y="1237375"/>
                </a:lnTo>
                <a:lnTo>
                  <a:pt x="0" y="123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6383684" y="232273"/>
            <a:ext cx="5520633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Mənbələr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2341" y="1221940"/>
            <a:ext cx="13963317" cy="5443909"/>
            <a:chOff x="0" y="0"/>
            <a:chExt cx="5519288" cy="2151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19288" cy="2151817"/>
            </a:xfrm>
            <a:custGeom>
              <a:avLst/>
              <a:gdLst/>
              <a:ahLst/>
              <a:cxnLst/>
              <a:rect r="r" b="b" t="t" l="l"/>
              <a:pathLst>
                <a:path h="2151817" w="5519288">
                  <a:moveTo>
                    <a:pt x="55445" y="0"/>
                  </a:moveTo>
                  <a:lnTo>
                    <a:pt x="5463843" y="0"/>
                  </a:lnTo>
                  <a:cubicBezTo>
                    <a:pt x="5494465" y="0"/>
                    <a:pt x="5519288" y="24823"/>
                    <a:pt x="5519288" y="55445"/>
                  </a:cubicBezTo>
                  <a:lnTo>
                    <a:pt x="5519288" y="2096372"/>
                  </a:lnTo>
                  <a:cubicBezTo>
                    <a:pt x="5519288" y="2111077"/>
                    <a:pt x="5513446" y="2125180"/>
                    <a:pt x="5503049" y="2135578"/>
                  </a:cubicBezTo>
                  <a:cubicBezTo>
                    <a:pt x="5492651" y="2145975"/>
                    <a:pt x="5478548" y="2151817"/>
                    <a:pt x="5463843" y="2151817"/>
                  </a:cubicBezTo>
                  <a:lnTo>
                    <a:pt x="55445" y="2151817"/>
                  </a:lnTo>
                  <a:cubicBezTo>
                    <a:pt x="24823" y="2151817"/>
                    <a:pt x="0" y="2126993"/>
                    <a:pt x="0" y="2096372"/>
                  </a:cubicBezTo>
                  <a:lnTo>
                    <a:pt x="0" y="55445"/>
                  </a:lnTo>
                  <a:cubicBezTo>
                    <a:pt x="0" y="24823"/>
                    <a:pt x="24823" y="0"/>
                    <a:pt x="55445" y="0"/>
                  </a:cubicBezTo>
                  <a:close/>
                </a:path>
              </a:pathLst>
            </a:custGeom>
            <a:solidFill>
              <a:srgbClr val="FFFFFF">
                <a:alpha val="6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19288" cy="2199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247" y="6878562"/>
            <a:ext cx="18288000" cy="3408438"/>
          </a:xfrm>
          <a:custGeom>
            <a:avLst/>
            <a:gdLst/>
            <a:ahLst/>
            <a:cxnLst/>
            <a:rect r="r" b="b" t="t" l="l"/>
            <a:pathLst>
              <a:path h="3408438" w="18288000">
                <a:moveTo>
                  <a:pt x="0" y="0"/>
                </a:moveTo>
                <a:lnTo>
                  <a:pt x="18288000" y="0"/>
                </a:lnTo>
                <a:lnTo>
                  <a:pt x="18288000" y="3408438"/>
                </a:lnTo>
                <a:lnTo>
                  <a:pt x="0" y="3408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4915" r="0" b="-1709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46449">
            <a:off x="485727" y="651987"/>
            <a:ext cx="1514114" cy="1046339"/>
          </a:xfrm>
          <a:custGeom>
            <a:avLst/>
            <a:gdLst/>
            <a:ahLst/>
            <a:cxnLst/>
            <a:rect r="r" b="b" t="t" l="l"/>
            <a:pathLst>
              <a:path h="1046339" w="1514114">
                <a:moveTo>
                  <a:pt x="0" y="0"/>
                </a:moveTo>
                <a:lnTo>
                  <a:pt x="1514113" y="0"/>
                </a:lnTo>
                <a:lnTo>
                  <a:pt x="1514113" y="1046338"/>
                </a:lnTo>
                <a:lnTo>
                  <a:pt x="0" y="1046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249223">
            <a:off x="16556923" y="553074"/>
            <a:ext cx="1121942" cy="1121942"/>
          </a:xfrm>
          <a:custGeom>
            <a:avLst/>
            <a:gdLst/>
            <a:ahLst/>
            <a:cxnLst/>
            <a:rect r="r" b="b" t="t" l="l"/>
            <a:pathLst>
              <a:path h="1121942" w="1121942">
                <a:moveTo>
                  <a:pt x="0" y="0"/>
                </a:moveTo>
                <a:lnTo>
                  <a:pt x="1121943" y="0"/>
                </a:lnTo>
                <a:lnTo>
                  <a:pt x="1121943" y="1121942"/>
                </a:lnTo>
                <a:lnTo>
                  <a:pt x="0" y="1121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65620" y="1647101"/>
            <a:ext cx="11956761" cy="454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9"/>
              </a:lnSpc>
            </a:pPr>
            <a:r>
              <a:rPr lang="en-US" sz="3735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Neologizmlər müasir Azərbaycan dilini zənginləşdirən və cəmiyyətdəki yenilikləri əks etdirən əsas amildir.</a:t>
            </a:r>
            <a:r>
              <a:rPr lang="en-US" sz="3735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Texnologiya, siyasət və mədəniyyət sahəsində yaranan bu yeni sözlər dilin daim yenilənməsinə xidmət edir.</a:t>
            </a:r>
          </a:p>
          <a:p>
            <a:pPr algn="ctr">
              <a:lnSpc>
                <a:spcPts val="5229"/>
              </a:lnSpc>
            </a:pPr>
          </a:p>
          <a:p>
            <a:pPr algn="ctr">
              <a:lnSpc>
                <a:spcPts val="5229"/>
              </a:lnSpc>
            </a:pPr>
            <a:r>
              <a:rPr lang="en-US" b="true" sz="37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Diqqətiniz və dinlədiyiniz üçün təşəkkürlər!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83684" y="232273"/>
            <a:ext cx="5520633" cy="79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Nəticə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DAHH9FKvdjE</dc:identifier>
  <dcterms:modified xsi:type="dcterms:W3CDTF">2011-08-01T06:04:30Z</dcterms:modified>
  <cp:revision>1</cp:revision>
  <dc:title>Müasir Azərbaycan dilində neologizmlər</dc:title>
</cp:coreProperties>
</file>